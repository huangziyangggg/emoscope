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b6d327617e4ddc" /><Relationship Type="http://schemas.openxmlformats.org/officeDocument/2006/relationships/extended-properties" Target="/docProps/app.xml" Id="Rfcf1b77a2c7a484f" /><Relationship Type="http://schemas.openxmlformats.org/officeDocument/2006/relationships/officeDocument" Target="/ppt/presentation.xml" Id="R07d046e7e01340a8" /></Relationships>
</file>

<file path=ppt/presentation.xml><?xml version="1.0" encoding="utf-8"?>
<p:presentation xmlns:p="http://schemas.openxmlformats.org/presentationml/2006/main">
  <p:sldMasterIdLst>
    <p:sldMasterId xmlns:r="http://schemas.openxmlformats.org/officeDocument/2006/relationships" id="2147483648" r:id="R8ab927f7715e4a4f"/>
  </p:sldMasterIdLst>
  <p:notesMasterIdLst>
    <p:notesMasterId xmlns:r="http://schemas.openxmlformats.org/officeDocument/2006/relationships" r:id="R3af9a2aa361f4281"/>
  </p:notesMasterIdLst>
  <p:sldIdLst>
    <p:sldId xmlns:r="http://schemas.openxmlformats.org/officeDocument/2006/relationships" id="256" r:id="Re51319ac020b4aab"/>
    <p:sldId xmlns:r="http://schemas.openxmlformats.org/officeDocument/2006/relationships" id="257" r:id="R7c8141223f1a4b4f"/>
    <p:sldId xmlns:r="http://schemas.openxmlformats.org/officeDocument/2006/relationships" id="258" r:id="Rb97fd154705243b0"/>
    <p:sldId xmlns:r="http://schemas.openxmlformats.org/officeDocument/2006/relationships" id="259" r:id="R6fb25eb37a5c460c"/>
    <p:sldId xmlns:r="http://schemas.openxmlformats.org/officeDocument/2006/relationships" id="260" r:id="Rfe3c9c4a504e4013"/>
    <p:sldId xmlns:r="http://schemas.openxmlformats.org/officeDocument/2006/relationships" id="261" r:id="R5c136cb9001848ce"/>
    <p:sldId xmlns:r="http://schemas.openxmlformats.org/officeDocument/2006/relationships" id="262" r:id="R52532575caf24cd5"/>
    <p:sldId xmlns:r="http://schemas.openxmlformats.org/officeDocument/2006/relationships" id="263" r:id="R3b336d9243214b35"/>
    <p:sldId xmlns:r="http://schemas.openxmlformats.org/officeDocument/2006/relationships" id="264" r:id="Rb1e3132fcaae407f"/>
    <p:sldId xmlns:r="http://schemas.openxmlformats.org/officeDocument/2006/relationships" id="265" r:id="R92b7e74057624ad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b856439fed410d" /><Relationship Type="http://schemas.openxmlformats.org/officeDocument/2006/relationships/slideMaster" Target="/ppt/slideMasters/slideMaster1.xml" Id="R8ab927f7715e4a4f" /><Relationship Type="http://schemas.openxmlformats.org/officeDocument/2006/relationships/notesMaster" Target="/ppt/notesMasters/notesMaster1.xml" Id="R3af9a2aa361f4281" /><Relationship Type="http://schemas.openxmlformats.org/officeDocument/2006/relationships/presProps" Target="/ppt/presProps.xml" Id="R1892d949df2f438f" /><Relationship Type="http://schemas.openxmlformats.org/officeDocument/2006/relationships/tableStyles" Target="/ppt/tableStyles.xml" Id="R40b75605e91a459c" /><Relationship Type="http://schemas.openxmlformats.org/officeDocument/2006/relationships/slide" Target="/ppt/slides/slide1.xml" Id="Re51319ac020b4aab" /><Relationship Type="http://schemas.openxmlformats.org/officeDocument/2006/relationships/slide" Target="/ppt/slides/slide2.xml" Id="R7c8141223f1a4b4f" /><Relationship Type="http://schemas.openxmlformats.org/officeDocument/2006/relationships/slide" Target="/ppt/slides/slide3.xml" Id="Rb97fd154705243b0" /><Relationship Type="http://schemas.openxmlformats.org/officeDocument/2006/relationships/slide" Target="/ppt/slides/slide4.xml" Id="R6fb25eb37a5c460c" /><Relationship Type="http://schemas.openxmlformats.org/officeDocument/2006/relationships/slide" Target="/ppt/slides/slide5.xml" Id="Rfe3c9c4a504e4013" /><Relationship Type="http://schemas.openxmlformats.org/officeDocument/2006/relationships/slide" Target="/ppt/slides/slide6.xml" Id="R5c136cb9001848ce" /><Relationship Type="http://schemas.openxmlformats.org/officeDocument/2006/relationships/slide" Target="/ppt/slides/slide7.xml" Id="R52532575caf24cd5" /><Relationship Type="http://schemas.openxmlformats.org/officeDocument/2006/relationships/slide" Target="/ppt/slides/slide8.xml" Id="R3b336d9243214b35" /><Relationship Type="http://schemas.openxmlformats.org/officeDocument/2006/relationships/slide" Target="/ppt/slides/slide9.xml" Id="Rb1e3132fcaae407f" /><Relationship Type="http://schemas.openxmlformats.org/officeDocument/2006/relationships/slide" Target="/ppt/slides/slide10.xml" Id="R92b7e74057624a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8ded5533f247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efda7bc03e4e16" /><Relationship Type="http://schemas.openxmlformats.org/officeDocument/2006/relationships/notesMaster" Target="/ppt/notesMasters/notesMaster1.xml" Id="R09af8e099c5b49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f8dac0dc074121" /><Relationship Type="http://schemas.openxmlformats.org/officeDocument/2006/relationships/notesMaster" Target="/ppt/notesMasters/notesMaster1.xml" Id="R36e90fb41cbd40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66428f7bca456b" /><Relationship Type="http://schemas.openxmlformats.org/officeDocument/2006/relationships/notesMaster" Target="/ppt/notesMasters/notesMaster1.xml" Id="R73c15e31d05946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dfe95b1ea94586" /><Relationship Type="http://schemas.openxmlformats.org/officeDocument/2006/relationships/notesMaster" Target="/ppt/notesMasters/notesMaster1.xml" Id="Rf9f7b61807984d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3090e5c76646d9" /><Relationship Type="http://schemas.openxmlformats.org/officeDocument/2006/relationships/notesMaster" Target="/ppt/notesMasters/notesMaster1.xml" Id="R811eb921883d4f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70967014dc4b0e" /><Relationship Type="http://schemas.openxmlformats.org/officeDocument/2006/relationships/notesMaster" Target="/ppt/notesMasters/notesMaster1.xml" Id="Rbce472b9738d43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fa971628574949" /><Relationship Type="http://schemas.openxmlformats.org/officeDocument/2006/relationships/notesMaster" Target="/ppt/notesMasters/notesMaster1.xml" Id="Rdf2fa17fbf774c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679e19371848a1" /><Relationship Type="http://schemas.openxmlformats.org/officeDocument/2006/relationships/notesMaster" Target="/ppt/notesMasters/notesMaster1.xml" Id="R8482fd3c9a3b47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5bd36021f24014" /><Relationship Type="http://schemas.openxmlformats.org/officeDocument/2006/relationships/notesMaster" Target="/ppt/notesMasters/notesMaster1.xml" Id="R39fcdecfdc864e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5d2c67edde4083" /><Relationship Type="http://schemas.openxmlformats.org/officeDocument/2006/relationships/notesMaster" Target="/ppt/notesMasters/notesMaster1.xml" Id="R0be6a7b1b36946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Today I will present EmoScope. It is a phone app for emotion awareness. It uses face, voice, and records to help users understand their feelings. It also tries to protect privacy.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problem is mood recording. Many apps ask users to write their mood by themselves. But people may forget, or they may not want to write when they feel tired or stressed.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research question is simple. Can a normal phone collect useful emotion information and still keep private data safe? EmoScope is not a medical diagnosis tool. It is a reflection tool for daily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system design. First, the app gets input from camera, voice, light, and records. Then it analyzes emotion on the phone. After that, it stores records locally and gives feedback to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face analysis, EmoScope uses MediaPipe FaceLandmarker. It reads 52 face features. The app maps them to emotions like joy, calm, sadness, and anxiety. A smoothing method makes the result more 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user flow. Users can see feedback, do small wellness activities, and review old records. The goal is not only emotion detection. The goal is to help users reflect and take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tested the prototype functions. Face analysis ran at about 4 frames per second. The score changed clearly in different test states. The memory parser also worked correctly on test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Privacy is very important in this project. Face data is processed on the phone. Records are stored locally. If SOS support is needed, the user must confirm it. The app does not call others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still limits. The emotion rules are designed by hand, so they may not fit everyone. The tests are engineering tests, not clinical tests. In the future, I need real user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conclusion, EmoScope shows one possible way to build a safer emotion app. It combines phone sensing, local memory, and user-controlled support. It helps users notice emotional changes.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9a2a3c2b6644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8e9d6dca0e483c" /><Relationship Type="http://schemas.openxmlformats.org/officeDocument/2006/relationships/slideLayout" Target="/ppt/slideLayouts/slideLayout1.xml" Id="R7c08ad1e128b4c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08ad1e128b4c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47b804ed52494b" /><Relationship Type="http://schemas.openxmlformats.org/officeDocument/2006/relationships/notesSlide" Target="/ppt/notesSlides/notesSlide1.xml" Id="R3288b1e7906e47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836fce2e1d47d3" /><Relationship Type="http://schemas.openxmlformats.org/officeDocument/2006/relationships/notesSlide" Target="/ppt/notesSlides/notesSlide2.xml" Id="R85e3c211eefa47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97d14b62db4f6d" /><Relationship Type="http://schemas.openxmlformats.org/officeDocument/2006/relationships/notesSlide" Target="/ppt/notesSlides/notesSlide3.xml" Id="R32172033756148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7f6823ec814645" /><Relationship Type="http://schemas.openxmlformats.org/officeDocument/2006/relationships/notesSlide" Target="/ppt/notesSlides/notesSlide4.xml" Id="R726b7fd9469643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8569caa2434535" /><Relationship Type="http://schemas.openxmlformats.org/officeDocument/2006/relationships/notesSlide" Target="/ppt/notesSlides/notesSlide5.xml" Id="R21458734bc6040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9321e8a2e7405d" /><Relationship Type="http://schemas.openxmlformats.org/officeDocument/2006/relationships/image" Target="/ppt/media/image.png" Id="R6cd58bb10e08437d" /><Relationship Type="http://schemas.openxmlformats.org/officeDocument/2006/relationships/image" Target="/ppt/media/image2.png" Id="Radda567edac54475" /><Relationship Type="http://schemas.openxmlformats.org/officeDocument/2006/relationships/image" Target="/ppt/media/image3.png" Id="R1197478c75244013" /><Relationship Type="http://schemas.openxmlformats.org/officeDocument/2006/relationships/notesSlide" Target="/ppt/notesSlides/notesSlide6.xml" Id="Rbb3e3b9d6d7a4d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50161f9fcb4593" /><Relationship Type="http://schemas.openxmlformats.org/officeDocument/2006/relationships/notesSlide" Target="/ppt/notesSlides/notesSlide7.xml" Id="R1837252f631840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a9b95dc0eb48bf" /><Relationship Type="http://schemas.openxmlformats.org/officeDocument/2006/relationships/notesSlide" Target="/ppt/notesSlides/notesSlide8.xml" Id="R3326993a8f3345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dbbc53a35a4b02" /><Relationship Type="http://schemas.openxmlformats.org/officeDocument/2006/relationships/notesSlide" Target="/ppt/notesSlides/notesSlide9.xml" Id="R3a11dd0b05d24a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550455b283414d" /><Relationship Type="http://schemas.openxmlformats.org/officeDocument/2006/relationships/notesSlide" Target="/ppt/notesSlides/notesSlide10.xml" Id="Rb5672870f5a44d60" /></Relationships>
</file>

<file path=ppt/slides/slide1.xml><?xml version="1.0" encoding="utf-8"?>
<p:sld xmlns:p="http://schemas.openxmlformats.org/presentationml/2006/main">
  <p:cSld>
    <p:bg>
      <p:bgPr>
        <a:gradFill xmlns:a="http://schemas.openxmlformats.org/drawingml/2006/main">
          <a:gsLst>
            <a:gs pos="0">
              <a:srgbClr val="F8FAFC"/>
            </a:gs>
            <a:gs pos="55000">
              <a:srgbClr val="F1EDFF"/>
            </a:gs>
            <a:gs pos="100000">
              <a:srgbClr val="FFFFFF"/>
            </a:gs>
          </a:gsLst>
          <a:lin ang="810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9EEAE5-F07F-40FF-93B0-434E657E9F6B}"/>
              </a:ext>
            </a:extLst>
          </p:cNvPr>
          <p:cNvSpPr>
            <a:spLocks xmlns:a="http://schemas.openxmlformats.org/drawingml/2006/main" noGrp="1"/>
          </p:cNvSpPr>
          <p:nvPr/>
        </p:nvSpPr>
        <p:spPr>
          <a:xfrm xmlns:a="http://schemas.openxmlformats.org/drawingml/2006/main">
            <a:off x="666750" y="723900"/>
            <a:ext cx="514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650" b="1">
                <a:solidFill>
                  <a:srgbClr val="4338CA"/>
                </a:solidFill>
                <a:latin typeface="Aptos Display"/>
                <a:ea typeface="Aptos Display"/>
                <a:cs typeface="Aptos Display"/>
              </a:defRPr>
            </a:pPr>
            <a:r>
              <a:rPr sz="4650" b="1">
                <a:solidFill>
                  <a:srgbClr val="4338CA"/>
                </a:solidFill>
                <a:latin typeface="Aptos Display"/>
                <a:ea typeface="Aptos Display"/>
                <a:cs typeface="Aptos Display"/>
              </a:rPr>
              <a:t>EmoScope</a:t>
            </a:r>
          </a:p>
        </p:txBody>
      </p:sp>
      <p:sp>
        <p:nvSpPr>
          <p:cNvPr id="2" name="">
            <a:extLst xmlns:a="http://schemas.openxmlformats.org/drawingml/2006/main">
              <a:ext uri="{FF2B5EF4-FFF2-40B4-BE49-F238E27FC236}">
                <a16:creationId xmlns:a16="http://schemas.microsoft.com/office/drawing/2014/main" id="{44EABF83-985E-4C16-8291-E28DC8291B3C}"/>
              </a:ext>
            </a:extLst>
          </p:cNvPr>
          <p:cNvSpPr>
            <a:spLocks xmlns:a="http://schemas.openxmlformats.org/drawingml/2006/main" noGrp="1"/>
          </p:cNvSpPr>
          <p:nvPr/>
        </p:nvSpPr>
        <p:spPr>
          <a:xfrm xmlns:a="http://schemas.openxmlformats.org/drawingml/2006/main">
            <a:off x="704850" y="15430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111827"/>
                </a:solidFill>
                <a:latin typeface="Aptos"/>
                <a:ea typeface="Aptos"/>
                <a:cs typeface="Aptos"/>
              </a:defRPr>
            </a:pPr>
            <a:r>
              <a:rPr sz="1950" b="1">
                <a:solidFill>
                  <a:srgbClr val="111827"/>
                </a:solidFill>
                <a:latin typeface="Aptos"/>
                <a:ea typeface="Aptos"/>
                <a:cs typeface="Aptos"/>
              </a:rPr>
              <a:t>A Privacy-Preserving Mobile System for Multimodal Emotion Recognition</a:t>
            </a:r>
          </a:p>
        </p:txBody>
      </p:sp>
      <p:sp>
        <p:nvSpPr>
          <p:cNvPr id="3" name="">
            <a:extLst xmlns:a="http://schemas.openxmlformats.org/drawingml/2006/main">
              <a:ext uri="{FF2B5EF4-FFF2-40B4-BE49-F238E27FC236}">
                <a16:creationId xmlns:a16="http://schemas.microsoft.com/office/drawing/2014/main" id="{D002F4FF-25B6-411A-AC08-4C1F5A26821E}"/>
              </a:ext>
            </a:extLst>
          </p:cNvPr>
          <p:cNvSpPr>
            <a:spLocks xmlns:a="http://schemas.openxmlformats.org/drawingml/2006/main" noGrp="1"/>
          </p:cNvSpPr>
          <p:nvPr/>
        </p:nvSpPr>
        <p:spPr>
          <a:xfrm xmlns:a="http://schemas.openxmlformats.org/drawingml/2006/main">
            <a:off x="723900" y="2590800"/>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a:solidFill>
                  <a:srgbClr val="475569"/>
                </a:solidFill>
                <a:latin typeface="Aptos"/>
                <a:ea typeface="Aptos"/>
                <a:cs typeface="Aptos"/>
              </a:defRPr>
            </a:pPr>
            <a:r>
              <a:rPr sz="1238">
                <a:solidFill>
                  <a:srgbClr val="475569"/>
                </a:solidFill>
                <a:latin typeface="Aptos"/>
                <a:ea typeface="Aptos"/>
                <a:cs typeface="Aptos"/>
              </a:rPr>
              <a:t>Ziyang Huang 2025112735</a:t>
            </a:r>
          </a:p>
          <a:p xmlns:a="http://schemas.openxmlformats.org/drawingml/2006/main">
            <a:pPr>
              <a:buNone/>
              <a:defRPr sz="1238">
                <a:solidFill>
                  <a:srgbClr val="475569"/>
                </a:solidFill>
                <a:latin typeface="Aptos"/>
                <a:ea typeface="Aptos"/>
                <a:cs typeface="Aptos"/>
              </a:defRPr>
            </a:pPr>
            <a:r>
              <a:rPr sz="1238">
                <a:solidFill>
                  <a:srgbClr val="475569"/>
                </a:solidFill>
                <a:latin typeface="Aptos"/>
                <a:ea typeface="Aptos"/>
                <a:cs typeface="Aptos"/>
              </a:rPr>
              <a:t>School of Economics and Management, Harbin Institute of Technology</a:t>
            </a:r>
          </a:p>
        </p:txBody>
      </p:sp>
      <p:sp>
        <p:nvSpPr>
          <p:cNvPr id="4" name="">
            <a:extLst xmlns:a="http://schemas.openxmlformats.org/drawingml/2006/main">
              <a:ext uri="{FF2B5EF4-FFF2-40B4-BE49-F238E27FC236}">
                <a16:creationId xmlns:a16="http://schemas.microsoft.com/office/drawing/2014/main" id="{0B9246CD-0B01-4CC0-917D-14595111C9E6}"/>
              </a:ext>
            </a:extLst>
          </p:cNvPr>
          <p:cNvSpPr>
            <a:spLocks xmlns:a="http://schemas.openxmlformats.org/drawingml/2006/main" noGrp="1"/>
          </p:cNvSpPr>
          <p:nvPr/>
        </p:nvSpPr>
        <p:spPr>
          <a:xfrm xmlns:a="http://schemas.openxmlformats.org/drawingml/2006/main">
            <a:off x="723900" y="4095750"/>
            <a:ext cx="581025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84BB650-892A-48ED-B878-BE3032D895EE}"/>
              </a:ext>
            </a:extLst>
          </p:cNvPr>
          <p:cNvSpPr>
            <a:spLocks xmlns:a="http://schemas.openxmlformats.org/drawingml/2006/main" noGrp="1"/>
          </p:cNvSpPr>
          <p:nvPr/>
        </p:nvSpPr>
        <p:spPr>
          <a:xfrm xmlns:a="http://schemas.openxmlformats.org/drawingml/2006/main">
            <a:off x="723900" y="4095750"/>
            <a:ext cx="66675" cy="11239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6" name="">
            <a:extLst xmlns:a="http://schemas.openxmlformats.org/drawingml/2006/main">
              <a:ext uri="{FF2B5EF4-FFF2-40B4-BE49-F238E27FC236}">
                <a16:creationId xmlns:a16="http://schemas.microsoft.com/office/drawing/2014/main" id="{851F4231-05A7-4643-B1B5-D30C750DEA05}"/>
              </a:ext>
            </a:extLst>
          </p:cNvPr>
          <p:cNvSpPr>
            <a:spLocks xmlns:a="http://schemas.openxmlformats.org/drawingml/2006/main" noGrp="1"/>
          </p:cNvSpPr>
          <p:nvPr/>
        </p:nvSpPr>
        <p:spPr>
          <a:xfrm xmlns:a="http://schemas.openxmlformats.org/drawingml/2006/main">
            <a:off x="952500" y="4267200"/>
            <a:ext cx="535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Core claim</a:t>
            </a:r>
          </a:p>
        </p:txBody>
      </p:sp>
      <p:sp>
        <p:nvSpPr>
          <p:cNvPr id="7" name="">
            <a:extLst xmlns:a="http://schemas.openxmlformats.org/drawingml/2006/main">
              <a:ext uri="{FF2B5EF4-FFF2-40B4-BE49-F238E27FC236}">
                <a16:creationId xmlns:a16="http://schemas.microsoft.com/office/drawing/2014/main" id="{5577C002-9730-4528-8B40-0C12813D8914}"/>
              </a:ext>
            </a:extLst>
          </p:cNvPr>
          <p:cNvSpPr>
            <a:spLocks xmlns:a="http://schemas.openxmlformats.org/drawingml/2006/main" noGrp="1"/>
          </p:cNvSpPr>
          <p:nvPr/>
        </p:nvSpPr>
        <p:spPr>
          <a:xfrm xmlns:a="http://schemas.openxmlformats.org/drawingml/2006/main">
            <a:off x="952500" y="4610100"/>
            <a:ext cx="5353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Smartphone sensing can support emotional self-awareness when biometric analysis, memory records, and emergency actions are designed around privacy and user control.</a:t>
            </a:r>
          </a:p>
        </p:txBody>
      </p:sp>
      <p:sp>
        <p:nvSpPr>
          <p:cNvPr id="8" name="">
            <a:extLst xmlns:a="http://schemas.openxmlformats.org/drawingml/2006/main">
              <a:ext uri="{FF2B5EF4-FFF2-40B4-BE49-F238E27FC236}">
                <a16:creationId xmlns:a16="http://schemas.microsoft.com/office/drawing/2014/main" id="{D31112BD-7D7F-4FDE-AE6D-9B12056415BE}"/>
              </a:ext>
            </a:extLst>
          </p:cNvPr>
          <p:cNvSpPr>
            <a:spLocks xmlns:a="http://schemas.openxmlformats.org/drawingml/2006/main" noGrp="1"/>
          </p:cNvSpPr>
          <p:nvPr/>
        </p:nvSpPr>
        <p:spPr>
          <a:xfrm xmlns:a="http://schemas.openxmlformats.org/drawingml/2006/main">
            <a:off x="7810500" y="1123950"/>
            <a:ext cx="2190750" cy="133350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42892FC-B854-4290-81A3-B8C79759110E}"/>
              </a:ext>
            </a:extLst>
          </p:cNvPr>
          <p:cNvSpPr>
            <a:spLocks xmlns:a="http://schemas.openxmlformats.org/drawingml/2006/main" noGrp="1"/>
          </p:cNvSpPr>
          <p:nvPr/>
        </p:nvSpPr>
        <p:spPr>
          <a:xfrm xmlns:a="http://schemas.openxmlformats.org/drawingml/2006/main">
            <a:off x="7981950" y="12954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Sense</a:t>
            </a:r>
          </a:p>
        </p:txBody>
      </p:sp>
      <p:sp>
        <p:nvSpPr>
          <p:cNvPr id="10" name="">
            <a:extLst xmlns:a="http://schemas.openxmlformats.org/drawingml/2006/main">
              <a:ext uri="{FF2B5EF4-FFF2-40B4-BE49-F238E27FC236}">
                <a16:creationId xmlns:a16="http://schemas.microsoft.com/office/drawing/2014/main" id="{F3BBC43B-325B-4919-AC0F-76B8E41F4336}"/>
              </a:ext>
            </a:extLst>
          </p:cNvPr>
          <p:cNvSpPr>
            <a:spLocks xmlns:a="http://schemas.openxmlformats.org/drawingml/2006/main" noGrp="1"/>
          </p:cNvSpPr>
          <p:nvPr/>
        </p:nvSpPr>
        <p:spPr>
          <a:xfrm xmlns:a="http://schemas.openxmlformats.org/drawingml/2006/main">
            <a:off x="7981950" y="16478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face, voice,</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light, records</a:t>
            </a:r>
          </a:p>
        </p:txBody>
      </p:sp>
      <p:sp>
        <p:nvSpPr>
          <p:cNvPr id="11" name="">
            <a:extLst xmlns:a="http://schemas.openxmlformats.org/drawingml/2006/main">
              <a:ext uri="{FF2B5EF4-FFF2-40B4-BE49-F238E27FC236}">
                <a16:creationId xmlns:a16="http://schemas.microsoft.com/office/drawing/2014/main" id="{B658FF82-4AAE-4E30-9A4A-9D98B6985A63}"/>
              </a:ext>
            </a:extLst>
          </p:cNvPr>
          <p:cNvSpPr>
            <a:spLocks xmlns:a="http://schemas.openxmlformats.org/drawingml/2006/main" noGrp="1"/>
          </p:cNvSpPr>
          <p:nvPr/>
        </p:nvSpPr>
        <p:spPr>
          <a:xfrm xmlns:a="http://schemas.openxmlformats.org/drawingml/2006/main">
            <a:off x="9525000" y="1295400"/>
            <a:ext cx="285750" cy="285750"/>
          </a:xfrm>
          <a:prstGeom xmlns:a="http://schemas.openxmlformats.org/drawingml/2006/main" prst="ellipse">
            <a:avLst/>
          </a:prstGeom>
          <a:solidFill xmlns:a="http://schemas.openxmlformats.org/drawingml/2006/main">
            <a:srgbClr val="4338CA"/>
          </a:solidFill>
          <a:ln xmlns:a="http://schemas.openxmlformats.org/drawingml/2006/main" w="0">
            <a:solidFill>
              <a:srgbClr val="4338CA"/>
            </a:solidFill>
            <a:prstDash val="solid"/>
          </a:ln>
        </p:spPr>
      </p:sp>
      <p:sp>
        <p:nvSpPr>
          <p:cNvPr id="12" name="">
            <a:extLst xmlns:a="http://schemas.openxmlformats.org/drawingml/2006/main">
              <a:ext uri="{FF2B5EF4-FFF2-40B4-BE49-F238E27FC236}">
                <a16:creationId xmlns:a16="http://schemas.microsoft.com/office/drawing/2014/main" id="{53899F2E-EF68-4277-956A-4F8D7177647B}"/>
              </a:ext>
            </a:extLst>
          </p:cNvPr>
          <p:cNvSpPr>
            <a:spLocks xmlns:a="http://schemas.openxmlformats.org/drawingml/2006/main" noGrp="1"/>
          </p:cNvSpPr>
          <p:nvPr/>
        </p:nvSpPr>
        <p:spPr>
          <a:xfrm xmlns:a="http://schemas.openxmlformats.org/drawingml/2006/main">
            <a:off x="8858250" y="2714625"/>
            <a:ext cx="2190750" cy="133350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C19D1C2-CF18-4CB9-AFAE-687089916143}"/>
              </a:ext>
            </a:extLst>
          </p:cNvPr>
          <p:cNvSpPr>
            <a:spLocks xmlns:a="http://schemas.openxmlformats.org/drawingml/2006/main" noGrp="1"/>
          </p:cNvSpPr>
          <p:nvPr/>
        </p:nvSpPr>
        <p:spPr>
          <a:xfrm xmlns:a="http://schemas.openxmlformats.org/drawingml/2006/main">
            <a:off x="9029700" y="2886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Reflect</a:t>
            </a:r>
          </a:p>
        </p:txBody>
      </p:sp>
      <p:sp>
        <p:nvSpPr>
          <p:cNvPr id="14" name="">
            <a:extLst xmlns:a="http://schemas.openxmlformats.org/drawingml/2006/main">
              <a:ext uri="{FF2B5EF4-FFF2-40B4-BE49-F238E27FC236}">
                <a16:creationId xmlns:a16="http://schemas.microsoft.com/office/drawing/2014/main" id="{12E217BF-87BE-49C6-809A-CC08980AD332}"/>
              </a:ext>
            </a:extLst>
          </p:cNvPr>
          <p:cNvSpPr>
            <a:spLocks xmlns:a="http://schemas.openxmlformats.org/drawingml/2006/main" noGrp="1"/>
          </p:cNvSpPr>
          <p:nvPr/>
        </p:nvSpPr>
        <p:spPr>
          <a:xfrm xmlns:a="http://schemas.openxmlformats.org/drawingml/2006/main">
            <a:off x="9029700" y="32385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score, trend,</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weekly report</a:t>
            </a:r>
          </a:p>
        </p:txBody>
      </p:sp>
      <p:sp>
        <p:nvSpPr>
          <p:cNvPr id="15" name="">
            <a:extLst xmlns:a="http://schemas.openxmlformats.org/drawingml/2006/main">
              <a:ext uri="{FF2B5EF4-FFF2-40B4-BE49-F238E27FC236}">
                <a16:creationId xmlns:a16="http://schemas.microsoft.com/office/drawing/2014/main" id="{E1BC6335-7E28-49C6-887F-B8790167BFA8}"/>
              </a:ext>
            </a:extLst>
          </p:cNvPr>
          <p:cNvSpPr>
            <a:spLocks xmlns:a="http://schemas.openxmlformats.org/drawingml/2006/main" noGrp="1"/>
          </p:cNvSpPr>
          <p:nvPr/>
        </p:nvSpPr>
        <p:spPr>
          <a:xfrm xmlns:a="http://schemas.openxmlformats.org/drawingml/2006/main">
            <a:off x="10572750" y="2886075"/>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 name="">
            <a:extLst xmlns:a="http://schemas.openxmlformats.org/drawingml/2006/main">
              <a:ext uri="{FF2B5EF4-FFF2-40B4-BE49-F238E27FC236}">
                <a16:creationId xmlns:a16="http://schemas.microsoft.com/office/drawing/2014/main" id="{A056720B-EC65-43B3-8717-42D13610F4A2}"/>
              </a:ext>
            </a:extLst>
          </p:cNvPr>
          <p:cNvSpPr>
            <a:spLocks xmlns:a="http://schemas.openxmlformats.org/drawingml/2006/main" noGrp="1"/>
          </p:cNvSpPr>
          <p:nvPr/>
        </p:nvSpPr>
        <p:spPr>
          <a:xfrm xmlns:a="http://schemas.openxmlformats.org/drawingml/2006/main">
            <a:off x="7572375" y="4333875"/>
            <a:ext cx="2190750" cy="133350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50B27FE-86C2-4B67-98F2-61EEE716FA5B}"/>
              </a:ext>
            </a:extLst>
          </p:cNvPr>
          <p:cNvSpPr>
            <a:spLocks xmlns:a="http://schemas.openxmlformats.org/drawingml/2006/main" noGrp="1"/>
          </p:cNvSpPr>
          <p:nvPr/>
        </p:nvSpPr>
        <p:spPr>
          <a:xfrm xmlns:a="http://schemas.openxmlformats.org/drawingml/2006/main">
            <a:off x="7743825" y="45053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Act</a:t>
            </a:r>
          </a:p>
        </p:txBody>
      </p:sp>
      <p:sp>
        <p:nvSpPr>
          <p:cNvPr id="18" name="">
            <a:extLst xmlns:a="http://schemas.openxmlformats.org/drawingml/2006/main">
              <a:ext uri="{FF2B5EF4-FFF2-40B4-BE49-F238E27FC236}">
                <a16:creationId xmlns:a16="http://schemas.microsoft.com/office/drawing/2014/main" id="{E28B9005-7395-4C4A-BF57-C9C417047BA4}"/>
              </a:ext>
            </a:extLst>
          </p:cNvPr>
          <p:cNvSpPr>
            <a:spLocks xmlns:a="http://schemas.openxmlformats.org/drawingml/2006/main" noGrp="1"/>
          </p:cNvSpPr>
          <p:nvPr/>
        </p:nvSpPr>
        <p:spPr>
          <a:xfrm xmlns:a="http://schemas.openxmlformats.org/drawingml/2006/main">
            <a:off x="7743825" y="48577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care card,</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SOS confirm</a:t>
            </a:r>
          </a:p>
        </p:txBody>
      </p:sp>
      <p:sp>
        <p:nvSpPr>
          <p:cNvPr id="19" name="">
            <a:extLst xmlns:a="http://schemas.openxmlformats.org/drawingml/2006/main">
              <a:ext uri="{FF2B5EF4-FFF2-40B4-BE49-F238E27FC236}">
                <a16:creationId xmlns:a16="http://schemas.microsoft.com/office/drawing/2014/main" id="{1900F691-A931-4E34-A44F-E3B588AAD90D}"/>
              </a:ext>
            </a:extLst>
          </p:cNvPr>
          <p:cNvSpPr>
            <a:spLocks xmlns:a="http://schemas.openxmlformats.org/drawingml/2006/main" noGrp="1"/>
          </p:cNvSpPr>
          <p:nvPr/>
        </p:nvSpPr>
        <p:spPr>
          <a:xfrm xmlns:a="http://schemas.openxmlformats.org/drawingml/2006/main">
            <a:off x="9286875" y="4505325"/>
            <a:ext cx="285750" cy="2857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20" name="">
            <a:extLst xmlns:a="http://schemas.openxmlformats.org/drawingml/2006/main">
              <a:ext uri="{FF2B5EF4-FFF2-40B4-BE49-F238E27FC236}">
                <a16:creationId xmlns:a16="http://schemas.microsoft.com/office/drawing/2014/main" id="{7860BBEC-91C5-4FF8-81FF-66BFE56EE1A7}"/>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1/10</a:t>
            </a:r>
          </a:p>
        </p:txBody>
      </p:sp>
    </p:spTree>
    <p:extLst>
      <p:ext uri="{BB962C8B-B14F-4D97-AF65-F5344CB8AC3E}">
        <p14:creationId xmlns:p14="http://schemas.microsoft.com/office/powerpoint/2010/main" val="15079502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07FB20-8390-4EE0-A2A8-5F121B0941E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Why self-report is not enough</a:t>
            </a:r>
          </a:p>
        </p:txBody>
      </p:sp>
      <p:sp>
        <p:nvSpPr>
          <p:cNvPr id="2" name="">
            <a:extLst xmlns:a="http://schemas.openxmlformats.org/drawingml/2006/main">
              <a:ext uri="{FF2B5EF4-FFF2-40B4-BE49-F238E27FC236}">
                <a16:creationId xmlns:a16="http://schemas.microsoft.com/office/drawing/2014/main" id="{E7052D89-0E12-45D4-8FC7-6C83108C6FBF}"/>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Mood diaries miss important moments when recording requires too much effort.</a:t>
            </a:r>
          </a:p>
        </p:txBody>
      </p:sp>
      <p:sp>
        <p:nvSpPr>
          <p:cNvPr id="3" name="">
            <a:extLst xmlns:a="http://schemas.openxmlformats.org/drawingml/2006/main">
              <a:ext uri="{FF2B5EF4-FFF2-40B4-BE49-F238E27FC236}">
                <a16:creationId xmlns:a16="http://schemas.microsoft.com/office/drawing/2014/main" id="{03C5EC15-B866-4383-876D-F7385E0A9495}"/>
              </a:ext>
            </a:extLst>
          </p:cNvPr>
          <p:cNvSpPr>
            <a:spLocks xmlns:a="http://schemas.openxmlformats.org/drawingml/2006/main" noGrp="1"/>
          </p:cNvSpPr>
          <p:nvPr/>
        </p:nvSpPr>
        <p:spPr>
          <a:xfrm xmlns:a="http://schemas.openxmlformats.org/drawingml/2006/main">
            <a:off x="742950" y="1600200"/>
            <a:ext cx="3238500" cy="16002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904D7F1B-155D-4080-A4C9-98139E2DE25C}"/>
              </a:ext>
            </a:extLst>
          </p:cNvPr>
          <p:cNvSpPr>
            <a:spLocks xmlns:a="http://schemas.openxmlformats.org/drawingml/2006/main" noGrp="1"/>
          </p:cNvSpPr>
          <p:nvPr/>
        </p:nvSpPr>
        <p:spPr>
          <a:xfrm xmlns:a="http://schemas.openxmlformats.org/drawingml/2006/main">
            <a:off x="742950" y="1600200"/>
            <a:ext cx="66675" cy="16002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5" name="">
            <a:extLst xmlns:a="http://schemas.openxmlformats.org/drawingml/2006/main">
              <a:ext uri="{FF2B5EF4-FFF2-40B4-BE49-F238E27FC236}">
                <a16:creationId xmlns:a16="http://schemas.microsoft.com/office/drawing/2014/main" id="{368E49F6-785B-4504-97A6-AC9F84CF445E}"/>
              </a:ext>
            </a:extLst>
          </p:cNvPr>
          <p:cNvSpPr>
            <a:spLocks xmlns:a="http://schemas.openxmlformats.org/drawingml/2006/main" noGrp="1"/>
          </p:cNvSpPr>
          <p:nvPr/>
        </p:nvSpPr>
        <p:spPr>
          <a:xfrm xmlns:a="http://schemas.openxmlformats.org/drawingml/2006/main">
            <a:off x="971550" y="1771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Recall bias</a:t>
            </a:r>
          </a:p>
        </p:txBody>
      </p:sp>
      <p:sp>
        <p:nvSpPr>
          <p:cNvPr id="6" name="">
            <a:extLst xmlns:a="http://schemas.openxmlformats.org/drawingml/2006/main">
              <a:ext uri="{FF2B5EF4-FFF2-40B4-BE49-F238E27FC236}">
                <a16:creationId xmlns:a16="http://schemas.microsoft.com/office/drawing/2014/main" id="{8F32A169-9E20-4150-83E9-2E01D4708B93}"/>
              </a:ext>
            </a:extLst>
          </p:cNvPr>
          <p:cNvSpPr>
            <a:spLocks xmlns:a="http://schemas.openxmlformats.org/drawingml/2006/main" noGrp="1"/>
          </p:cNvSpPr>
          <p:nvPr/>
        </p:nvSpPr>
        <p:spPr>
          <a:xfrm xmlns:a="http://schemas.openxmlformats.org/drawingml/2006/main">
            <a:off x="971550" y="21145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Users reconstruct past feelings after the emotional moment has already changed.</a:t>
            </a:r>
          </a:p>
        </p:txBody>
      </p:sp>
      <p:sp>
        <p:nvSpPr>
          <p:cNvPr id="7" name="">
            <a:extLst xmlns:a="http://schemas.openxmlformats.org/drawingml/2006/main">
              <a:ext uri="{FF2B5EF4-FFF2-40B4-BE49-F238E27FC236}">
                <a16:creationId xmlns:a16="http://schemas.microsoft.com/office/drawing/2014/main" id="{FF87C4E9-52DD-40DC-8AC5-AE481E42BE3C}"/>
              </a:ext>
            </a:extLst>
          </p:cNvPr>
          <p:cNvSpPr>
            <a:spLocks xmlns:a="http://schemas.openxmlformats.org/drawingml/2006/main" noGrp="1"/>
          </p:cNvSpPr>
          <p:nvPr/>
        </p:nvSpPr>
        <p:spPr>
          <a:xfrm xmlns:a="http://schemas.openxmlformats.org/drawingml/2006/main">
            <a:off x="4476750" y="1600200"/>
            <a:ext cx="3238500" cy="16002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670DA87-382D-4E88-9424-97A8823DE3AD}"/>
              </a:ext>
            </a:extLst>
          </p:cNvPr>
          <p:cNvSpPr>
            <a:spLocks xmlns:a="http://schemas.openxmlformats.org/drawingml/2006/main" noGrp="1"/>
          </p:cNvSpPr>
          <p:nvPr/>
        </p:nvSpPr>
        <p:spPr>
          <a:xfrm xmlns:a="http://schemas.openxmlformats.org/drawingml/2006/main">
            <a:off x="4476750" y="1600200"/>
            <a:ext cx="66675" cy="16002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7CA01509-0FCB-4508-969A-D37419C13841}"/>
              </a:ext>
            </a:extLst>
          </p:cNvPr>
          <p:cNvSpPr>
            <a:spLocks xmlns:a="http://schemas.openxmlformats.org/drawingml/2006/main" noGrp="1"/>
          </p:cNvSpPr>
          <p:nvPr/>
        </p:nvSpPr>
        <p:spPr>
          <a:xfrm xmlns:a="http://schemas.openxmlformats.org/drawingml/2006/main">
            <a:off x="4705350" y="1771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Compliance decay</a:t>
            </a:r>
          </a:p>
        </p:txBody>
      </p:sp>
      <p:sp>
        <p:nvSpPr>
          <p:cNvPr id="10" name="">
            <a:extLst xmlns:a="http://schemas.openxmlformats.org/drawingml/2006/main">
              <a:ext uri="{FF2B5EF4-FFF2-40B4-BE49-F238E27FC236}">
                <a16:creationId xmlns:a16="http://schemas.microsoft.com/office/drawing/2014/main" id="{45009D52-097A-4814-9697-BB89FC8F6544}"/>
              </a:ext>
            </a:extLst>
          </p:cNvPr>
          <p:cNvSpPr>
            <a:spLocks xmlns:a="http://schemas.openxmlformats.org/drawingml/2006/main" noGrp="1"/>
          </p:cNvSpPr>
          <p:nvPr/>
        </p:nvSpPr>
        <p:spPr>
          <a:xfrm xmlns:a="http://schemas.openxmlformats.org/drawingml/2006/main">
            <a:off x="4705350" y="21145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Manual logging is easy to understand but hard to sustain every day.</a:t>
            </a:r>
          </a:p>
        </p:txBody>
      </p:sp>
      <p:sp>
        <p:nvSpPr>
          <p:cNvPr id="11" name="">
            <a:extLst xmlns:a="http://schemas.openxmlformats.org/drawingml/2006/main">
              <a:ext uri="{FF2B5EF4-FFF2-40B4-BE49-F238E27FC236}">
                <a16:creationId xmlns:a16="http://schemas.microsoft.com/office/drawing/2014/main" id="{8392F23A-7C8C-4994-BF3D-EA14FFEF09A4}"/>
              </a:ext>
            </a:extLst>
          </p:cNvPr>
          <p:cNvSpPr>
            <a:spLocks xmlns:a="http://schemas.openxmlformats.org/drawingml/2006/main" noGrp="1"/>
          </p:cNvSpPr>
          <p:nvPr/>
        </p:nvSpPr>
        <p:spPr>
          <a:xfrm xmlns:a="http://schemas.openxmlformats.org/drawingml/2006/main">
            <a:off x="8210550" y="1600200"/>
            <a:ext cx="3238500" cy="16002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4990CDB3-46D5-4132-8384-F17162E10E3A}"/>
              </a:ext>
            </a:extLst>
          </p:cNvPr>
          <p:cNvSpPr>
            <a:spLocks xmlns:a="http://schemas.openxmlformats.org/drawingml/2006/main" noGrp="1"/>
          </p:cNvSpPr>
          <p:nvPr/>
        </p:nvSpPr>
        <p:spPr>
          <a:xfrm xmlns:a="http://schemas.openxmlformats.org/drawingml/2006/main">
            <a:off x="8210550" y="1600200"/>
            <a:ext cx="66675" cy="160020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FD5F29B8-41BB-456B-8E83-3A55EB2A5D4C}"/>
              </a:ext>
            </a:extLst>
          </p:cNvPr>
          <p:cNvSpPr>
            <a:spLocks xmlns:a="http://schemas.openxmlformats.org/drawingml/2006/main" noGrp="1"/>
          </p:cNvSpPr>
          <p:nvPr/>
        </p:nvSpPr>
        <p:spPr>
          <a:xfrm xmlns:a="http://schemas.openxmlformats.org/drawingml/2006/main">
            <a:off x="8439150" y="1771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Missing high-need data</a:t>
            </a:r>
          </a:p>
        </p:txBody>
      </p:sp>
      <p:sp>
        <p:nvSpPr>
          <p:cNvPr id="14" name="">
            <a:extLst xmlns:a="http://schemas.openxmlformats.org/drawingml/2006/main">
              <a:ext uri="{FF2B5EF4-FFF2-40B4-BE49-F238E27FC236}">
                <a16:creationId xmlns:a16="http://schemas.microsoft.com/office/drawing/2014/main" id="{2581BB0B-1530-4E6F-A6B5-B12A23AA58EA}"/>
              </a:ext>
            </a:extLst>
          </p:cNvPr>
          <p:cNvSpPr>
            <a:spLocks xmlns:a="http://schemas.openxmlformats.org/drawingml/2006/main" noGrp="1"/>
          </p:cNvSpPr>
          <p:nvPr/>
        </p:nvSpPr>
        <p:spPr>
          <a:xfrm xmlns:a="http://schemas.openxmlformats.org/drawingml/2006/main">
            <a:off x="8439150" y="21145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Stress and fatigue can reduce the willingness to open an app and write.</a:t>
            </a:r>
          </a:p>
        </p:txBody>
      </p:sp>
      <p:sp>
        <p:nvSpPr>
          <p:cNvPr id="15" name="">
            <a:extLst xmlns:a="http://schemas.openxmlformats.org/drawingml/2006/main">
              <a:ext uri="{FF2B5EF4-FFF2-40B4-BE49-F238E27FC236}">
                <a16:creationId xmlns:a16="http://schemas.microsoft.com/office/drawing/2014/main" id="{BE0F6268-C708-4495-81B0-ACA56A575A25}"/>
              </a:ext>
            </a:extLst>
          </p:cNvPr>
          <p:cNvSpPr>
            <a:spLocks xmlns:a="http://schemas.openxmlformats.org/drawingml/2006/main" noGrp="1"/>
          </p:cNvSpPr>
          <p:nvPr/>
        </p:nvSpPr>
        <p:spPr>
          <a:xfrm xmlns:a="http://schemas.openxmlformats.org/drawingml/2006/main">
            <a:off x="876300" y="4000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4338CA"/>
                </a:solidFill>
                <a:latin typeface="Aptos"/>
                <a:ea typeface="Aptos"/>
                <a:cs typeface="Aptos"/>
              </a:defRPr>
            </a:pPr>
            <a:r>
              <a:rPr sz="1425" b="1">
                <a:solidFill>
                  <a:srgbClr val="4338CA"/>
                </a:solidFill>
                <a:latin typeface="Aptos"/>
                <a:ea typeface="Aptos"/>
                <a:cs typeface="Aptos"/>
              </a:rPr>
              <a:t>Design implication</a:t>
            </a:r>
          </a:p>
        </p:txBody>
      </p:sp>
      <p:sp>
        <p:nvSpPr>
          <p:cNvPr id="16" name="">
            <a:extLst xmlns:a="http://schemas.openxmlformats.org/drawingml/2006/main">
              <a:ext uri="{FF2B5EF4-FFF2-40B4-BE49-F238E27FC236}">
                <a16:creationId xmlns:a16="http://schemas.microsoft.com/office/drawing/2014/main" id="{1C50FEA9-D074-4C1C-B245-A735A40D1629}"/>
              </a:ext>
            </a:extLst>
          </p:cNvPr>
          <p:cNvSpPr>
            <a:spLocks xmlns:a="http://schemas.openxmlformats.org/drawingml/2006/main" noGrp="1"/>
          </p:cNvSpPr>
          <p:nvPr/>
        </p:nvSpPr>
        <p:spPr>
          <a:xfrm xmlns:a="http://schemas.openxmlformats.org/drawingml/2006/main">
            <a:off x="876300" y="4381500"/>
            <a:ext cx="781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111827"/>
                </a:solidFill>
                <a:latin typeface="Aptos Display"/>
                <a:ea typeface="Aptos Display"/>
                <a:cs typeface="Aptos Display"/>
              </a:defRPr>
            </a:pPr>
            <a:r>
              <a:rPr sz="2400" b="1">
                <a:solidFill>
                  <a:srgbClr val="111827"/>
                </a:solidFill>
                <a:latin typeface="Aptos Display"/>
                <a:ea typeface="Aptos Display"/>
                <a:cs typeface="Aptos Display"/>
              </a:rPr>
              <a:t>A wellness tool should reduce user burden while still giving the user control over interpretation and action.</a:t>
            </a:r>
          </a:p>
        </p:txBody>
      </p:sp>
      <p:sp>
        <p:nvSpPr>
          <p:cNvPr id="17" name="">
            <a:extLst xmlns:a="http://schemas.openxmlformats.org/drawingml/2006/main">
              <a:ext uri="{FF2B5EF4-FFF2-40B4-BE49-F238E27FC236}">
                <a16:creationId xmlns:a16="http://schemas.microsoft.com/office/drawing/2014/main" id="{400C4867-1E4A-4B0D-AEC3-0A2991488917}"/>
              </a:ext>
            </a:extLst>
          </p:cNvPr>
          <p:cNvSpPr>
            <a:spLocks xmlns:a="http://schemas.openxmlformats.org/drawingml/2006/main" noGrp="1"/>
          </p:cNvSpPr>
          <p:nvPr/>
        </p:nvSpPr>
        <p:spPr>
          <a:xfrm xmlns:a="http://schemas.openxmlformats.org/drawingml/2006/main">
            <a:off x="9163050" y="4019550"/>
            <a:ext cx="2000250" cy="41910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18" name="">
            <a:extLst xmlns:a="http://schemas.openxmlformats.org/drawingml/2006/main">
              <a:ext uri="{FF2B5EF4-FFF2-40B4-BE49-F238E27FC236}">
                <a16:creationId xmlns:a16="http://schemas.microsoft.com/office/drawing/2014/main" id="{30880AA3-754E-4C73-A0BC-444AF2CBEDBB}"/>
              </a:ext>
            </a:extLst>
          </p:cNvPr>
          <p:cNvSpPr>
            <a:spLocks xmlns:a="http://schemas.openxmlformats.org/drawingml/2006/main" noGrp="1"/>
          </p:cNvSpPr>
          <p:nvPr/>
        </p:nvSpPr>
        <p:spPr>
          <a:xfrm xmlns:a="http://schemas.openxmlformats.org/drawingml/2006/main">
            <a:off x="9334500" y="412432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4338CA"/>
                </a:solidFill>
                <a:latin typeface="Aptos"/>
                <a:ea typeface="Aptos"/>
                <a:cs typeface="Aptos"/>
              </a:defRPr>
            </a:pPr>
            <a:r>
              <a:rPr sz="1088" b="1">
                <a:solidFill>
                  <a:srgbClr val="4338CA"/>
                </a:solidFill>
                <a:latin typeface="Aptos"/>
                <a:ea typeface="Aptos"/>
                <a:cs typeface="Aptos"/>
              </a:rPr>
              <a:t>Less typing</a:t>
            </a:r>
          </a:p>
        </p:txBody>
      </p:sp>
      <p:sp>
        <p:nvSpPr>
          <p:cNvPr id="19" name="">
            <a:extLst xmlns:a="http://schemas.openxmlformats.org/drawingml/2006/main">
              <a:ext uri="{FF2B5EF4-FFF2-40B4-BE49-F238E27FC236}">
                <a16:creationId xmlns:a16="http://schemas.microsoft.com/office/drawing/2014/main" id="{EFA9A65B-768B-4688-A8C4-A518C4A30D00}"/>
              </a:ext>
            </a:extLst>
          </p:cNvPr>
          <p:cNvSpPr>
            <a:spLocks xmlns:a="http://schemas.openxmlformats.org/drawingml/2006/main" noGrp="1"/>
          </p:cNvSpPr>
          <p:nvPr/>
        </p:nvSpPr>
        <p:spPr>
          <a:xfrm xmlns:a="http://schemas.openxmlformats.org/drawingml/2006/main">
            <a:off x="9163050" y="4572000"/>
            <a:ext cx="2000250" cy="41910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20" name="">
            <a:extLst xmlns:a="http://schemas.openxmlformats.org/drawingml/2006/main">
              <a:ext uri="{FF2B5EF4-FFF2-40B4-BE49-F238E27FC236}">
                <a16:creationId xmlns:a16="http://schemas.microsoft.com/office/drawing/2014/main" id="{E0104E4F-FC15-46E8-AD89-CEAD30CA8A4D}"/>
              </a:ext>
            </a:extLst>
          </p:cNvPr>
          <p:cNvSpPr>
            <a:spLocks xmlns:a="http://schemas.openxmlformats.org/drawingml/2006/main" noGrp="1"/>
          </p:cNvSpPr>
          <p:nvPr/>
        </p:nvSpPr>
        <p:spPr>
          <a:xfrm xmlns:a="http://schemas.openxmlformats.org/drawingml/2006/main">
            <a:off x="9334500" y="467677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4338CA"/>
                </a:solidFill>
                <a:latin typeface="Aptos"/>
                <a:ea typeface="Aptos"/>
                <a:cs typeface="Aptos"/>
              </a:defRPr>
            </a:pPr>
            <a:r>
              <a:rPr sz="1088" b="1">
                <a:solidFill>
                  <a:srgbClr val="4338CA"/>
                </a:solidFill>
                <a:latin typeface="Aptos"/>
                <a:ea typeface="Aptos"/>
                <a:cs typeface="Aptos"/>
              </a:rPr>
              <a:t>More continuity</a:t>
            </a:r>
          </a:p>
        </p:txBody>
      </p:sp>
      <p:sp>
        <p:nvSpPr>
          <p:cNvPr id="21" name="">
            <a:extLst xmlns:a="http://schemas.openxmlformats.org/drawingml/2006/main">
              <a:ext uri="{FF2B5EF4-FFF2-40B4-BE49-F238E27FC236}">
                <a16:creationId xmlns:a16="http://schemas.microsoft.com/office/drawing/2014/main" id="{6B0E7F71-1F2A-4EF8-943A-6619E7A22EA7}"/>
              </a:ext>
            </a:extLst>
          </p:cNvPr>
          <p:cNvSpPr>
            <a:spLocks xmlns:a="http://schemas.openxmlformats.org/drawingml/2006/main" noGrp="1"/>
          </p:cNvSpPr>
          <p:nvPr/>
        </p:nvSpPr>
        <p:spPr>
          <a:xfrm xmlns:a="http://schemas.openxmlformats.org/drawingml/2006/main">
            <a:off x="9163050" y="5124450"/>
            <a:ext cx="2000250" cy="41910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22" name="">
            <a:extLst xmlns:a="http://schemas.openxmlformats.org/drawingml/2006/main">
              <a:ext uri="{FF2B5EF4-FFF2-40B4-BE49-F238E27FC236}">
                <a16:creationId xmlns:a16="http://schemas.microsoft.com/office/drawing/2014/main" id="{1A0A95F3-F9B8-40BF-A8AC-05B1ED4F0A75}"/>
              </a:ext>
            </a:extLst>
          </p:cNvPr>
          <p:cNvSpPr>
            <a:spLocks xmlns:a="http://schemas.openxmlformats.org/drawingml/2006/main" noGrp="1"/>
          </p:cNvSpPr>
          <p:nvPr/>
        </p:nvSpPr>
        <p:spPr>
          <a:xfrm xmlns:a="http://schemas.openxmlformats.org/drawingml/2006/main">
            <a:off x="9334500" y="522922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4338CA"/>
                </a:solidFill>
                <a:latin typeface="Aptos"/>
                <a:ea typeface="Aptos"/>
                <a:cs typeface="Aptos"/>
              </a:defRPr>
            </a:pPr>
            <a:r>
              <a:rPr sz="1088" b="1">
                <a:solidFill>
                  <a:srgbClr val="4338CA"/>
                </a:solidFill>
                <a:latin typeface="Aptos"/>
                <a:ea typeface="Aptos"/>
                <a:cs typeface="Aptos"/>
              </a:rPr>
              <a:t>User control</a:t>
            </a:r>
          </a:p>
        </p:txBody>
      </p:sp>
      <p:sp>
        <p:nvSpPr>
          <p:cNvPr id="23" name="">
            <a:extLst xmlns:a="http://schemas.openxmlformats.org/drawingml/2006/main">
              <a:ext uri="{FF2B5EF4-FFF2-40B4-BE49-F238E27FC236}">
                <a16:creationId xmlns:a16="http://schemas.microsoft.com/office/drawing/2014/main" id="{DF581980-4109-4371-AB02-50650AF0DC54}"/>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2/10</a:t>
            </a:r>
          </a:p>
        </p:txBody>
      </p:sp>
    </p:spTree>
    <p:extLst>
      <p:ext uri="{BB962C8B-B14F-4D97-AF65-F5344CB8AC3E}">
        <p14:creationId xmlns:p14="http://schemas.microsoft.com/office/powerpoint/2010/main" val="282629469"/>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4AA19D-1C51-4E02-AD9B-C9BB2953629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Research goal and contribution</a:t>
            </a:r>
          </a:p>
        </p:txBody>
      </p:sp>
      <p:sp>
        <p:nvSpPr>
          <p:cNvPr id="2" name="">
            <a:extLst xmlns:a="http://schemas.openxmlformats.org/drawingml/2006/main">
              <a:ext uri="{FF2B5EF4-FFF2-40B4-BE49-F238E27FC236}">
                <a16:creationId xmlns:a16="http://schemas.microsoft.com/office/drawing/2014/main" id="{96A9F17B-79EE-4240-8347-84019D6D39F2}"/>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EmoScope is positioned as a reflection prototype, not a clinical diagnostic system.</a:t>
            </a:r>
          </a:p>
        </p:txBody>
      </p:sp>
      <p:sp>
        <p:nvSpPr>
          <p:cNvPr id="3" name="">
            <a:extLst xmlns:a="http://schemas.openxmlformats.org/drawingml/2006/main">
              <a:ext uri="{FF2B5EF4-FFF2-40B4-BE49-F238E27FC236}">
                <a16:creationId xmlns:a16="http://schemas.microsoft.com/office/drawing/2014/main" id="{ED79866F-3E52-4284-AEBE-8A6A504BC2DD}"/>
              </a:ext>
            </a:extLst>
          </p:cNvPr>
          <p:cNvSpPr>
            <a:spLocks xmlns:a="http://schemas.openxmlformats.org/drawingml/2006/main" noGrp="1"/>
          </p:cNvSpPr>
          <p:nvPr/>
        </p:nvSpPr>
        <p:spPr>
          <a:xfrm xmlns:a="http://schemas.openxmlformats.org/drawingml/2006/main">
            <a:off x="876300" y="1600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4338CA"/>
                </a:solidFill>
                <a:latin typeface="Aptos"/>
                <a:ea typeface="Aptos"/>
                <a:cs typeface="Aptos"/>
              </a:defRPr>
            </a:pPr>
            <a:r>
              <a:rPr sz="1425" b="1">
                <a:solidFill>
                  <a:srgbClr val="4338CA"/>
                </a:solidFill>
                <a:latin typeface="Aptos"/>
                <a:ea typeface="Aptos"/>
                <a:cs typeface="Aptos"/>
              </a:rPr>
              <a:t>Research question</a:t>
            </a:r>
          </a:p>
        </p:txBody>
      </p:sp>
      <p:sp>
        <p:nvSpPr>
          <p:cNvPr id="4" name="">
            <a:extLst xmlns:a="http://schemas.openxmlformats.org/drawingml/2006/main">
              <a:ext uri="{FF2B5EF4-FFF2-40B4-BE49-F238E27FC236}">
                <a16:creationId xmlns:a16="http://schemas.microsoft.com/office/drawing/2014/main" id="{C873F156-327A-4C59-B422-3E787D4131DD}"/>
              </a:ext>
            </a:extLst>
          </p:cNvPr>
          <p:cNvSpPr>
            <a:spLocks xmlns:a="http://schemas.openxmlformats.org/drawingml/2006/main" noGrp="1"/>
          </p:cNvSpPr>
          <p:nvPr/>
        </p:nvSpPr>
        <p:spPr>
          <a:xfrm xmlns:a="http://schemas.openxmlformats.org/drawingml/2006/main">
            <a:off x="876300" y="2000250"/>
            <a:ext cx="7000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Can a normal smartphone collect helpful emotional context while keeping sensitive biometric analysis mainly on the device?</a:t>
            </a:r>
          </a:p>
        </p:txBody>
      </p:sp>
      <p:sp>
        <p:nvSpPr>
          <p:cNvPr id="5" name="">
            <a:extLst xmlns:a="http://schemas.openxmlformats.org/drawingml/2006/main">
              <a:ext uri="{FF2B5EF4-FFF2-40B4-BE49-F238E27FC236}">
                <a16:creationId xmlns:a16="http://schemas.microsoft.com/office/drawing/2014/main" id="{E8DE544B-E548-49D6-B006-DE589F2841DB}"/>
              </a:ext>
            </a:extLst>
          </p:cNvPr>
          <p:cNvSpPr>
            <a:spLocks xmlns:a="http://schemas.openxmlformats.org/drawingml/2006/main" noGrp="1"/>
          </p:cNvSpPr>
          <p:nvPr/>
        </p:nvSpPr>
        <p:spPr>
          <a:xfrm xmlns:a="http://schemas.openxmlformats.org/drawingml/2006/main">
            <a:off x="876300" y="3619500"/>
            <a:ext cx="2952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5C21AC7-B971-48A9-9491-6D16480AF215}"/>
              </a:ext>
            </a:extLst>
          </p:cNvPr>
          <p:cNvSpPr>
            <a:spLocks xmlns:a="http://schemas.openxmlformats.org/drawingml/2006/main" noGrp="1"/>
          </p:cNvSpPr>
          <p:nvPr/>
        </p:nvSpPr>
        <p:spPr>
          <a:xfrm xmlns:a="http://schemas.openxmlformats.org/drawingml/2006/main">
            <a:off x="876300" y="3619500"/>
            <a:ext cx="66675" cy="123825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7" name="">
            <a:extLst xmlns:a="http://schemas.openxmlformats.org/drawingml/2006/main">
              <a:ext uri="{FF2B5EF4-FFF2-40B4-BE49-F238E27FC236}">
                <a16:creationId xmlns:a16="http://schemas.microsoft.com/office/drawing/2014/main" id="{6DC0ABE6-0EBF-4F0A-BC7A-3F23145B1FC4}"/>
              </a:ext>
            </a:extLst>
          </p:cNvPr>
          <p:cNvSpPr>
            <a:spLocks xmlns:a="http://schemas.openxmlformats.org/drawingml/2006/main" noGrp="1"/>
          </p:cNvSpPr>
          <p:nvPr/>
        </p:nvSpPr>
        <p:spPr>
          <a:xfrm xmlns:a="http://schemas.openxmlformats.org/drawingml/2006/main">
            <a:off x="1104900" y="379095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Multimodal sensing</a:t>
            </a:r>
          </a:p>
        </p:txBody>
      </p:sp>
      <p:sp>
        <p:nvSpPr>
          <p:cNvPr id="8" name="">
            <a:extLst xmlns:a="http://schemas.openxmlformats.org/drawingml/2006/main">
              <a:ext uri="{FF2B5EF4-FFF2-40B4-BE49-F238E27FC236}">
                <a16:creationId xmlns:a16="http://schemas.microsoft.com/office/drawing/2014/main" id="{A66BBAAA-D7FE-4761-894D-2F241D94E388}"/>
              </a:ext>
            </a:extLst>
          </p:cNvPr>
          <p:cNvSpPr>
            <a:spLocks xmlns:a="http://schemas.openxmlformats.org/drawingml/2006/main" noGrp="1"/>
          </p:cNvSpPr>
          <p:nvPr/>
        </p:nvSpPr>
        <p:spPr>
          <a:xfrm xmlns:a="http://schemas.openxmlformats.org/drawingml/2006/main">
            <a:off x="1104900" y="4133850"/>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Face, voice, ambient context, and recent records are combined into one workflow.</a:t>
            </a:r>
          </a:p>
        </p:txBody>
      </p:sp>
      <p:sp>
        <p:nvSpPr>
          <p:cNvPr id="9" name="">
            <a:extLst xmlns:a="http://schemas.openxmlformats.org/drawingml/2006/main">
              <a:ext uri="{FF2B5EF4-FFF2-40B4-BE49-F238E27FC236}">
                <a16:creationId xmlns:a16="http://schemas.microsoft.com/office/drawing/2014/main" id="{855B1CF2-374A-4913-BF15-068DAF7C353B}"/>
              </a:ext>
            </a:extLst>
          </p:cNvPr>
          <p:cNvSpPr>
            <a:spLocks xmlns:a="http://schemas.openxmlformats.org/drawingml/2006/main" noGrp="1"/>
          </p:cNvSpPr>
          <p:nvPr/>
        </p:nvSpPr>
        <p:spPr>
          <a:xfrm xmlns:a="http://schemas.openxmlformats.org/drawingml/2006/main">
            <a:off x="4343400" y="3619500"/>
            <a:ext cx="2952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2EC564C-CB80-4950-A5BB-699109FD49CC}"/>
              </a:ext>
            </a:extLst>
          </p:cNvPr>
          <p:cNvSpPr>
            <a:spLocks xmlns:a="http://schemas.openxmlformats.org/drawingml/2006/main" noGrp="1"/>
          </p:cNvSpPr>
          <p:nvPr/>
        </p:nvSpPr>
        <p:spPr>
          <a:xfrm xmlns:a="http://schemas.openxmlformats.org/drawingml/2006/main">
            <a:off x="4343400" y="3619500"/>
            <a:ext cx="66675" cy="12382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1" name="">
            <a:extLst xmlns:a="http://schemas.openxmlformats.org/drawingml/2006/main">
              <a:ext uri="{FF2B5EF4-FFF2-40B4-BE49-F238E27FC236}">
                <a16:creationId xmlns:a16="http://schemas.microsoft.com/office/drawing/2014/main" id="{A3F2D655-EF33-4BA4-AF84-C45D4E6062D6}"/>
              </a:ext>
            </a:extLst>
          </p:cNvPr>
          <p:cNvSpPr>
            <a:spLocks xmlns:a="http://schemas.openxmlformats.org/drawingml/2006/main" noGrp="1"/>
          </p:cNvSpPr>
          <p:nvPr/>
        </p:nvSpPr>
        <p:spPr>
          <a:xfrm xmlns:a="http://schemas.openxmlformats.org/drawingml/2006/main">
            <a:off x="4572000" y="379095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Local memory</a:t>
            </a:r>
          </a:p>
        </p:txBody>
      </p:sp>
      <p:sp>
        <p:nvSpPr>
          <p:cNvPr id="12" name="">
            <a:extLst xmlns:a="http://schemas.openxmlformats.org/drawingml/2006/main">
              <a:ext uri="{FF2B5EF4-FFF2-40B4-BE49-F238E27FC236}">
                <a16:creationId xmlns:a16="http://schemas.microsoft.com/office/drawing/2014/main" id="{83945F5E-25AA-46FD-BE27-59E20DE997CD}"/>
              </a:ext>
            </a:extLst>
          </p:cNvPr>
          <p:cNvSpPr>
            <a:spLocks xmlns:a="http://schemas.openxmlformats.org/drawingml/2006/main" noGrp="1"/>
          </p:cNvSpPr>
          <p:nvPr/>
        </p:nvSpPr>
        <p:spPr>
          <a:xfrm xmlns:a="http://schemas.openxmlformats.org/drawingml/2006/main">
            <a:off x="4572000" y="4133850"/>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Thirty-day records support longer-term emotional reflection.</a:t>
            </a:r>
          </a:p>
        </p:txBody>
      </p:sp>
      <p:sp>
        <p:nvSpPr>
          <p:cNvPr id="13" name="">
            <a:extLst xmlns:a="http://schemas.openxmlformats.org/drawingml/2006/main">
              <a:ext uri="{FF2B5EF4-FFF2-40B4-BE49-F238E27FC236}">
                <a16:creationId xmlns:a16="http://schemas.microsoft.com/office/drawing/2014/main" id="{6ACCF370-DD52-4F22-A02B-066F2601A2F1}"/>
              </a:ext>
            </a:extLst>
          </p:cNvPr>
          <p:cNvSpPr>
            <a:spLocks xmlns:a="http://schemas.openxmlformats.org/drawingml/2006/main" noGrp="1"/>
          </p:cNvSpPr>
          <p:nvPr/>
        </p:nvSpPr>
        <p:spPr>
          <a:xfrm xmlns:a="http://schemas.openxmlformats.org/drawingml/2006/main">
            <a:off x="7810500" y="3619500"/>
            <a:ext cx="2952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4C3F754-0AA9-49EB-9D06-2CBF0D8676B2}"/>
              </a:ext>
            </a:extLst>
          </p:cNvPr>
          <p:cNvSpPr>
            <a:spLocks xmlns:a="http://schemas.openxmlformats.org/drawingml/2006/main" noGrp="1"/>
          </p:cNvSpPr>
          <p:nvPr/>
        </p:nvSpPr>
        <p:spPr>
          <a:xfrm xmlns:a="http://schemas.openxmlformats.org/drawingml/2006/main">
            <a:off x="7810500" y="3619500"/>
            <a:ext cx="66675" cy="12382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5" name="">
            <a:extLst xmlns:a="http://schemas.openxmlformats.org/drawingml/2006/main">
              <a:ext uri="{FF2B5EF4-FFF2-40B4-BE49-F238E27FC236}">
                <a16:creationId xmlns:a16="http://schemas.microsoft.com/office/drawing/2014/main" id="{FE244D74-EDEA-437A-930B-B3E784AFBF31}"/>
              </a:ext>
            </a:extLst>
          </p:cNvPr>
          <p:cNvSpPr>
            <a:spLocks xmlns:a="http://schemas.openxmlformats.org/drawingml/2006/main" noGrp="1"/>
          </p:cNvSpPr>
          <p:nvPr/>
        </p:nvSpPr>
        <p:spPr>
          <a:xfrm xmlns:a="http://schemas.openxmlformats.org/drawingml/2006/main">
            <a:off x="8039100" y="379095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User-confirmed safety</a:t>
            </a:r>
          </a:p>
        </p:txBody>
      </p:sp>
      <p:sp>
        <p:nvSpPr>
          <p:cNvPr id="16" name="">
            <a:extLst xmlns:a="http://schemas.openxmlformats.org/drawingml/2006/main">
              <a:ext uri="{FF2B5EF4-FFF2-40B4-BE49-F238E27FC236}">
                <a16:creationId xmlns:a16="http://schemas.microsoft.com/office/drawing/2014/main" id="{F4912A3F-07D8-4E45-982E-32FE4C9A4106}"/>
              </a:ext>
            </a:extLst>
          </p:cNvPr>
          <p:cNvSpPr>
            <a:spLocks xmlns:a="http://schemas.openxmlformats.org/drawingml/2006/main" noGrp="1"/>
          </p:cNvSpPr>
          <p:nvPr/>
        </p:nvSpPr>
        <p:spPr>
          <a:xfrm xmlns:a="http://schemas.openxmlformats.org/drawingml/2006/main">
            <a:off x="8039100" y="4133850"/>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SOS support is available without automatic escalation.</a:t>
            </a:r>
          </a:p>
        </p:txBody>
      </p:sp>
      <p:sp>
        <p:nvSpPr>
          <p:cNvPr id="17" name="">
            <a:extLst xmlns:a="http://schemas.openxmlformats.org/drawingml/2006/main">
              <a:ext uri="{FF2B5EF4-FFF2-40B4-BE49-F238E27FC236}">
                <a16:creationId xmlns:a16="http://schemas.microsoft.com/office/drawing/2014/main" id="{94190863-FA10-4BF1-945A-9FA49C1B3DC0}"/>
              </a:ext>
            </a:extLst>
          </p:cNvPr>
          <p:cNvSpPr>
            <a:spLocks xmlns:a="http://schemas.openxmlformats.org/drawingml/2006/main" noGrp="1"/>
          </p:cNvSpPr>
          <p:nvPr/>
        </p:nvSpPr>
        <p:spPr>
          <a:xfrm xmlns:a="http://schemas.openxmlformats.org/drawingml/2006/main">
            <a:off x="8572500" y="1571625"/>
            <a:ext cx="2190750" cy="1352550"/>
          </a:xfrm>
          <a:prstGeom xmlns:a="http://schemas.openxmlformats.org/drawingml/2006/main" prst="roundRect">
            <a:avLst>
              <a:gd name="adj" fmla="val 11268"/>
            </a:avLst>
          </a:prstGeom>
          <a:solidFill xmlns:a="http://schemas.openxmlformats.org/drawingml/2006/main">
            <a:srgbClr val="EEF2FF"/>
          </a:solidFill>
          <a:ln xmlns:a="http://schemas.openxmlformats.org/drawingml/2006/main" w="9525">
            <a:solidFill>
              <a:srgbClr val="C7D2FE"/>
            </a:solidFill>
            <a:prstDash val="solid"/>
          </a:ln>
        </p:spPr>
      </p:sp>
      <p:sp>
        <p:nvSpPr>
          <p:cNvPr id="18" name="">
            <a:extLst xmlns:a="http://schemas.openxmlformats.org/drawingml/2006/main">
              <a:ext uri="{FF2B5EF4-FFF2-40B4-BE49-F238E27FC236}">
                <a16:creationId xmlns:a16="http://schemas.microsoft.com/office/drawing/2014/main" id="{D61C17BB-CD32-433E-9A15-548B4E7AC7DF}"/>
              </a:ext>
            </a:extLst>
          </p:cNvPr>
          <p:cNvSpPr>
            <a:spLocks xmlns:a="http://schemas.openxmlformats.org/drawingml/2006/main" noGrp="1"/>
          </p:cNvSpPr>
          <p:nvPr/>
        </p:nvSpPr>
        <p:spPr>
          <a:xfrm xmlns:a="http://schemas.openxmlformats.org/drawingml/2006/main">
            <a:off x="8877300" y="1885950"/>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4338CA"/>
                </a:solidFill>
                <a:latin typeface="Aptos"/>
                <a:ea typeface="Aptos"/>
                <a:cs typeface="Aptos"/>
              </a:defRPr>
            </a:pPr>
            <a:r>
              <a:rPr sz="1950" b="1">
                <a:solidFill>
                  <a:srgbClr val="4338CA"/>
                </a:solidFill>
                <a:latin typeface="Aptos"/>
                <a:ea typeface="Aptos"/>
                <a:cs typeface="Aptos"/>
              </a:rPr>
              <a:t>Reflection,</a:t>
            </a:r>
          </a:p>
          <a:p xmlns:a="http://schemas.openxmlformats.org/drawingml/2006/main">
            <a:pPr>
              <a:buNone/>
              <a:defRPr sz="1950" b="1">
                <a:solidFill>
                  <a:srgbClr val="4338CA"/>
                </a:solidFill>
                <a:latin typeface="Aptos"/>
                <a:ea typeface="Aptos"/>
                <a:cs typeface="Aptos"/>
              </a:defRPr>
            </a:pPr>
            <a:r>
              <a:rPr sz="1950" b="1">
                <a:solidFill>
                  <a:srgbClr val="4338CA"/>
                </a:solidFill>
                <a:latin typeface="Aptos"/>
                <a:ea typeface="Aptos"/>
                <a:cs typeface="Aptos"/>
              </a:rPr>
              <a:t>not diagnosis</a:t>
            </a:r>
          </a:p>
        </p:txBody>
      </p:sp>
      <p:sp>
        <p:nvSpPr>
          <p:cNvPr id="19" name="">
            <a:extLst xmlns:a="http://schemas.openxmlformats.org/drawingml/2006/main">
              <a:ext uri="{FF2B5EF4-FFF2-40B4-BE49-F238E27FC236}">
                <a16:creationId xmlns:a16="http://schemas.microsoft.com/office/drawing/2014/main" id="{0734CB77-6778-46C1-A409-FFA19140B1A2}"/>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3/10</a:t>
            </a:r>
          </a:p>
        </p:txBody>
      </p:sp>
    </p:spTree>
    <p:extLst>
      <p:ext uri="{BB962C8B-B14F-4D97-AF65-F5344CB8AC3E}">
        <p14:creationId xmlns:p14="http://schemas.microsoft.com/office/powerpoint/2010/main" val="21320310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336233-1831-430E-8C26-634F6AC5C69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System architecture</a:t>
            </a:r>
          </a:p>
        </p:txBody>
      </p:sp>
      <p:sp>
        <p:nvSpPr>
          <p:cNvPr id="2" name="">
            <a:extLst xmlns:a="http://schemas.openxmlformats.org/drawingml/2006/main">
              <a:ext uri="{FF2B5EF4-FFF2-40B4-BE49-F238E27FC236}">
                <a16:creationId xmlns:a16="http://schemas.microsoft.com/office/drawing/2014/main" id="{87E5F8B5-3584-47F8-ACF7-F1D3181FFC8E}"/>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Continuous sensing feeds cautious interpretation and user-facing support.</a:t>
            </a:r>
          </a:p>
        </p:txBody>
      </p:sp>
      <p:sp>
        <p:nvSpPr>
          <p:cNvPr id="3" name="">
            <a:extLst xmlns:a="http://schemas.openxmlformats.org/drawingml/2006/main">
              <a:ext uri="{FF2B5EF4-FFF2-40B4-BE49-F238E27FC236}">
                <a16:creationId xmlns:a16="http://schemas.microsoft.com/office/drawing/2014/main" id="{0AD266AB-41C7-472A-AFFD-0865A6C0A74B}"/>
              </a:ext>
            </a:extLst>
          </p:cNvPr>
          <p:cNvSpPr>
            <a:spLocks xmlns:a="http://schemas.openxmlformats.org/drawingml/2006/main" noGrp="1"/>
          </p:cNvSpPr>
          <p:nvPr/>
        </p:nvSpPr>
        <p:spPr>
          <a:xfrm xmlns:a="http://schemas.openxmlformats.org/drawingml/2006/main">
            <a:off x="666750" y="2076450"/>
            <a:ext cx="2190750" cy="1333500"/>
          </a:xfrm>
          <a:prstGeom xmlns:a="http://schemas.openxmlformats.org/drawingml/2006/main" prst="roundRect">
            <a:avLst>
              <a:gd name="adj" fmla="val 11429"/>
            </a:avLst>
          </a:prstGeom>
          <a:solidFill xmlns:a="http://schemas.openxmlformats.org/drawingml/2006/main">
            <a:srgbClr val="ECF4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6776D677-5CB0-4D72-BAF9-B56496DCF559}"/>
              </a:ext>
            </a:extLst>
          </p:cNvPr>
          <p:cNvSpPr>
            <a:spLocks xmlns:a="http://schemas.openxmlformats.org/drawingml/2006/main" noGrp="1"/>
          </p:cNvSpPr>
          <p:nvPr/>
        </p:nvSpPr>
        <p:spPr>
          <a:xfrm xmlns:a="http://schemas.openxmlformats.org/drawingml/2006/main">
            <a:off x="838200"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Input layer</a:t>
            </a:r>
          </a:p>
        </p:txBody>
      </p:sp>
      <p:sp>
        <p:nvSpPr>
          <p:cNvPr id="5" name="">
            <a:extLst xmlns:a="http://schemas.openxmlformats.org/drawingml/2006/main">
              <a:ext uri="{FF2B5EF4-FFF2-40B4-BE49-F238E27FC236}">
                <a16:creationId xmlns:a16="http://schemas.microsoft.com/office/drawing/2014/main" id="{2754B344-FEDD-4CB9-94E7-1656DEE260CC}"/>
              </a:ext>
            </a:extLst>
          </p:cNvPr>
          <p:cNvSpPr>
            <a:spLocks xmlns:a="http://schemas.openxmlformats.org/drawingml/2006/main" noGrp="1"/>
          </p:cNvSpPr>
          <p:nvPr/>
        </p:nvSpPr>
        <p:spPr>
          <a:xfrm xmlns:a="http://schemas.openxmlformats.org/drawingml/2006/main">
            <a:off x="838200"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Camera frames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Voice transcript</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Ambient light</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User records</a:t>
            </a:r>
          </a:p>
        </p:txBody>
      </p:sp>
      <p:sp>
        <p:nvSpPr>
          <p:cNvPr id="6" name="">
            <a:extLst xmlns:a="http://schemas.openxmlformats.org/drawingml/2006/main">
              <a:ext uri="{FF2B5EF4-FFF2-40B4-BE49-F238E27FC236}">
                <a16:creationId xmlns:a16="http://schemas.microsoft.com/office/drawing/2014/main" id="{846E16AA-8EB1-474D-929F-CBDA60F51135}"/>
              </a:ext>
            </a:extLst>
          </p:cNvPr>
          <p:cNvSpPr>
            <a:spLocks xmlns:a="http://schemas.openxmlformats.org/drawingml/2006/main" noGrp="1"/>
          </p:cNvSpPr>
          <p:nvPr/>
        </p:nvSpPr>
        <p:spPr>
          <a:xfrm xmlns:a="http://schemas.openxmlformats.org/drawingml/2006/main">
            <a:off x="2381250" y="2247900"/>
            <a:ext cx="285750" cy="285750"/>
          </a:xfrm>
          <a:prstGeom xmlns:a="http://schemas.openxmlformats.org/drawingml/2006/main" prst="ellipse">
            <a:avLst/>
          </a:prstGeom>
          <a:solidFill xmlns:a="http://schemas.openxmlformats.org/drawingml/2006/main">
            <a:srgbClr val="3B82F6"/>
          </a:solidFill>
          <a:ln xmlns:a="http://schemas.openxmlformats.org/drawingml/2006/main" w="0">
            <a:solidFill>
              <a:srgbClr val="3B82F6"/>
            </a:solidFill>
            <a:prstDash val="solid"/>
          </a:ln>
        </p:spPr>
      </p:sp>
      <p:sp>
        <p:nvSpPr>
          <p:cNvPr id="7" name="">
            <a:extLst xmlns:a="http://schemas.openxmlformats.org/drawingml/2006/main">
              <a:ext uri="{FF2B5EF4-FFF2-40B4-BE49-F238E27FC236}">
                <a16:creationId xmlns:a16="http://schemas.microsoft.com/office/drawing/2014/main" id="{722C953B-207F-4465-B332-588E739823C1}"/>
              </a:ext>
            </a:extLst>
          </p:cNvPr>
          <p:cNvSpPr>
            <a:spLocks xmlns:a="http://schemas.openxmlformats.org/drawingml/2006/main" noGrp="1"/>
          </p:cNvSpPr>
          <p:nvPr/>
        </p:nvSpPr>
        <p:spPr>
          <a:xfrm xmlns:a="http://schemas.openxmlformats.org/drawingml/2006/main">
            <a:off x="3000375" y="2476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A5D8EE6A-2B22-4D28-9018-3B2EE0E17F47}"/>
              </a:ext>
            </a:extLst>
          </p:cNvPr>
          <p:cNvSpPr>
            <a:spLocks xmlns:a="http://schemas.openxmlformats.org/drawingml/2006/main" noGrp="1"/>
          </p:cNvSpPr>
          <p:nvPr/>
        </p:nvSpPr>
        <p:spPr>
          <a:xfrm xmlns:a="http://schemas.openxmlformats.org/drawingml/2006/main">
            <a:off x="3476625" y="2076450"/>
            <a:ext cx="2190750" cy="133350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FFD4D6B-30FF-4DD4-8FA5-D2C93794BD92}"/>
              </a:ext>
            </a:extLst>
          </p:cNvPr>
          <p:cNvSpPr>
            <a:spLocks xmlns:a="http://schemas.openxmlformats.org/drawingml/2006/main" noGrp="1"/>
          </p:cNvSpPr>
          <p:nvPr/>
        </p:nvSpPr>
        <p:spPr>
          <a:xfrm xmlns:a="http://schemas.openxmlformats.org/drawingml/2006/main">
            <a:off x="3648075"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On-device AI</a:t>
            </a:r>
          </a:p>
        </p:txBody>
      </p:sp>
      <p:sp>
        <p:nvSpPr>
          <p:cNvPr id="10" name="">
            <a:extLst xmlns:a="http://schemas.openxmlformats.org/drawingml/2006/main">
              <a:ext uri="{FF2B5EF4-FFF2-40B4-BE49-F238E27FC236}">
                <a16:creationId xmlns:a16="http://schemas.microsoft.com/office/drawing/2014/main" id="{50FFEE53-55FE-4A96-84EA-D97114287DCF}"/>
              </a:ext>
            </a:extLst>
          </p:cNvPr>
          <p:cNvSpPr>
            <a:spLocks xmlns:a="http://schemas.openxmlformats.org/drawingml/2006/main" noGrp="1"/>
          </p:cNvSpPr>
          <p:nvPr/>
        </p:nvSpPr>
        <p:spPr>
          <a:xfrm xmlns:a="http://schemas.openxmlformats.org/drawingml/2006/main">
            <a:off x="3648075"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52 blendshapes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EWMA smoothing</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10 emotions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0-100 score</a:t>
            </a:r>
          </a:p>
        </p:txBody>
      </p:sp>
      <p:sp>
        <p:nvSpPr>
          <p:cNvPr id="11" name="">
            <a:extLst xmlns:a="http://schemas.openxmlformats.org/drawingml/2006/main">
              <a:ext uri="{FF2B5EF4-FFF2-40B4-BE49-F238E27FC236}">
                <a16:creationId xmlns:a16="http://schemas.microsoft.com/office/drawing/2014/main" id="{1ED8A22A-16C7-412F-B9B8-695B822AD93F}"/>
              </a:ext>
            </a:extLst>
          </p:cNvPr>
          <p:cNvSpPr>
            <a:spLocks xmlns:a="http://schemas.openxmlformats.org/drawingml/2006/main" noGrp="1"/>
          </p:cNvSpPr>
          <p:nvPr/>
        </p:nvSpPr>
        <p:spPr>
          <a:xfrm xmlns:a="http://schemas.openxmlformats.org/drawingml/2006/main">
            <a:off x="5191125" y="2247900"/>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 name="">
            <a:extLst xmlns:a="http://schemas.openxmlformats.org/drawingml/2006/main">
              <a:ext uri="{FF2B5EF4-FFF2-40B4-BE49-F238E27FC236}">
                <a16:creationId xmlns:a16="http://schemas.microsoft.com/office/drawing/2014/main" id="{09745719-332D-47AE-8E27-C1AE75345E06}"/>
              </a:ext>
            </a:extLst>
          </p:cNvPr>
          <p:cNvSpPr>
            <a:spLocks xmlns:a="http://schemas.openxmlformats.org/drawingml/2006/main" noGrp="1"/>
          </p:cNvSpPr>
          <p:nvPr/>
        </p:nvSpPr>
        <p:spPr>
          <a:xfrm xmlns:a="http://schemas.openxmlformats.org/drawingml/2006/main">
            <a:off x="5810250" y="2476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AC003ECF-A85C-4C43-BE78-66D3DD029345}"/>
              </a:ext>
            </a:extLst>
          </p:cNvPr>
          <p:cNvSpPr>
            <a:spLocks xmlns:a="http://schemas.openxmlformats.org/drawingml/2006/main" noGrp="1"/>
          </p:cNvSpPr>
          <p:nvPr/>
        </p:nvSpPr>
        <p:spPr>
          <a:xfrm xmlns:a="http://schemas.openxmlformats.org/drawingml/2006/main">
            <a:off x="6286500" y="2076450"/>
            <a:ext cx="2190750" cy="1333500"/>
          </a:xfrm>
          <a:prstGeom xmlns:a="http://schemas.openxmlformats.org/drawingml/2006/main" prst="roundRect">
            <a:avLst>
              <a:gd name="adj" fmla="val 11429"/>
            </a:avLst>
          </a:prstGeom>
          <a:solidFill xmlns:a="http://schemas.openxmlformats.org/drawingml/2006/main">
            <a:srgbClr val="F5F3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0B38B8E-DDD4-47DB-83E0-D4C96B7EB029}"/>
              </a:ext>
            </a:extLst>
          </p:cNvPr>
          <p:cNvSpPr>
            <a:spLocks xmlns:a="http://schemas.openxmlformats.org/drawingml/2006/main" noGrp="1"/>
          </p:cNvSpPr>
          <p:nvPr/>
        </p:nvSpPr>
        <p:spPr>
          <a:xfrm xmlns:a="http://schemas.openxmlformats.org/drawingml/2006/main">
            <a:off x="6457950"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Memory layer</a:t>
            </a:r>
          </a:p>
        </p:txBody>
      </p:sp>
      <p:sp>
        <p:nvSpPr>
          <p:cNvPr id="15" name="">
            <a:extLst xmlns:a="http://schemas.openxmlformats.org/drawingml/2006/main">
              <a:ext uri="{FF2B5EF4-FFF2-40B4-BE49-F238E27FC236}">
                <a16:creationId xmlns:a16="http://schemas.microsoft.com/office/drawing/2014/main" id="{2B031E01-CACB-4E5E-81F4-E49A1D055F63}"/>
              </a:ext>
            </a:extLst>
          </p:cNvPr>
          <p:cNvSpPr>
            <a:spLocks xmlns:a="http://schemas.openxmlformats.org/drawingml/2006/main" noGrp="1"/>
          </p:cNvSpPr>
          <p:nvPr/>
        </p:nvSpPr>
        <p:spPr>
          <a:xfrm xmlns:a="http://schemas.openxmlformats.org/drawingml/2006/main">
            <a:off x="6457950"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SQLite records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30-day trends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Keyword ranking</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JSON export</a:t>
            </a:r>
          </a:p>
        </p:txBody>
      </p:sp>
      <p:sp>
        <p:nvSpPr>
          <p:cNvPr id="16" name="">
            <a:extLst xmlns:a="http://schemas.openxmlformats.org/drawingml/2006/main">
              <a:ext uri="{FF2B5EF4-FFF2-40B4-BE49-F238E27FC236}">
                <a16:creationId xmlns:a16="http://schemas.microsoft.com/office/drawing/2014/main" id="{7DCFF3C2-00E8-4F29-BE56-19ECCF3F2DDB}"/>
              </a:ext>
            </a:extLst>
          </p:cNvPr>
          <p:cNvSpPr>
            <a:spLocks xmlns:a="http://schemas.openxmlformats.org/drawingml/2006/main" noGrp="1"/>
          </p:cNvSpPr>
          <p:nvPr/>
        </p:nvSpPr>
        <p:spPr>
          <a:xfrm xmlns:a="http://schemas.openxmlformats.org/drawingml/2006/main">
            <a:off x="8001000" y="2247900"/>
            <a:ext cx="285750" cy="2857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 name="">
            <a:extLst xmlns:a="http://schemas.openxmlformats.org/drawingml/2006/main">
              <a:ext uri="{FF2B5EF4-FFF2-40B4-BE49-F238E27FC236}">
                <a16:creationId xmlns:a16="http://schemas.microsoft.com/office/drawing/2014/main" id="{80230EEB-B93B-4A5F-AFD5-56944518DF09}"/>
              </a:ext>
            </a:extLst>
          </p:cNvPr>
          <p:cNvSpPr>
            <a:spLocks xmlns:a="http://schemas.openxmlformats.org/drawingml/2006/main" noGrp="1"/>
          </p:cNvSpPr>
          <p:nvPr/>
        </p:nvSpPr>
        <p:spPr>
          <a:xfrm xmlns:a="http://schemas.openxmlformats.org/drawingml/2006/main">
            <a:off x="8620125" y="2476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946D426C-905A-44D9-8763-0732CE50B746}"/>
              </a:ext>
            </a:extLst>
          </p:cNvPr>
          <p:cNvSpPr>
            <a:spLocks xmlns:a="http://schemas.openxmlformats.org/drawingml/2006/main" noGrp="1"/>
          </p:cNvSpPr>
          <p:nvPr/>
        </p:nvSpPr>
        <p:spPr>
          <a:xfrm xmlns:a="http://schemas.openxmlformats.org/drawingml/2006/main">
            <a:off x="9096375" y="2076450"/>
            <a:ext cx="2190750" cy="133350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814EE2D-7CFF-42D3-B429-6E755FFF5819}"/>
              </a:ext>
            </a:extLst>
          </p:cNvPr>
          <p:cNvSpPr>
            <a:spLocks xmlns:a="http://schemas.openxmlformats.org/drawingml/2006/main" noGrp="1"/>
          </p:cNvSpPr>
          <p:nvPr/>
        </p:nvSpPr>
        <p:spPr>
          <a:xfrm xmlns:a="http://schemas.openxmlformats.org/drawingml/2006/main">
            <a:off x="9267825"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Feedback layer</a:t>
            </a:r>
          </a:p>
        </p:txBody>
      </p:sp>
      <p:sp>
        <p:nvSpPr>
          <p:cNvPr id="20" name="">
            <a:extLst xmlns:a="http://schemas.openxmlformats.org/drawingml/2006/main">
              <a:ext uri="{FF2B5EF4-FFF2-40B4-BE49-F238E27FC236}">
                <a16:creationId xmlns:a16="http://schemas.microsoft.com/office/drawing/2014/main" id="{8E62E716-437C-43A5-8360-AA3A0010E530}"/>
              </a:ext>
            </a:extLst>
          </p:cNvPr>
          <p:cNvSpPr>
            <a:spLocks xmlns:a="http://schemas.openxmlformats.org/drawingml/2006/main" noGrp="1"/>
          </p:cNvSpPr>
          <p:nvPr/>
        </p:nvSpPr>
        <p:spPr>
          <a:xfrm xmlns:a="http://schemas.openxmlformats.org/drawingml/2006/main">
            <a:off x="9267825"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Care card</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LLM response</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Weekly report</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SOS support</a:t>
            </a:r>
          </a:p>
        </p:txBody>
      </p:sp>
      <p:sp>
        <p:nvSpPr>
          <p:cNvPr id="21" name="">
            <a:extLst xmlns:a="http://schemas.openxmlformats.org/drawingml/2006/main">
              <a:ext uri="{FF2B5EF4-FFF2-40B4-BE49-F238E27FC236}">
                <a16:creationId xmlns:a16="http://schemas.microsoft.com/office/drawing/2014/main" id="{E52C4B7C-90BD-48B4-9613-F2763BA579A2}"/>
              </a:ext>
            </a:extLst>
          </p:cNvPr>
          <p:cNvSpPr>
            <a:spLocks xmlns:a="http://schemas.openxmlformats.org/drawingml/2006/main" noGrp="1"/>
          </p:cNvSpPr>
          <p:nvPr/>
        </p:nvSpPr>
        <p:spPr>
          <a:xfrm xmlns:a="http://schemas.openxmlformats.org/drawingml/2006/main">
            <a:off x="10810875" y="2247900"/>
            <a:ext cx="285750" cy="2857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22" name="">
            <a:extLst xmlns:a="http://schemas.openxmlformats.org/drawingml/2006/main">
              <a:ext uri="{FF2B5EF4-FFF2-40B4-BE49-F238E27FC236}">
                <a16:creationId xmlns:a16="http://schemas.microsoft.com/office/drawing/2014/main" id="{3E7D865D-D810-443B-95E3-FFE471BEB4DF}"/>
              </a:ext>
            </a:extLst>
          </p:cNvPr>
          <p:cNvSpPr>
            <a:spLocks xmlns:a="http://schemas.openxmlformats.org/drawingml/2006/main" noGrp="1"/>
          </p:cNvSpPr>
          <p:nvPr/>
        </p:nvSpPr>
        <p:spPr>
          <a:xfrm xmlns:a="http://schemas.openxmlformats.org/drawingml/2006/main">
            <a:off x="1524000" y="4381500"/>
            <a:ext cx="904875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42888AA7-0444-4CE2-921E-3CCC0B97A442}"/>
              </a:ext>
            </a:extLst>
          </p:cNvPr>
          <p:cNvSpPr>
            <a:spLocks xmlns:a="http://schemas.openxmlformats.org/drawingml/2006/main" noGrp="1"/>
          </p:cNvSpPr>
          <p:nvPr/>
        </p:nvSpPr>
        <p:spPr>
          <a:xfrm xmlns:a="http://schemas.openxmlformats.org/drawingml/2006/main">
            <a:off x="1524000" y="4381500"/>
            <a:ext cx="66675" cy="99060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24" name="">
            <a:extLst xmlns:a="http://schemas.openxmlformats.org/drawingml/2006/main">
              <a:ext uri="{FF2B5EF4-FFF2-40B4-BE49-F238E27FC236}">
                <a16:creationId xmlns:a16="http://schemas.microsoft.com/office/drawing/2014/main" id="{580237B7-D12A-4C0D-AD55-2991BB6601AD}"/>
              </a:ext>
            </a:extLst>
          </p:cNvPr>
          <p:cNvSpPr>
            <a:spLocks xmlns:a="http://schemas.openxmlformats.org/drawingml/2006/main" noGrp="1"/>
          </p:cNvSpPr>
          <p:nvPr/>
        </p:nvSpPr>
        <p:spPr>
          <a:xfrm xmlns:a="http://schemas.openxmlformats.org/drawingml/2006/main">
            <a:off x="1752600" y="4552950"/>
            <a:ext cx="8591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Design rule</a:t>
            </a:r>
          </a:p>
        </p:txBody>
      </p:sp>
      <p:sp>
        <p:nvSpPr>
          <p:cNvPr id="25" name="">
            <a:extLst xmlns:a="http://schemas.openxmlformats.org/drawingml/2006/main">
              <a:ext uri="{FF2B5EF4-FFF2-40B4-BE49-F238E27FC236}">
                <a16:creationId xmlns:a16="http://schemas.microsoft.com/office/drawing/2014/main" id="{9AB6F41E-18F2-4EB0-AB15-91B92B631530}"/>
              </a:ext>
            </a:extLst>
          </p:cNvPr>
          <p:cNvSpPr>
            <a:spLocks xmlns:a="http://schemas.openxmlformats.org/drawingml/2006/main" noGrp="1"/>
          </p:cNvSpPr>
          <p:nvPr/>
        </p:nvSpPr>
        <p:spPr>
          <a:xfrm xmlns:a="http://schemas.openxmlformats.org/drawingml/2006/main">
            <a:off x="1752600" y="4895850"/>
            <a:ext cx="859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Sensing can be continuous, but interpretation must remain cautious and emergency action must remain user-confirmed.</a:t>
            </a:r>
          </a:p>
        </p:txBody>
      </p:sp>
      <p:sp>
        <p:nvSpPr>
          <p:cNvPr id="26" name="">
            <a:extLst xmlns:a="http://schemas.openxmlformats.org/drawingml/2006/main">
              <a:ext uri="{FF2B5EF4-FFF2-40B4-BE49-F238E27FC236}">
                <a16:creationId xmlns:a16="http://schemas.microsoft.com/office/drawing/2014/main" id="{BB1B65F1-89DB-4DE3-9F5A-833490A26371}"/>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4/10</a:t>
            </a:r>
          </a:p>
        </p:txBody>
      </p:sp>
    </p:spTree>
    <p:extLst>
      <p:ext uri="{BB962C8B-B14F-4D97-AF65-F5344CB8AC3E}">
        <p14:creationId xmlns:p14="http://schemas.microsoft.com/office/powerpoint/2010/main" val="204853892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B6CB3F-3711-49CB-9A41-3C83257E7D3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Emotion scoring model</a:t>
            </a:r>
          </a:p>
        </p:txBody>
      </p:sp>
      <p:sp>
        <p:nvSpPr>
          <p:cNvPr id="2" name="">
            <a:extLst xmlns:a="http://schemas.openxmlformats.org/drawingml/2006/main">
              <a:ext uri="{FF2B5EF4-FFF2-40B4-BE49-F238E27FC236}">
                <a16:creationId xmlns:a16="http://schemas.microsoft.com/office/drawing/2014/main" id="{B634858F-D1DD-4F25-B33D-6ADB08044EAB}"/>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Blendshape signals are smoothed and converted into a reflective wellness index.</a:t>
            </a:r>
          </a:p>
        </p:txBody>
      </p:sp>
      <p:sp>
        <p:nvSpPr>
          <p:cNvPr id="3" name="">
            <a:extLst xmlns:a="http://schemas.openxmlformats.org/drawingml/2006/main">
              <a:ext uri="{FF2B5EF4-FFF2-40B4-BE49-F238E27FC236}">
                <a16:creationId xmlns:a16="http://schemas.microsoft.com/office/drawing/2014/main" id="{71CA805A-87F9-4304-8F53-FB5E1FA2DA0C}"/>
              </a:ext>
            </a:extLst>
          </p:cNvPr>
          <p:cNvSpPr>
            <a:spLocks xmlns:a="http://schemas.openxmlformats.org/drawingml/2006/main" noGrp="1"/>
          </p:cNvSpPr>
          <p:nvPr/>
        </p:nvSpPr>
        <p:spPr>
          <a:xfrm xmlns:a="http://schemas.openxmlformats.org/drawingml/2006/main">
            <a:off x="857250" y="1619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Joy</a:t>
            </a:r>
          </a:p>
        </p:txBody>
      </p:sp>
      <p:sp>
        <p:nvSpPr>
          <p:cNvPr id="4" name="">
            <a:extLst xmlns:a="http://schemas.openxmlformats.org/drawingml/2006/main">
              <a:ext uri="{FF2B5EF4-FFF2-40B4-BE49-F238E27FC236}">
                <a16:creationId xmlns:a16="http://schemas.microsoft.com/office/drawing/2014/main" id="{B5D6C5A0-26EF-489F-A6EF-FEAA540A5AD1}"/>
              </a:ext>
            </a:extLst>
          </p:cNvPr>
          <p:cNvSpPr>
            <a:spLocks xmlns:a="http://schemas.openxmlformats.org/drawingml/2006/main" noGrp="1"/>
          </p:cNvSpPr>
          <p:nvPr/>
        </p:nvSpPr>
        <p:spPr>
          <a:xfrm xmlns:a="http://schemas.openxmlformats.org/drawingml/2006/main">
            <a:off x="2209800" y="16002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5" name="">
            <a:extLst xmlns:a="http://schemas.openxmlformats.org/drawingml/2006/main">
              <a:ext uri="{FF2B5EF4-FFF2-40B4-BE49-F238E27FC236}">
                <a16:creationId xmlns:a16="http://schemas.microsoft.com/office/drawing/2014/main" id="{91AA7219-9D00-40B9-AAC3-DD6BD05E8BFF}"/>
              </a:ext>
            </a:extLst>
          </p:cNvPr>
          <p:cNvSpPr>
            <a:spLocks xmlns:a="http://schemas.openxmlformats.org/drawingml/2006/main" noGrp="1"/>
          </p:cNvSpPr>
          <p:nvPr/>
        </p:nvSpPr>
        <p:spPr>
          <a:xfrm xmlns:a="http://schemas.openxmlformats.org/drawingml/2006/main">
            <a:off x="2209800" y="1600200"/>
            <a:ext cx="3800475" cy="266700"/>
          </a:xfrm>
          <a:prstGeom xmlns:a="http://schemas.openxmlformats.org/drawingml/2006/main" prst="roundRect">
            <a:avLst>
              <a:gd name="adj" fmla="val 50000"/>
            </a:avLst>
          </a:prstGeom>
          <a:solidFill xmlns:a="http://schemas.openxmlformats.org/drawingml/2006/main">
            <a:srgbClr val="2F9B68"/>
          </a:solidFill>
          <a:ln xmlns:a="http://schemas.openxmlformats.org/drawingml/2006/main" w="0">
            <a:solidFill>
              <a:srgbClr val="2F9B68"/>
            </a:solidFill>
            <a:prstDash val="solid"/>
          </a:ln>
        </p:spPr>
      </p:sp>
      <p:sp>
        <p:nvSpPr>
          <p:cNvPr id="6" name="">
            <a:extLst xmlns:a="http://schemas.openxmlformats.org/drawingml/2006/main">
              <a:ext uri="{FF2B5EF4-FFF2-40B4-BE49-F238E27FC236}">
                <a16:creationId xmlns:a16="http://schemas.microsoft.com/office/drawing/2014/main" id="{AA74130B-1F99-427B-A694-721EEEC9A0AA}"/>
              </a:ext>
            </a:extLst>
          </p:cNvPr>
          <p:cNvSpPr>
            <a:spLocks xmlns:a="http://schemas.openxmlformats.org/drawingml/2006/main" noGrp="1"/>
          </p:cNvSpPr>
          <p:nvPr/>
        </p:nvSpPr>
        <p:spPr>
          <a:xfrm xmlns:a="http://schemas.openxmlformats.org/drawingml/2006/main">
            <a:off x="6362700" y="16002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95</a:t>
            </a:r>
          </a:p>
        </p:txBody>
      </p:sp>
      <p:sp>
        <p:nvSpPr>
          <p:cNvPr id="7" name="">
            <a:extLst xmlns:a="http://schemas.openxmlformats.org/drawingml/2006/main">
              <a:ext uri="{FF2B5EF4-FFF2-40B4-BE49-F238E27FC236}">
                <a16:creationId xmlns:a16="http://schemas.microsoft.com/office/drawing/2014/main" id="{245EA0C2-68FD-4617-82BC-84971BF4C55A}"/>
              </a:ext>
            </a:extLst>
          </p:cNvPr>
          <p:cNvSpPr>
            <a:spLocks xmlns:a="http://schemas.openxmlformats.org/drawingml/2006/main" noGrp="1"/>
          </p:cNvSpPr>
          <p:nvPr/>
        </p:nvSpPr>
        <p:spPr>
          <a:xfrm xmlns:a="http://schemas.openxmlformats.org/drawingml/2006/main">
            <a:off x="857250" y="20574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Calm</a:t>
            </a:r>
          </a:p>
        </p:txBody>
      </p:sp>
      <p:sp>
        <p:nvSpPr>
          <p:cNvPr id="8" name="">
            <a:extLst xmlns:a="http://schemas.openxmlformats.org/drawingml/2006/main">
              <a:ext uri="{FF2B5EF4-FFF2-40B4-BE49-F238E27FC236}">
                <a16:creationId xmlns:a16="http://schemas.microsoft.com/office/drawing/2014/main" id="{3046694B-2B27-466C-9178-0E81DEE3E690}"/>
              </a:ext>
            </a:extLst>
          </p:cNvPr>
          <p:cNvSpPr>
            <a:spLocks xmlns:a="http://schemas.openxmlformats.org/drawingml/2006/main" noGrp="1"/>
          </p:cNvSpPr>
          <p:nvPr/>
        </p:nvSpPr>
        <p:spPr>
          <a:xfrm xmlns:a="http://schemas.openxmlformats.org/drawingml/2006/main">
            <a:off x="2209800" y="203835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9" name="">
            <a:extLst xmlns:a="http://schemas.openxmlformats.org/drawingml/2006/main">
              <a:ext uri="{FF2B5EF4-FFF2-40B4-BE49-F238E27FC236}">
                <a16:creationId xmlns:a16="http://schemas.microsoft.com/office/drawing/2014/main" id="{41328A2C-F12F-46F7-BBE8-845627960D1F}"/>
              </a:ext>
            </a:extLst>
          </p:cNvPr>
          <p:cNvSpPr>
            <a:spLocks xmlns:a="http://schemas.openxmlformats.org/drawingml/2006/main" noGrp="1"/>
          </p:cNvSpPr>
          <p:nvPr/>
        </p:nvSpPr>
        <p:spPr>
          <a:xfrm xmlns:a="http://schemas.openxmlformats.org/drawingml/2006/main">
            <a:off x="2209800" y="2038350"/>
            <a:ext cx="2880360" cy="266700"/>
          </a:xfrm>
          <a:prstGeom xmlns:a="http://schemas.openxmlformats.org/drawingml/2006/main" prst="roundRect">
            <a:avLst>
              <a:gd name="adj" fmla="val 50000"/>
            </a:avLst>
          </a:prstGeom>
          <a:solidFill xmlns:a="http://schemas.openxmlformats.org/drawingml/2006/main">
            <a:srgbClr val="3D8BD4"/>
          </a:solidFill>
          <a:ln xmlns:a="http://schemas.openxmlformats.org/drawingml/2006/main" w="0">
            <a:solidFill>
              <a:srgbClr val="3D8BD4"/>
            </a:solidFill>
            <a:prstDash val="solid"/>
          </a:ln>
        </p:spPr>
      </p:sp>
      <p:sp>
        <p:nvSpPr>
          <p:cNvPr id="10" name="">
            <a:extLst xmlns:a="http://schemas.openxmlformats.org/drawingml/2006/main">
              <a:ext uri="{FF2B5EF4-FFF2-40B4-BE49-F238E27FC236}">
                <a16:creationId xmlns:a16="http://schemas.microsoft.com/office/drawing/2014/main" id="{6F3B1EE7-E238-4D3D-95DB-8C7A1C4C3741}"/>
              </a:ext>
            </a:extLst>
          </p:cNvPr>
          <p:cNvSpPr>
            <a:spLocks xmlns:a="http://schemas.openxmlformats.org/drawingml/2006/main" noGrp="1"/>
          </p:cNvSpPr>
          <p:nvPr/>
        </p:nvSpPr>
        <p:spPr>
          <a:xfrm xmlns:a="http://schemas.openxmlformats.org/drawingml/2006/main">
            <a:off x="6362700" y="20383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72</a:t>
            </a:r>
          </a:p>
        </p:txBody>
      </p:sp>
      <p:sp>
        <p:nvSpPr>
          <p:cNvPr id="11" name="">
            <a:extLst xmlns:a="http://schemas.openxmlformats.org/drawingml/2006/main">
              <a:ext uri="{FF2B5EF4-FFF2-40B4-BE49-F238E27FC236}">
                <a16:creationId xmlns:a16="http://schemas.microsoft.com/office/drawing/2014/main" id="{A33FFB90-8488-474A-8E70-63B5709AAF09}"/>
              </a:ext>
            </a:extLst>
          </p:cNvPr>
          <p:cNvSpPr>
            <a:spLocks xmlns:a="http://schemas.openxmlformats.org/drawingml/2006/main" noGrp="1"/>
          </p:cNvSpPr>
          <p:nvPr/>
        </p:nvSpPr>
        <p:spPr>
          <a:xfrm xmlns:a="http://schemas.openxmlformats.org/drawingml/2006/main">
            <a:off x="857250" y="2495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Surprise</a:t>
            </a:r>
          </a:p>
        </p:txBody>
      </p:sp>
      <p:sp>
        <p:nvSpPr>
          <p:cNvPr id="12" name="">
            <a:extLst xmlns:a="http://schemas.openxmlformats.org/drawingml/2006/main">
              <a:ext uri="{FF2B5EF4-FFF2-40B4-BE49-F238E27FC236}">
                <a16:creationId xmlns:a16="http://schemas.microsoft.com/office/drawing/2014/main" id="{5F3A2B7F-2ECA-4D9C-8A18-C81D76F3FD11}"/>
              </a:ext>
            </a:extLst>
          </p:cNvPr>
          <p:cNvSpPr>
            <a:spLocks xmlns:a="http://schemas.openxmlformats.org/drawingml/2006/main" noGrp="1"/>
          </p:cNvSpPr>
          <p:nvPr/>
        </p:nvSpPr>
        <p:spPr>
          <a:xfrm xmlns:a="http://schemas.openxmlformats.org/drawingml/2006/main">
            <a:off x="2209800" y="24765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13" name="">
            <a:extLst xmlns:a="http://schemas.openxmlformats.org/drawingml/2006/main">
              <a:ext uri="{FF2B5EF4-FFF2-40B4-BE49-F238E27FC236}">
                <a16:creationId xmlns:a16="http://schemas.microsoft.com/office/drawing/2014/main" id="{587AEFBD-F160-4C4A-9404-868319C52BC1}"/>
              </a:ext>
            </a:extLst>
          </p:cNvPr>
          <p:cNvSpPr>
            <a:spLocks xmlns:a="http://schemas.openxmlformats.org/drawingml/2006/main" noGrp="1"/>
          </p:cNvSpPr>
          <p:nvPr/>
        </p:nvSpPr>
        <p:spPr>
          <a:xfrm xmlns:a="http://schemas.openxmlformats.org/drawingml/2006/main">
            <a:off x="2209800" y="2476500"/>
            <a:ext cx="2000250" cy="266700"/>
          </a:xfrm>
          <a:prstGeom xmlns:a="http://schemas.openxmlformats.org/drawingml/2006/main" prst="roundRect">
            <a:avLst>
              <a:gd name="adj" fmla="val 50000"/>
            </a:avLst>
          </a:prstGeom>
          <a:solidFill xmlns:a="http://schemas.openxmlformats.org/drawingml/2006/main">
            <a:srgbClr val="818CF8"/>
          </a:solidFill>
          <a:ln xmlns:a="http://schemas.openxmlformats.org/drawingml/2006/main" w="0">
            <a:solidFill>
              <a:srgbClr val="818CF8"/>
            </a:solidFill>
            <a:prstDash val="solid"/>
          </a:ln>
        </p:spPr>
      </p:sp>
      <p:sp>
        <p:nvSpPr>
          <p:cNvPr id="14" name="">
            <a:extLst xmlns:a="http://schemas.openxmlformats.org/drawingml/2006/main">
              <a:ext uri="{FF2B5EF4-FFF2-40B4-BE49-F238E27FC236}">
                <a16:creationId xmlns:a16="http://schemas.microsoft.com/office/drawing/2014/main" id="{2646191F-79EE-4C6B-830B-78AB56A7D64D}"/>
              </a:ext>
            </a:extLst>
          </p:cNvPr>
          <p:cNvSpPr>
            <a:spLocks xmlns:a="http://schemas.openxmlformats.org/drawingml/2006/main" noGrp="1"/>
          </p:cNvSpPr>
          <p:nvPr/>
        </p:nvSpPr>
        <p:spPr>
          <a:xfrm xmlns:a="http://schemas.openxmlformats.org/drawingml/2006/main">
            <a:off x="6362700" y="2476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50</a:t>
            </a:r>
          </a:p>
        </p:txBody>
      </p:sp>
      <p:sp>
        <p:nvSpPr>
          <p:cNvPr id="15" name="">
            <a:extLst xmlns:a="http://schemas.openxmlformats.org/drawingml/2006/main">
              <a:ext uri="{FF2B5EF4-FFF2-40B4-BE49-F238E27FC236}">
                <a16:creationId xmlns:a16="http://schemas.microsoft.com/office/drawing/2014/main" id="{0CE15FF5-5757-4084-AC16-204559D96A8C}"/>
              </a:ext>
            </a:extLst>
          </p:cNvPr>
          <p:cNvSpPr>
            <a:spLocks xmlns:a="http://schemas.openxmlformats.org/drawingml/2006/main" noGrp="1"/>
          </p:cNvSpPr>
          <p:nvPr/>
        </p:nvSpPr>
        <p:spPr>
          <a:xfrm xmlns:a="http://schemas.openxmlformats.org/drawingml/2006/main">
            <a:off x="857250" y="2933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Fatigue</a:t>
            </a:r>
          </a:p>
        </p:txBody>
      </p:sp>
      <p:sp>
        <p:nvSpPr>
          <p:cNvPr id="16" name="">
            <a:extLst xmlns:a="http://schemas.openxmlformats.org/drawingml/2006/main">
              <a:ext uri="{FF2B5EF4-FFF2-40B4-BE49-F238E27FC236}">
                <a16:creationId xmlns:a16="http://schemas.microsoft.com/office/drawing/2014/main" id="{FBDA0E9C-5EDC-4D3D-A8D3-48131DB8F7B7}"/>
              </a:ext>
            </a:extLst>
          </p:cNvPr>
          <p:cNvSpPr>
            <a:spLocks xmlns:a="http://schemas.openxmlformats.org/drawingml/2006/main" noGrp="1"/>
          </p:cNvSpPr>
          <p:nvPr/>
        </p:nvSpPr>
        <p:spPr>
          <a:xfrm xmlns:a="http://schemas.openxmlformats.org/drawingml/2006/main">
            <a:off x="2209800" y="291465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17" name="">
            <a:extLst xmlns:a="http://schemas.openxmlformats.org/drawingml/2006/main">
              <a:ext uri="{FF2B5EF4-FFF2-40B4-BE49-F238E27FC236}">
                <a16:creationId xmlns:a16="http://schemas.microsoft.com/office/drawing/2014/main" id="{2B915E27-FB3A-418E-800C-856D8B925003}"/>
              </a:ext>
            </a:extLst>
          </p:cNvPr>
          <p:cNvSpPr>
            <a:spLocks xmlns:a="http://schemas.openxmlformats.org/drawingml/2006/main" noGrp="1"/>
          </p:cNvSpPr>
          <p:nvPr/>
        </p:nvSpPr>
        <p:spPr>
          <a:xfrm xmlns:a="http://schemas.openxmlformats.org/drawingml/2006/main">
            <a:off x="2209800" y="2914650"/>
            <a:ext cx="1400175" cy="266700"/>
          </a:xfrm>
          <a:prstGeom xmlns:a="http://schemas.openxmlformats.org/drawingml/2006/main" prst="roundRect">
            <a:avLst>
              <a:gd name="adj" fmla="val 50000"/>
            </a:avLst>
          </a:prstGeom>
          <a:solidFill xmlns:a="http://schemas.openxmlformats.org/drawingml/2006/main">
            <a:srgbClr val="B18149"/>
          </a:solidFill>
          <a:ln xmlns:a="http://schemas.openxmlformats.org/drawingml/2006/main" w="0">
            <a:solidFill>
              <a:srgbClr val="B18149"/>
            </a:solidFill>
            <a:prstDash val="solid"/>
          </a:ln>
        </p:spPr>
      </p:sp>
      <p:sp>
        <p:nvSpPr>
          <p:cNvPr id="18" name="">
            <a:extLst xmlns:a="http://schemas.openxmlformats.org/drawingml/2006/main">
              <a:ext uri="{FF2B5EF4-FFF2-40B4-BE49-F238E27FC236}">
                <a16:creationId xmlns:a16="http://schemas.microsoft.com/office/drawing/2014/main" id="{6DA92403-A00A-45B2-B095-91525259DA3C}"/>
              </a:ext>
            </a:extLst>
          </p:cNvPr>
          <p:cNvSpPr>
            <a:spLocks xmlns:a="http://schemas.openxmlformats.org/drawingml/2006/main" noGrp="1"/>
          </p:cNvSpPr>
          <p:nvPr/>
        </p:nvSpPr>
        <p:spPr>
          <a:xfrm xmlns:a="http://schemas.openxmlformats.org/drawingml/2006/main">
            <a:off x="6362700" y="2914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35</a:t>
            </a:r>
          </a:p>
        </p:txBody>
      </p:sp>
      <p:sp>
        <p:nvSpPr>
          <p:cNvPr id="19" name="">
            <a:extLst xmlns:a="http://schemas.openxmlformats.org/drawingml/2006/main">
              <a:ext uri="{FF2B5EF4-FFF2-40B4-BE49-F238E27FC236}">
                <a16:creationId xmlns:a16="http://schemas.microsoft.com/office/drawing/2014/main" id="{6D9E6DD0-27A9-4428-B0FC-EAAEFDFFACCA}"/>
              </a:ext>
            </a:extLst>
          </p:cNvPr>
          <p:cNvSpPr>
            <a:spLocks xmlns:a="http://schemas.openxmlformats.org/drawingml/2006/main" noGrp="1"/>
          </p:cNvSpPr>
          <p:nvPr/>
        </p:nvSpPr>
        <p:spPr>
          <a:xfrm xmlns:a="http://schemas.openxmlformats.org/drawingml/2006/main">
            <a:off x="8572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Anxiety</a:t>
            </a:r>
          </a:p>
        </p:txBody>
      </p:sp>
      <p:sp>
        <p:nvSpPr>
          <p:cNvPr id="20" name="">
            <a:extLst xmlns:a="http://schemas.openxmlformats.org/drawingml/2006/main">
              <a:ext uri="{FF2B5EF4-FFF2-40B4-BE49-F238E27FC236}">
                <a16:creationId xmlns:a16="http://schemas.microsoft.com/office/drawing/2014/main" id="{C5886FE4-6426-4C7C-9A67-5F6385C9D16F}"/>
              </a:ext>
            </a:extLst>
          </p:cNvPr>
          <p:cNvSpPr>
            <a:spLocks xmlns:a="http://schemas.openxmlformats.org/drawingml/2006/main" noGrp="1"/>
          </p:cNvSpPr>
          <p:nvPr/>
        </p:nvSpPr>
        <p:spPr>
          <a:xfrm xmlns:a="http://schemas.openxmlformats.org/drawingml/2006/main">
            <a:off x="2209800" y="33528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21" name="">
            <a:extLst xmlns:a="http://schemas.openxmlformats.org/drawingml/2006/main">
              <a:ext uri="{FF2B5EF4-FFF2-40B4-BE49-F238E27FC236}">
                <a16:creationId xmlns:a16="http://schemas.microsoft.com/office/drawing/2014/main" id="{D7405EDD-7B58-4EA2-83CD-98CA51CB45B1}"/>
              </a:ext>
            </a:extLst>
          </p:cNvPr>
          <p:cNvSpPr>
            <a:spLocks xmlns:a="http://schemas.openxmlformats.org/drawingml/2006/main" noGrp="1"/>
          </p:cNvSpPr>
          <p:nvPr/>
        </p:nvSpPr>
        <p:spPr>
          <a:xfrm xmlns:a="http://schemas.openxmlformats.org/drawingml/2006/main">
            <a:off x="2209800" y="3352800"/>
            <a:ext cx="880110" cy="266700"/>
          </a:xfrm>
          <a:prstGeom xmlns:a="http://schemas.openxmlformats.org/drawingml/2006/main" prst="roundRect">
            <a:avLst>
              <a:gd name="adj" fmla="val 50000"/>
            </a:avLst>
          </a:prstGeom>
          <a:solidFill xmlns:a="http://schemas.openxmlformats.org/drawingml/2006/main">
            <a:srgbClr val="E37D36"/>
          </a:solidFill>
          <a:ln xmlns:a="http://schemas.openxmlformats.org/drawingml/2006/main" w="0">
            <a:solidFill>
              <a:srgbClr val="E37D36"/>
            </a:solidFill>
            <a:prstDash val="solid"/>
          </a:ln>
        </p:spPr>
      </p:sp>
      <p:sp>
        <p:nvSpPr>
          <p:cNvPr id="22" name="">
            <a:extLst xmlns:a="http://schemas.openxmlformats.org/drawingml/2006/main">
              <a:ext uri="{FF2B5EF4-FFF2-40B4-BE49-F238E27FC236}">
                <a16:creationId xmlns:a16="http://schemas.microsoft.com/office/drawing/2014/main" id="{4136275F-A38B-4AF8-A7C3-614BF58BB921}"/>
              </a:ext>
            </a:extLst>
          </p:cNvPr>
          <p:cNvSpPr>
            <a:spLocks xmlns:a="http://schemas.openxmlformats.org/drawingml/2006/main" noGrp="1"/>
          </p:cNvSpPr>
          <p:nvPr/>
        </p:nvSpPr>
        <p:spPr>
          <a:xfrm xmlns:a="http://schemas.openxmlformats.org/drawingml/2006/main">
            <a:off x="6362700" y="3352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22</a:t>
            </a:r>
          </a:p>
        </p:txBody>
      </p:sp>
      <p:sp>
        <p:nvSpPr>
          <p:cNvPr id="23" name="">
            <a:extLst xmlns:a="http://schemas.openxmlformats.org/drawingml/2006/main">
              <a:ext uri="{FF2B5EF4-FFF2-40B4-BE49-F238E27FC236}">
                <a16:creationId xmlns:a16="http://schemas.microsoft.com/office/drawing/2014/main" id="{0ED6A861-E45C-455D-A998-43D68057EDE3}"/>
              </a:ext>
            </a:extLst>
          </p:cNvPr>
          <p:cNvSpPr>
            <a:spLocks xmlns:a="http://schemas.openxmlformats.org/drawingml/2006/main" noGrp="1"/>
          </p:cNvSpPr>
          <p:nvPr/>
        </p:nvSpPr>
        <p:spPr>
          <a:xfrm xmlns:a="http://schemas.openxmlformats.org/drawingml/2006/main">
            <a:off x="857250" y="3810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Anger</a:t>
            </a:r>
          </a:p>
        </p:txBody>
      </p:sp>
      <p:sp>
        <p:nvSpPr>
          <p:cNvPr id="24" name="">
            <a:extLst xmlns:a="http://schemas.openxmlformats.org/drawingml/2006/main">
              <a:ext uri="{FF2B5EF4-FFF2-40B4-BE49-F238E27FC236}">
                <a16:creationId xmlns:a16="http://schemas.microsoft.com/office/drawing/2014/main" id="{F12D5555-C6D6-4924-9DE4-AC96283FE6DA}"/>
              </a:ext>
            </a:extLst>
          </p:cNvPr>
          <p:cNvSpPr>
            <a:spLocks xmlns:a="http://schemas.openxmlformats.org/drawingml/2006/main" noGrp="1"/>
          </p:cNvSpPr>
          <p:nvPr/>
        </p:nvSpPr>
        <p:spPr>
          <a:xfrm xmlns:a="http://schemas.openxmlformats.org/drawingml/2006/main">
            <a:off x="2209800" y="379095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25" name="">
            <a:extLst xmlns:a="http://schemas.openxmlformats.org/drawingml/2006/main">
              <a:ext uri="{FF2B5EF4-FFF2-40B4-BE49-F238E27FC236}">
                <a16:creationId xmlns:a16="http://schemas.microsoft.com/office/drawing/2014/main" id="{60A8EBCC-2533-481B-9963-952E039FFF71}"/>
              </a:ext>
            </a:extLst>
          </p:cNvPr>
          <p:cNvSpPr>
            <a:spLocks xmlns:a="http://schemas.openxmlformats.org/drawingml/2006/main" noGrp="1"/>
          </p:cNvSpPr>
          <p:nvPr/>
        </p:nvSpPr>
        <p:spPr>
          <a:xfrm xmlns:a="http://schemas.openxmlformats.org/drawingml/2006/main">
            <a:off x="2209800" y="3790950"/>
            <a:ext cx="600075" cy="266700"/>
          </a:xfrm>
          <a:prstGeom xmlns:a="http://schemas.openxmlformats.org/drawingml/2006/main" prst="roundRect">
            <a:avLst>
              <a:gd name="adj" fmla="val 50000"/>
            </a:avLst>
          </a:prstGeom>
          <a:solidFill xmlns:a="http://schemas.openxmlformats.org/drawingml/2006/main">
            <a:srgbClr val="CF4446"/>
          </a:solidFill>
          <a:ln xmlns:a="http://schemas.openxmlformats.org/drawingml/2006/main" w="0">
            <a:solidFill>
              <a:srgbClr val="CF4446"/>
            </a:solidFill>
            <a:prstDash val="solid"/>
          </a:ln>
        </p:spPr>
      </p:sp>
      <p:sp>
        <p:nvSpPr>
          <p:cNvPr id="26" name="">
            <a:extLst xmlns:a="http://schemas.openxmlformats.org/drawingml/2006/main">
              <a:ext uri="{FF2B5EF4-FFF2-40B4-BE49-F238E27FC236}">
                <a16:creationId xmlns:a16="http://schemas.microsoft.com/office/drawing/2014/main" id="{5C9D5123-6B2E-437A-9A1D-4CC82EC20ADB}"/>
              </a:ext>
            </a:extLst>
          </p:cNvPr>
          <p:cNvSpPr>
            <a:spLocks xmlns:a="http://schemas.openxmlformats.org/drawingml/2006/main" noGrp="1"/>
          </p:cNvSpPr>
          <p:nvPr/>
        </p:nvSpPr>
        <p:spPr>
          <a:xfrm xmlns:a="http://schemas.openxmlformats.org/drawingml/2006/main">
            <a:off x="6362700" y="37909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15</a:t>
            </a:r>
          </a:p>
        </p:txBody>
      </p:sp>
      <p:sp>
        <p:nvSpPr>
          <p:cNvPr id="27" name="">
            <a:extLst xmlns:a="http://schemas.openxmlformats.org/drawingml/2006/main">
              <a:ext uri="{FF2B5EF4-FFF2-40B4-BE49-F238E27FC236}">
                <a16:creationId xmlns:a16="http://schemas.microsoft.com/office/drawing/2014/main" id="{78C1E99A-732A-4A4F-A414-9607A3E7E400}"/>
              </a:ext>
            </a:extLst>
          </p:cNvPr>
          <p:cNvSpPr>
            <a:spLocks xmlns:a="http://schemas.openxmlformats.org/drawingml/2006/main" noGrp="1"/>
          </p:cNvSpPr>
          <p:nvPr/>
        </p:nvSpPr>
        <p:spPr>
          <a:xfrm xmlns:a="http://schemas.openxmlformats.org/drawingml/2006/main">
            <a:off x="857250" y="4248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334155"/>
                </a:solidFill>
                <a:latin typeface="Aptos"/>
                <a:ea typeface="Aptos"/>
                <a:cs typeface="Aptos"/>
              </a:defRPr>
            </a:pPr>
            <a:r>
              <a:rPr sz="1125">
                <a:solidFill>
                  <a:srgbClr val="334155"/>
                </a:solidFill>
                <a:latin typeface="Aptos"/>
                <a:ea typeface="Aptos"/>
                <a:cs typeface="Aptos"/>
              </a:rPr>
              <a:t>Fear</a:t>
            </a:r>
          </a:p>
        </p:txBody>
      </p:sp>
      <p:sp>
        <p:nvSpPr>
          <p:cNvPr id="28" name="">
            <a:extLst xmlns:a="http://schemas.openxmlformats.org/drawingml/2006/main">
              <a:ext uri="{FF2B5EF4-FFF2-40B4-BE49-F238E27FC236}">
                <a16:creationId xmlns:a16="http://schemas.microsoft.com/office/drawing/2014/main" id="{5AD6057B-E3C7-4FA3-8C8F-F3D4F55ABC00}"/>
              </a:ext>
            </a:extLst>
          </p:cNvPr>
          <p:cNvSpPr>
            <a:spLocks xmlns:a="http://schemas.openxmlformats.org/drawingml/2006/main" noGrp="1"/>
          </p:cNvSpPr>
          <p:nvPr/>
        </p:nvSpPr>
        <p:spPr>
          <a:xfrm xmlns:a="http://schemas.openxmlformats.org/drawingml/2006/main">
            <a:off x="2209800" y="42291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29" name="">
            <a:extLst xmlns:a="http://schemas.openxmlformats.org/drawingml/2006/main">
              <a:ext uri="{FF2B5EF4-FFF2-40B4-BE49-F238E27FC236}">
                <a16:creationId xmlns:a16="http://schemas.microsoft.com/office/drawing/2014/main" id="{7B2EFE03-96DD-41D0-84DD-5FB04DE28258}"/>
              </a:ext>
            </a:extLst>
          </p:cNvPr>
          <p:cNvSpPr>
            <a:spLocks xmlns:a="http://schemas.openxmlformats.org/drawingml/2006/main" noGrp="1"/>
          </p:cNvSpPr>
          <p:nvPr/>
        </p:nvSpPr>
        <p:spPr>
          <a:xfrm xmlns:a="http://schemas.openxmlformats.org/drawingml/2006/main">
            <a:off x="2209800" y="4229100"/>
            <a:ext cx="400050" cy="266700"/>
          </a:xfrm>
          <a:prstGeom xmlns:a="http://schemas.openxmlformats.org/drawingml/2006/main" prst="roundRect">
            <a:avLst>
              <a:gd name="adj" fmla="val 50000"/>
            </a:avLst>
          </a:prstGeom>
          <a:solidFill xmlns:a="http://schemas.openxmlformats.org/drawingml/2006/main">
            <a:srgbClr val="A05AAD"/>
          </a:solidFill>
          <a:ln xmlns:a="http://schemas.openxmlformats.org/drawingml/2006/main" w="0">
            <a:solidFill>
              <a:srgbClr val="A05AAD"/>
            </a:solidFill>
            <a:prstDash val="solid"/>
          </a:ln>
        </p:spPr>
      </p:sp>
      <p:sp>
        <p:nvSpPr>
          <p:cNvPr id="30" name="">
            <a:extLst xmlns:a="http://schemas.openxmlformats.org/drawingml/2006/main">
              <a:ext uri="{FF2B5EF4-FFF2-40B4-BE49-F238E27FC236}">
                <a16:creationId xmlns:a16="http://schemas.microsoft.com/office/drawing/2014/main" id="{94CEDCFE-3AE6-4C63-9586-77831F224FB8}"/>
              </a:ext>
            </a:extLst>
          </p:cNvPr>
          <p:cNvSpPr>
            <a:spLocks xmlns:a="http://schemas.openxmlformats.org/drawingml/2006/main" noGrp="1"/>
          </p:cNvSpPr>
          <p:nvPr/>
        </p:nvSpPr>
        <p:spPr>
          <a:xfrm xmlns:a="http://schemas.openxmlformats.org/drawingml/2006/main">
            <a:off x="6362700" y="42291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11827"/>
                </a:solidFill>
                <a:latin typeface="Aptos"/>
                <a:ea typeface="Aptos"/>
                <a:cs typeface="Aptos"/>
              </a:defRPr>
            </a:pPr>
            <a:r>
              <a:rPr sz="1125" b="1">
                <a:solidFill>
                  <a:srgbClr val="111827"/>
                </a:solidFill>
                <a:latin typeface="Aptos"/>
                <a:ea typeface="Aptos"/>
                <a:cs typeface="Aptos"/>
              </a:rPr>
              <a:t>10</a:t>
            </a:r>
          </a:p>
        </p:txBody>
      </p:sp>
      <p:sp>
        <p:nvSpPr>
          <p:cNvPr id="31" name="">
            <a:extLst xmlns:a="http://schemas.openxmlformats.org/drawingml/2006/main">
              <a:ext uri="{FF2B5EF4-FFF2-40B4-BE49-F238E27FC236}">
                <a16:creationId xmlns:a16="http://schemas.microsoft.com/office/drawing/2014/main" id="{049E799C-7E88-4663-8B77-74E9EDE610A8}"/>
              </a:ext>
            </a:extLst>
          </p:cNvPr>
          <p:cNvSpPr>
            <a:spLocks xmlns:a="http://schemas.openxmlformats.org/drawingml/2006/main" noGrp="1"/>
          </p:cNvSpPr>
          <p:nvPr/>
        </p:nvSpPr>
        <p:spPr>
          <a:xfrm xmlns:a="http://schemas.openxmlformats.org/drawingml/2006/main">
            <a:off x="7477125" y="1657350"/>
            <a:ext cx="3429000" cy="118110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AEC2AD01-E9A3-4062-8A37-8AF4407373F4}"/>
              </a:ext>
            </a:extLst>
          </p:cNvPr>
          <p:cNvSpPr>
            <a:spLocks xmlns:a="http://schemas.openxmlformats.org/drawingml/2006/main" noGrp="1"/>
          </p:cNvSpPr>
          <p:nvPr/>
        </p:nvSpPr>
        <p:spPr>
          <a:xfrm xmlns:a="http://schemas.openxmlformats.org/drawingml/2006/main">
            <a:off x="7477125" y="1657350"/>
            <a:ext cx="66675" cy="118110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33" name="">
            <a:extLst xmlns:a="http://schemas.openxmlformats.org/drawingml/2006/main">
              <a:ext uri="{FF2B5EF4-FFF2-40B4-BE49-F238E27FC236}">
                <a16:creationId xmlns:a16="http://schemas.microsoft.com/office/drawing/2014/main" id="{80FA1F71-6568-4F1B-992E-ABBEB76122A4}"/>
              </a:ext>
            </a:extLst>
          </p:cNvPr>
          <p:cNvSpPr>
            <a:spLocks xmlns:a="http://schemas.openxmlformats.org/drawingml/2006/main" noGrp="1"/>
          </p:cNvSpPr>
          <p:nvPr/>
        </p:nvSpPr>
        <p:spPr>
          <a:xfrm xmlns:a="http://schemas.openxmlformats.org/drawingml/2006/main">
            <a:off x="7705725" y="18288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Facial engine</a:t>
            </a:r>
          </a:p>
        </p:txBody>
      </p:sp>
      <p:sp>
        <p:nvSpPr>
          <p:cNvPr id="34" name="">
            <a:extLst xmlns:a="http://schemas.openxmlformats.org/drawingml/2006/main">
              <a:ext uri="{FF2B5EF4-FFF2-40B4-BE49-F238E27FC236}">
                <a16:creationId xmlns:a16="http://schemas.microsoft.com/office/drawing/2014/main" id="{E9F2B29D-395D-4182-9BD9-ACCF5352D0B1}"/>
              </a:ext>
            </a:extLst>
          </p:cNvPr>
          <p:cNvSpPr>
            <a:spLocks xmlns:a="http://schemas.openxmlformats.org/drawingml/2006/main" noGrp="1"/>
          </p:cNvSpPr>
          <p:nvPr/>
        </p:nvSpPr>
        <p:spPr>
          <a:xfrm xmlns:a="http://schemas.openxmlformats.org/drawingml/2006/main">
            <a:off x="7705725" y="21717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MediaPipe FaceLandmarker returns 52 blendshape coefficients in live-stream mode.</a:t>
            </a:r>
          </a:p>
        </p:txBody>
      </p:sp>
      <p:sp>
        <p:nvSpPr>
          <p:cNvPr id="35" name="">
            <a:extLst xmlns:a="http://schemas.openxmlformats.org/drawingml/2006/main">
              <a:ext uri="{FF2B5EF4-FFF2-40B4-BE49-F238E27FC236}">
                <a16:creationId xmlns:a16="http://schemas.microsoft.com/office/drawing/2014/main" id="{8D8FF3D3-89B8-4236-89A6-5DDB9190BCF3}"/>
              </a:ext>
            </a:extLst>
          </p:cNvPr>
          <p:cNvSpPr>
            <a:spLocks xmlns:a="http://schemas.openxmlformats.org/drawingml/2006/main" noGrp="1"/>
          </p:cNvSpPr>
          <p:nvPr/>
        </p:nvSpPr>
        <p:spPr>
          <a:xfrm xmlns:a="http://schemas.openxmlformats.org/drawingml/2006/main">
            <a:off x="7477125" y="3143250"/>
            <a:ext cx="3429000" cy="118110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E51FA608-E600-4386-A7E1-4BCB37F71526}"/>
              </a:ext>
            </a:extLst>
          </p:cNvPr>
          <p:cNvSpPr>
            <a:spLocks xmlns:a="http://schemas.openxmlformats.org/drawingml/2006/main" noGrp="1"/>
          </p:cNvSpPr>
          <p:nvPr/>
        </p:nvSpPr>
        <p:spPr>
          <a:xfrm xmlns:a="http://schemas.openxmlformats.org/drawingml/2006/main">
            <a:off x="7477125" y="3143250"/>
            <a:ext cx="66675" cy="11811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37" name="">
            <a:extLst xmlns:a="http://schemas.openxmlformats.org/drawingml/2006/main">
              <a:ext uri="{FF2B5EF4-FFF2-40B4-BE49-F238E27FC236}">
                <a16:creationId xmlns:a16="http://schemas.microsoft.com/office/drawing/2014/main" id="{45E41CAC-8A19-4C0F-B0A2-C6954DEBCAD8}"/>
              </a:ext>
            </a:extLst>
          </p:cNvPr>
          <p:cNvSpPr>
            <a:spLocks xmlns:a="http://schemas.openxmlformats.org/drawingml/2006/main" noGrp="1"/>
          </p:cNvSpPr>
          <p:nvPr/>
        </p:nvSpPr>
        <p:spPr>
          <a:xfrm xmlns:a="http://schemas.openxmlformats.org/drawingml/2006/main">
            <a:off x="7705725" y="33147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Smoothing</a:t>
            </a:r>
          </a:p>
        </p:txBody>
      </p:sp>
      <p:sp>
        <p:nvSpPr>
          <p:cNvPr id="38" name="">
            <a:extLst xmlns:a="http://schemas.openxmlformats.org/drawingml/2006/main">
              <a:ext uri="{FF2B5EF4-FFF2-40B4-BE49-F238E27FC236}">
                <a16:creationId xmlns:a16="http://schemas.microsoft.com/office/drawing/2014/main" id="{1C2F5141-7407-42F4-A35C-0001ACB3B51F}"/>
              </a:ext>
            </a:extLst>
          </p:cNvPr>
          <p:cNvSpPr>
            <a:spLocks xmlns:a="http://schemas.openxmlformats.org/drawingml/2006/main" noGrp="1"/>
          </p:cNvSpPr>
          <p:nvPr/>
        </p:nvSpPr>
        <p:spPr>
          <a:xfrm xmlns:a="http://schemas.openxmlformats.org/drawingml/2006/main">
            <a:off x="7705725" y="36576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EWMA with alpha = 0.3 reduces frame-level jitter before feedback is shown.</a:t>
            </a:r>
          </a:p>
        </p:txBody>
      </p:sp>
      <p:sp>
        <p:nvSpPr>
          <p:cNvPr id="39" name="">
            <a:extLst xmlns:a="http://schemas.openxmlformats.org/drawingml/2006/main">
              <a:ext uri="{FF2B5EF4-FFF2-40B4-BE49-F238E27FC236}">
                <a16:creationId xmlns:a16="http://schemas.microsoft.com/office/drawing/2014/main" id="{8D70232F-E81F-4337-A8B9-B0381A4372A5}"/>
              </a:ext>
            </a:extLst>
          </p:cNvPr>
          <p:cNvSpPr>
            <a:spLocks xmlns:a="http://schemas.openxmlformats.org/drawingml/2006/main" noGrp="1"/>
          </p:cNvSpPr>
          <p:nvPr/>
        </p:nvSpPr>
        <p:spPr>
          <a:xfrm xmlns:a="http://schemas.openxmlformats.org/drawingml/2006/main">
            <a:off x="7477125" y="4629150"/>
            <a:ext cx="3429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13DAFAA3-6E77-471D-B763-438E5D4AE561}"/>
              </a:ext>
            </a:extLst>
          </p:cNvPr>
          <p:cNvSpPr>
            <a:spLocks xmlns:a="http://schemas.openxmlformats.org/drawingml/2006/main" noGrp="1"/>
          </p:cNvSpPr>
          <p:nvPr/>
        </p:nvSpPr>
        <p:spPr>
          <a:xfrm xmlns:a="http://schemas.openxmlformats.org/drawingml/2006/main">
            <a:off x="7477125" y="4629150"/>
            <a:ext cx="66675" cy="10668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41" name="">
            <a:extLst xmlns:a="http://schemas.openxmlformats.org/drawingml/2006/main">
              <a:ext uri="{FF2B5EF4-FFF2-40B4-BE49-F238E27FC236}">
                <a16:creationId xmlns:a16="http://schemas.microsoft.com/office/drawing/2014/main" id="{0FD08B59-766E-4FCB-BE14-2B8F5424A80F}"/>
              </a:ext>
            </a:extLst>
          </p:cNvPr>
          <p:cNvSpPr>
            <a:spLocks xmlns:a="http://schemas.openxmlformats.org/drawingml/2006/main" noGrp="1"/>
          </p:cNvSpPr>
          <p:nvPr/>
        </p:nvSpPr>
        <p:spPr>
          <a:xfrm xmlns:a="http://schemas.openxmlformats.org/drawingml/2006/main">
            <a:off x="7705725" y="48006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Boundary</a:t>
            </a:r>
          </a:p>
        </p:txBody>
      </p:sp>
      <p:sp>
        <p:nvSpPr>
          <p:cNvPr id="42" name="">
            <a:extLst xmlns:a="http://schemas.openxmlformats.org/drawingml/2006/main">
              <a:ext uri="{FF2B5EF4-FFF2-40B4-BE49-F238E27FC236}">
                <a16:creationId xmlns:a16="http://schemas.microsoft.com/office/drawing/2014/main" id="{251D00BE-654D-4AAF-AFE5-3FFC3E780FC3}"/>
              </a:ext>
            </a:extLst>
          </p:cNvPr>
          <p:cNvSpPr>
            <a:spLocks xmlns:a="http://schemas.openxmlformats.org/drawingml/2006/main" noGrp="1"/>
          </p:cNvSpPr>
          <p:nvPr/>
        </p:nvSpPr>
        <p:spPr>
          <a:xfrm xmlns:a="http://schemas.openxmlformats.org/drawingml/2006/main">
            <a:off x="7705725" y="5143500"/>
            <a:ext cx="2971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Reflection index only; not a clinical diagnostic measurement.</a:t>
            </a:r>
          </a:p>
        </p:txBody>
      </p:sp>
      <p:sp>
        <p:nvSpPr>
          <p:cNvPr id="43" name="">
            <a:extLst xmlns:a="http://schemas.openxmlformats.org/drawingml/2006/main">
              <a:ext uri="{FF2B5EF4-FFF2-40B4-BE49-F238E27FC236}">
                <a16:creationId xmlns:a16="http://schemas.microsoft.com/office/drawing/2014/main" id="{166D0FBA-048A-4B37-B007-20A50844ED97}"/>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5/10</a:t>
            </a:r>
          </a:p>
        </p:txBody>
      </p:sp>
    </p:spTree>
    <p:extLst>
      <p:ext uri="{BB962C8B-B14F-4D97-AF65-F5344CB8AC3E}">
        <p14:creationId xmlns:p14="http://schemas.microsoft.com/office/powerpoint/2010/main" val="20547363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7DAB12-BAE9-49F2-B336-E7A7C0130FF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User workflow</a:t>
            </a:r>
          </a:p>
        </p:txBody>
      </p:sp>
      <p:sp>
        <p:nvSpPr>
          <p:cNvPr id="2" name="">
            <a:extLst xmlns:a="http://schemas.openxmlformats.org/drawingml/2006/main">
              <a:ext uri="{FF2B5EF4-FFF2-40B4-BE49-F238E27FC236}">
                <a16:creationId xmlns:a16="http://schemas.microsoft.com/office/drawing/2014/main" id="{F263A412-B5B0-4BA7-AB4D-E6552FA1C39F}"/>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The interface connects immediate feedback, gentle action, and long-term review.</a:t>
            </a:r>
          </a:p>
        </p:txBody>
      </p:sp>
      <p:sp>
        <p:nvSpPr>
          <p:cNvPr id="3" name="">
            <a:extLst xmlns:a="http://schemas.openxmlformats.org/drawingml/2006/main">
              <a:ext uri="{FF2B5EF4-FFF2-40B4-BE49-F238E27FC236}">
                <a16:creationId xmlns:a16="http://schemas.microsoft.com/office/drawing/2014/main" id="{F15E8D69-707E-4564-BA41-7C036EEF7359}"/>
              </a:ext>
            </a:extLst>
          </p:cNvPr>
          <p:cNvSpPr>
            <a:spLocks xmlns:a="http://schemas.openxmlformats.org/drawingml/2006/main" noGrp="1"/>
          </p:cNvSpPr>
          <p:nvPr/>
        </p:nvSpPr>
        <p:spPr>
          <a:xfrm xmlns:a="http://schemas.openxmlformats.org/drawingml/2006/main">
            <a:off x="781050" y="1314450"/>
            <a:ext cx="2533650" cy="4914900"/>
          </a:xfrm>
          <a:prstGeom xmlns:a="http://schemas.openxmlformats.org/drawingml/2006/main" prst="roundRect">
            <a:avLst>
              <a:gd name="adj" fmla="val 9023"/>
            </a:avLst>
          </a:prstGeom>
          <a:solidFill xmlns:a="http://schemas.openxmlformats.org/drawingml/2006/main">
            <a:srgbClr val="111827"/>
          </a:solidFill>
          <a:ln xmlns:a="http://schemas.openxmlformats.org/drawingml/2006/main" w="0">
            <a:solidFill>
              <a:srgbClr val="111827"/>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cd58bb10e08437d"/>
          <a:stretch xmlns:a="http://schemas.openxmlformats.org/drawingml/2006/main"/>
        </p:blipFill>
        <p:spPr>
          <a:xfrm xmlns:a="http://schemas.openxmlformats.org/drawingml/2006/main">
            <a:off x="976313" y="1390650"/>
            <a:ext cx="2143125" cy="4762500"/>
          </a:xfrm>
          <a:prstGeom xmlns:a="http://schemas.openxmlformats.org/drawingml/2006/main" prst="roundRect">
            <a:avLst/>
          </a:prstGeom>
        </p:spPr>
      </p:pic>
      <p:sp>
        <p:nvSpPr>
          <p:cNvPr id="5" name="">
            <a:extLst xmlns:a="http://schemas.openxmlformats.org/drawingml/2006/main">
              <a:ext uri="{FF2B5EF4-FFF2-40B4-BE49-F238E27FC236}">
                <a16:creationId xmlns:a16="http://schemas.microsoft.com/office/drawing/2014/main" id="{484F66A9-69F1-4A5C-9E38-A30855A6F11D}"/>
              </a:ext>
            </a:extLst>
          </p:cNvPr>
          <p:cNvSpPr>
            <a:spLocks xmlns:a="http://schemas.openxmlformats.org/drawingml/2006/main" noGrp="1"/>
          </p:cNvSpPr>
          <p:nvPr/>
        </p:nvSpPr>
        <p:spPr>
          <a:xfrm xmlns:a="http://schemas.openxmlformats.org/drawingml/2006/main">
            <a:off x="3638550" y="1314450"/>
            <a:ext cx="2533650" cy="4914900"/>
          </a:xfrm>
          <a:prstGeom xmlns:a="http://schemas.openxmlformats.org/drawingml/2006/main" prst="roundRect">
            <a:avLst>
              <a:gd name="adj" fmla="val 9023"/>
            </a:avLst>
          </a:prstGeom>
          <a:solidFill xmlns:a="http://schemas.openxmlformats.org/drawingml/2006/main">
            <a:srgbClr val="111827"/>
          </a:solidFill>
          <a:ln xmlns:a="http://schemas.openxmlformats.org/drawingml/2006/main" w="0">
            <a:solidFill>
              <a:srgbClr val="111827"/>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dda567edac54475"/>
          <a:stretch xmlns:a="http://schemas.openxmlformats.org/drawingml/2006/main"/>
        </p:blipFill>
        <p:spPr>
          <a:xfrm xmlns:a="http://schemas.openxmlformats.org/drawingml/2006/main">
            <a:off x="3833813" y="1390650"/>
            <a:ext cx="2143125" cy="47625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B3FC2B80-E7EE-4FD6-AE25-DB7CF4ADE78E}"/>
              </a:ext>
            </a:extLst>
          </p:cNvPr>
          <p:cNvSpPr>
            <a:spLocks xmlns:a="http://schemas.openxmlformats.org/drawingml/2006/main" noGrp="1"/>
          </p:cNvSpPr>
          <p:nvPr/>
        </p:nvSpPr>
        <p:spPr>
          <a:xfrm xmlns:a="http://schemas.openxmlformats.org/drawingml/2006/main">
            <a:off x="6496050" y="1314450"/>
            <a:ext cx="2533650" cy="4914900"/>
          </a:xfrm>
          <a:prstGeom xmlns:a="http://schemas.openxmlformats.org/drawingml/2006/main" prst="roundRect">
            <a:avLst>
              <a:gd name="adj" fmla="val 9023"/>
            </a:avLst>
          </a:prstGeom>
          <a:solidFill xmlns:a="http://schemas.openxmlformats.org/drawingml/2006/main">
            <a:srgbClr val="111827"/>
          </a:solidFill>
          <a:ln xmlns:a="http://schemas.openxmlformats.org/drawingml/2006/main" w="0">
            <a:solidFill>
              <a:srgbClr val="11182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197478c75244013"/>
          <a:stretch xmlns:a="http://schemas.openxmlformats.org/drawingml/2006/main"/>
        </p:blipFill>
        <p:spPr>
          <a:xfrm xmlns:a="http://schemas.openxmlformats.org/drawingml/2006/main">
            <a:off x="6691313" y="1390650"/>
            <a:ext cx="2143125" cy="4762500"/>
          </a:xfrm>
          <a:prstGeom xmlns:a="http://schemas.openxmlformats.org/drawingml/2006/main" prst="roundRect">
            <a:avLst/>
          </a:prstGeom>
        </p:spPr>
      </p:pic>
      <p:sp>
        <p:nvSpPr>
          <p:cNvPr id="9" name="">
            <a:extLst xmlns:a="http://schemas.openxmlformats.org/drawingml/2006/main">
              <a:ext uri="{FF2B5EF4-FFF2-40B4-BE49-F238E27FC236}">
                <a16:creationId xmlns:a16="http://schemas.microsoft.com/office/drawing/2014/main" id="{0C879AC2-CA12-4331-828E-824D0CA7BA38}"/>
              </a:ext>
            </a:extLst>
          </p:cNvPr>
          <p:cNvSpPr>
            <a:spLocks xmlns:a="http://schemas.openxmlformats.org/drawingml/2006/main" noGrp="1"/>
          </p:cNvSpPr>
          <p:nvPr/>
        </p:nvSpPr>
        <p:spPr>
          <a:xfrm xmlns:a="http://schemas.openxmlformats.org/drawingml/2006/main">
            <a:off x="9382125" y="1638300"/>
            <a:ext cx="2000250" cy="30289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015D6BE-E67F-452A-A7E8-9621799CC745}"/>
              </a:ext>
            </a:extLst>
          </p:cNvPr>
          <p:cNvSpPr>
            <a:spLocks xmlns:a="http://schemas.openxmlformats.org/drawingml/2006/main" noGrp="1"/>
          </p:cNvSpPr>
          <p:nvPr/>
        </p:nvSpPr>
        <p:spPr>
          <a:xfrm xmlns:a="http://schemas.openxmlformats.org/drawingml/2006/main">
            <a:off x="9382125" y="1638300"/>
            <a:ext cx="66675" cy="30289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1" name="">
            <a:extLst xmlns:a="http://schemas.openxmlformats.org/drawingml/2006/main">
              <a:ext uri="{FF2B5EF4-FFF2-40B4-BE49-F238E27FC236}">
                <a16:creationId xmlns:a16="http://schemas.microsoft.com/office/drawing/2014/main" id="{4AAA1F17-0E3A-4AAB-BA55-1442C0FBCDAB}"/>
              </a:ext>
            </a:extLst>
          </p:cNvPr>
          <p:cNvSpPr>
            <a:spLocks xmlns:a="http://schemas.openxmlformats.org/drawingml/2006/main" noGrp="1"/>
          </p:cNvSpPr>
          <p:nvPr/>
        </p:nvSpPr>
        <p:spPr>
          <a:xfrm xmlns:a="http://schemas.openxmlformats.org/drawingml/2006/main">
            <a:off x="9610725" y="18097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Three loops</a:t>
            </a:r>
          </a:p>
        </p:txBody>
      </p:sp>
      <p:sp>
        <p:nvSpPr>
          <p:cNvPr id="12" name="">
            <a:extLst xmlns:a="http://schemas.openxmlformats.org/drawingml/2006/main">
              <a:ext uri="{FF2B5EF4-FFF2-40B4-BE49-F238E27FC236}">
                <a16:creationId xmlns:a16="http://schemas.microsoft.com/office/drawing/2014/main" id="{03CE2D7D-D1F5-4462-B4FA-B0320187D9A8}"/>
              </a:ext>
            </a:extLst>
          </p:cNvPr>
          <p:cNvSpPr>
            <a:spLocks xmlns:a="http://schemas.openxmlformats.org/drawingml/2006/main" noGrp="1"/>
          </p:cNvSpPr>
          <p:nvPr/>
        </p:nvSpPr>
        <p:spPr>
          <a:xfrm xmlns:a="http://schemas.openxmlformats.org/drawingml/2006/main">
            <a:off x="9610725" y="2152650"/>
            <a:ext cx="15430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1. Immediate feedback</a:t>
            </a:r>
          </a:p>
          <a:p xmlns:a="http://schemas.openxmlformats.org/drawingml/2006/main">
            <a:r>
              <a:t/>
            </a:r>
          </a:p>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2. Reflection and weekly reports</a:t>
            </a:r>
          </a:p>
          <a:p xmlns:a="http://schemas.openxmlformats.org/drawingml/2006/main">
            <a:r>
              <a:t/>
            </a:r>
          </a:p>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3. Privacy and safety controls</a:t>
            </a:r>
          </a:p>
        </p:txBody>
      </p:sp>
      <p:sp>
        <p:nvSpPr>
          <p:cNvPr id="13" name="">
            <a:extLst xmlns:a="http://schemas.openxmlformats.org/drawingml/2006/main">
              <a:ext uri="{FF2B5EF4-FFF2-40B4-BE49-F238E27FC236}">
                <a16:creationId xmlns:a16="http://schemas.microsoft.com/office/drawing/2014/main" id="{D1D60EAF-B284-4D33-8357-F114735FAB26}"/>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6/10</a:t>
            </a:r>
          </a:p>
        </p:txBody>
      </p:sp>
    </p:spTree>
    <p:extLst>
      <p:ext uri="{BB962C8B-B14F-4D97-AF65-F5344CB8AC3E}">
        <p14:creationId xmlns:p14="http://schemas.microsoft.com/office/powerpoint/2010/main" val="147111083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1E89F7-38D1-4BB9-BD76-BA21D7CBE79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Functional evaluation</a:t>
            </a:r>
          </a:p>
        </p:txBody>
      </p:sp>
      <p:sp>
        <p:nvSpPr>
          <p:cNvPr id="2" name="">
            <a:extLst xmlns:a="http://schemas.openxmlformats.org/drawingml/2006/main">
              <a:ext uri="{FF2B5EF4-FFF2-40B4-BE49-F238E27FC236}">
                <a16:creationId xmlns:a16="http://schemas.microsoft.com/office/drawing/2014/main" id="{044C69C5-F4E7-4758-B838-50F7B57CEF43}"/>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The prototype was evaluated for engineering feasibility.</a:t>
            </a:r>
          </a:p>
        </p:txBody>
      </p:sp>
      <p:sp>
        <p:nvSpPr>
          <p:cNvPr id="3" name="">
            <a:extLst xmlns:a="http://schemas.openxmlformats.org/drawingml/2006/main">
              <a:ext uri="{FF2B5EF4-FFF2-40B4-BE49-F238E27FC236}">
                <a16:creationId xmlns:a16="http://schemas.microsoft.com/office/drawing/2014/main" id="{10EC6DFA-F1F7-4531-8EED-FAA087736AD6}"/>
              </a:ext>
            </a:extLst>
          </p:cNvPr>
          <p:cNvSpPr>
            <a:spLocks xmlns:a="http://schemas.openxmlformats.org/drawingml/2006/main" noGrp="1"/>
          </p:cNvSpPr>
          <p:nvPr/>
        </p:nvSpPr>
        <p:spPr>
          <a:xfrm xmlns:a="http://schemas.openxmlformats.org/drawingml/2006/main">
            <a:off x="762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706E65DE-365D-47DE-85F3-692D64B3D6D7}"/>
              </a:ext>
            </a:extLst>
          </p:cNvPr>
          <p:cNvSpPr>
            <a:spLocks xmlns:a="http://schemas.openxmlformats.org/drawingml/2006/main" noGrp="1"/>
          </p:cNvSpPr>
          <p:nvPr/>
        </p:nvSpPr>
        <p:spPr>
          <a:xfrm xmlns:a="http://schemas.openxmlformats.org/drawingml/2006/main">
            <a:off x="914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3B82F6"/>
                </a:solidFill>
                <a:latin typeface="Aptos Display"/>
                <a:ea typeface="Aptos Display"/>
                <a:cs typeface="Aptos Display"/>
              </a:defRPr>
            </a:pPr>
            <a:r>
              <a:rPr sz="2400" b="1">
                <a:solidFill>
                  <a:srgbClr val="3B82F6"/>
                </a:solidFill>
                <a:latin typeface="Aptos Display"/>
                <a:ea typeface="Aptos Display"/>
                <a:cs typeface="Aptos Display"/>
              </a:rPr>
              <a:t>4 Hz</a:t>
            </a:r>
          </a:p>
        </p:txBody>
      </p:sp>
      <p:sp>
        <p:nvSpPr>
          <p:cNvPr id="5" name="">
            <a:extLst xmlns:a="http://schemas.openxmlformats.org/drawingml/2006/main">
              <a:ext uri="{FF2B5EF4-FFF2-40B4-BE49-F238E27FC236}">
                <a16:creationId xmlns:a16="http://schemas.microsoft.com/office/drawing/2014/main" id="{94D3EEB8-1C15-4CCC-8D06-EF4FEC5794EF}"/>
              </a:ext>
            </a:extLst>
          </p:cNvPr>
          <p:cNvSpPr>
            <a:spLocks xmlns:a="http://schemas.openxmlformats.org/drawingml/2006/main" noGrp="1"/>
          </p:cNvSpPr>
          <p:nvPr/>
        </p:nvSpPr>
        <p:spPr>
          <a:xfrm xmlns:a="http://schemas.openxmlformats.org/drawingml/2006/main">
            <a:off x="914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a:solidFill>
                  <a:srgbClr val="475569"/>
                </a:solidFill>
                <a:latin typeface="Aptos"/>
                <a:ea typeface="Aptos"/>
                <a:cs typeface="Aptos"/>
              </a:defRPr>
            </a:pPr>
            <a:r>
              <a:rPr sz="990">
                <a:solidFill>
                  <a:srgbClr val="475569"/>
                </a:solidFill>
                <a:latin typeface="Aptos"/>
                <a:ea typeface="Aptos"/>
                <a:cs typeface="Aptos"/>
              </a:rPr>
              <a:t>stable facial inference</a:t>
            </a:r>
          </a:p>
        </p:txBody>
      </p:sp>
      <p:sp>
        <p:nvSpPr>
          <p:cNvPr id="6" name="">
            <a:extLst xmlns:a="http://schemas.openxmlformats.org/drawingml/2006/main">
              <a:ext uri="{FF2B5EF4-FFF2-40B4-BE49-F238E27FC236}">
                <a16:creationId xmlns:a16="http://schemas.microsoft.com/office/drawing/2014/main" id="{FABE7449-89EB-4DA6-BBA5-844374825EBE}"/>
              </a:ext>
            </a:extLst>
          </p:cNvPr>
          <p:cNvSpPr>
            <a:spLocks xmlns:a="http://schemas.openxmlformats.org/drawingml/2006/main" noGrp="1"/>
          </p:cNvSpPr>
          <p:nvPr/>
        </p:nvSpPr>
        <p:spPr>
          <a:xfrm xmlns:a="http://schemas.openxmlformats.org/drawingml/2006/main">
            <a:off x="3048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542CB4C5-507D-4D94-A586-22AA4C42973D}"/>
              </a:ext>
            </a:extLst>
          </p:cNvPr>
          <p:cNvSpPr>
            <a:spLocks xmlns:a="http://schemas.openxmlformats.org/drawingml/2006/main" noGrp="1"/>
          </p:cNvSpPr>
          <p:nvPr/>
        </p:nvSpPr>
        <p:spPr>
          <a:xfrm xmlns:a="http://schemas.openxmlformats.org/drawingml/2006/main">
            <a:off x="3200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10B981"/>
                </a:solidFill>
                <a:latin typeface="Aptos Display"/>
                <a:ea typeface="Aptos Display"/>
                <a:cs typeface="Aptos Display"/>
              </a:defRPr>
            </a:pPr>
            <a:r>
              <a:rPr sz="2400" b="1">
                <a:solidFill>
                  <a:srgbClr val="10B981"/>
                </a:solidFill>
                <a:latin typeface="Aptos Display"/>
                <a:ea typeface="Aptos Display"/>
                <a:cs typeface="Aptos Display"/>
              </a:rPr>
              <a:t>&gt;40</a:t>
            </a:r>
          </a:p>
        </p:txBody>
      </p:sp>
      <p:sp>
        <p:nvSpPr>
          <p:cNvPr id="8" name="">
            <a:extLst xmlns:a="http://schemas.openxmlformats.org/drawingml/2006/main">
              <a:ext uri="{FF2B5EF4-FFF2-40B4-BE49-F238E27FC236}">
                <a16:creationId xmlns:a16="http://schemas.microsoft.com/office/drawing/2014/main" id="{41A62F2E-EBE4-41CA-BA4C-DADD7B2F5208}"/>
              </a:ext>
            </a:extLst>
          </p:cNvPr>
          <p:cNvSpPr>
            <a:spLocks xmlns:a="http://schemas.openxmlformats.org/drawingml/2006/main" noGrp="1"/>
          </p:cNvSpPr>
          <p:nvPr/>
        </p:nvSpPr>
        <p:spPr>
          <a:xfrm xmlns:a="http://schemas.openxmlformats.org/drawingml/2006/main">
            <a:off x="3200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a:solidFill>
                  <a:srgbClr val="475569"/>
                </a:solidFill>
                <a:latin typeface="Aptos"/>
                <a:ea typeface="Aptos"/>
                <a:cs typeface="Aptos"/>
              </a:defRPr>
            </a:pPr>
            <a:r>
              <a:rPr sz="990">
                <a:solidFill>
                  <a:srgbClr val="475569"/>
                </a:solidFill>
                <a:latin typeface="Aptos"/>
                <a:ea typeface="Aptos"/>
                <a:cs typeface="Aptos"/>
              </a:rPr>
              <a:t>score range in points</a:t>
            </a:r>
          </a:p>
        </p:txBody>
      </p:sp>
      <p:sp>
        <p:nvSpPr>
          <p:cNvPr id="9" name="">
            <a:extLst xmlns:a="http://schemas.openxmlformats.org/drawingml/2006/main">
              <a:ext uri="{FF2B5EF4-FFF2-40B4-BE49-F238E27FC236}">
                <a16:creationId xmlns:a16="http://schemas.microsoft.com/office/drawing/2014/main" id="{ABE7193E-70B7-4166-BC35-AE5AC694549D}"/>
              </a:ext>
            </a:extLst>
          </p:cNvPr>
          <p:cNvSpPr>
            <a:spLocks xmlns:a="http://schemas.openxmlformats.org/drawingml/2006/main" noGrp="1"/>
          </p:cNvSpPr>
          <p:nvPr/>
        </p:nvSpPr>
        <p:spPr>
          <a:xfrm xmlns:a="http://schemas.openxmlformats.org/drawingml/2006/main">
            <a:off x="5334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0D28CEA-7DAF-4488-B71F-D57F0E6DDAD3}"/>
              </a:ext>
            </a:extLst>
          </p:cNvPr>
          <p:cNvSpPr>
            <a:spLocks xmlns:a="http://schemas.openxmlformats.org/drawingml/2006/main" noGrp="1"/>
          </p:cNvSpPr>
          <p:nvPr/>
        </p:nvSpPr>
        <p:spPr>
          <a:xfrm xmlns:a="http://schemas.openxmlformats.org/drawingml/2006/main">
            <a:off x="5486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F59E0B"/>
                </a:solidFill>
                <a:latin typeface="Aptos Display"/>
                <a:ea typeface="Aptos Display"/>
                <a:cs typeface="Aptos Display"/>
              </a:defRPr>
            </a:pPr>
            <a:r>
              <a:rPr sz="2400" b="1">
                <a:solidFill>
                  <a:srgbClr val="F59E0B"/>
                </a:solidFill>
                <a:latin typeface="Aptos Display"/>
                <a:ea typeface="Aptos Display"/>
                <a:cs typeface="Aptos Display"/>
              </a:rPr>
              <a:t>3-5 pp</a:t>
            </a:r>
          </a:p>
        </p:txBody>
      </p:sp>
      <p:sp>
        <p:nvSpPr>
          <p:cNvPr id="11" name="">
            <a:extLst xmlns:a="http://schemas.openxmlformats.org/drawingml/2006/main">
              <a:ext uri="{FF2B5EF4-FFF2-40B4-BE49-F238E27FC236}">
                <a16:creationId xmlns:a16="http://schemas.microsoft.com/office/drawing/2014/main" id="{2BB9107A-11F2-4FF5-B4E8-D95A6DA7CD35}"/>
              </a:ext>
            </a:extLst>
          </p:cNvPr>
          <p:cNvSpPr>
            <a:spLocks xmlns:a="http://schemas.openxmlformats.org/drawingml/2006/main" noGrp="1"/>
          </p:cNvSpPr>
          <p:nvPr/>
        </p:nvSpPr>
        <p:spPr>
          <a:xfrm xmlns:a="http://schemas.openxmlformats.org/drawingml/2006/main">
            <a:off x="5486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a:solidFill>
                  <a:srgbClr val="475569"/>
                </a:solidFill>
                <a:latin typeface="Aptos"/>
                <a:ea typeface="Aptos"/>
                <a:cs typeface="Aptos"/>
              </a:defRPr>
            </a:pPr>
            <a:r>
              <a:rPr sz="990">
                <a:solidFill>
                  <a:srgbClr val="475569"/>
                </a:solidFill>
                <a:latin typeface="Aptos"/>
                <a:ea typeface="Aptos"/>
                <a:cs typeface="Aptos"/>
              </a:rPr>
              <a:t>post-EWMA jitter</a:t>
            </a:r>
          </a:p>
        </p:txBody>
      </p:sp>
      <p:sp>
        <p:nvSpPr>
          <p:cNvPr id="12" name="">
            <a:extLst xmlns:a="http://schemas.openxmlformats.org/drawingml/2006/main">
              <a:ext uri="{FF2B5EF4-FFF2-40B4-BE49-F238E27FC236}">
                <a16:creationId xmlns:a16="http://schemas.microsoft.com/office/drawing/2014/main" id="{286823B2-477A-4B5E-B6A6-B4C305184258}"/>
              </a:ext>
            </a:extLst>
          </p:cNvPr>
          <p:cNvSpPr>
            <a:spLocks xmlns:a="http://schemas.openxmlformats.org/drawingml/2006/main" noGrp="1"/>
          </p:cNvSpPr>
          <p:nvPr/>
        </p:nvSpPr>
        <p:spPr>
          <a:xfrm xmlns:a="http://schemas.openxmlformats.org/drawingml/2006/main">
            <a:off x="7620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0734FB8B-EFB4-4C06-A655-54EE30FF77DE}"/>
              </a:ext>
            </a:extLst>
          </p:cNvPr>
          <p:cNvSpPr>
            <a:spLocks xmlns:a="http://schemas.openxmlformats.org/drawingml/2006/main" noGrp="1"/>
          </p:cNvSpPr>
          <p:nvPr/>
        </p:nvSpPr>
        <p:spPr>
          <a:xfrm xmlns:a="http://schemas.openxmlformats.org/drawingml/2006/main">
            <a:off x="7772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7C3AED"/>
                </a:solidFill>
                <a:latin typeface="Aptos Display"/>
                <a:ea typeface="Aptos Display"/>
                <a:cs typeface="Aptos Display"/>
              </a:defRPr>
            </a:pPr>
            <a:r>
              <a:rPr sz="2400" b="1">
                <a:solidFill>
                  <a:srgbClr val="7C3AED"/>
                </a:solidFill>
                <a:latin typeface="Aptos Display"/>
                <a:ea typeface="Aptos Display"/>
                <a:cs typeface="Aptos Display"/>
              </a:rPr>
              <a:t>100%</a:t>
            </a:r>
          </a:p>
        </p:txBody>
      </p:sp>
      <p:sp>
        <p:nvSpPr>
          <p:cNvPr id="14" name="">
            <a:extLst xmlns:a="http://schemas.openxmlformats.org/drawingml/2006/main">
              <a:ext uri="{FF2B5EF4-FFF2-40B4-BE49-F238E27FC236}">
                <a16:creationId xmlns:a16="http://schemas.microsoft.com/office/drawing/2014/main" id="{0B1AB5A7-F54B-4A7F-B2DF-24B32032B981}"/>
              </a:ext>
            </a:extLst>
          </p:cNvPr>
          <p:cNvSpPr>
            <a:spLocks xmlns:a="http://schemas.openxmlformats.org/drawingml/2006/main" noGrp="1"/>
          </p:cNvSpPr>
          <p:nvPr/>
        </p:nvSpPr>
        <p:spPr>
          <a:xfrm xmlns:a="http://schemas.openxmlformats.org/drawingml/2006/main">
            <a:off x="7772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a:solidFill>
                  <a:srgbClr val="475569"/>
                </a:solidFill>
                <a:latin typeface="Aptos"/>
                <a:ea typeface="Aptos"/>
                <a:cs typeface="Aptos"/>
              </a:defRPr>
            </a:pPr>
            <a:r>
              <a:rPr sz="990">
                <a:solidFill>
                  <a:srgbClr val="475569"/>
                </a:solidFill>
                <a:latin typeface="Aptos"/>
                <a:ea typeface="Aptos"/>
                <a:cs typeface="Aptos"/>
              </a:rPr>
              <a:t>synthetic extraction accuracy</a:t>
            </a:r>
          </a:p>
        </p:txBody>
      </p:sp>
      <p:sp>
        <p:nvSpPr>
          <p:cNvPr id="15" name="">
            <a:extLst xmlns:a="http://schemas.openxmlformats.org/drawingml/2006/main">
              <a:ext uri="{FF2B5EF4-FFF2-40B4-BE49-F238E27FC236}">
                <a16:creationId xmlns:a16="http://schemas.microsoft.com/office/drawing/2014/main" id="{274064D7-D28D-4B65-BE4F-1127F21BFC02}"/>
              </a:ext>
            </a:extLst>
          </p:cNvPr>
          <p:cNvSpPr>
            <a:spLocks xmlns:a="http://schemas.openxmlformats.org/drawingml/2006/main" noGrp="1"/>
          </p:cNvSpPr>
          <p:nvPr/>
        </p:nvSpPr>
        <p:spPr>
          <a:xfrm xmlns:a="http://schemas.openxmlformats.org/drawingml/2006/main">
            <a:off x="9906000" y="1504950"/>
            <a:ext cx="14287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CDF628AF-F196-4726-989C-DA542FA4FBE2}"/>
              </a:ext>
            </a:extLst>
          </p:cNvPr>
          <p:cNvSpPr>
            <a:spLocks xmlns:a="http://schemas.openxmlformats.org/drawingml/2006/main" noGrp="1"/>
          </p:cNvSpPr>
          <p:nvPr/>
        </p:nvSpPr>
        <p:spPr>
          <a:xfrm xmlns:a="http://schemas.openxmlformats.org/drawingml/2006/main">
            <a:off x="10058400" y="16192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EF4444"/>
                </a:solidFill>
                <a:latin typeface="Aptos Display"/>
                <a:ea typeface="Aptos Display"/>
                <a:cs typeface="Aptos Display"/>
              </a:defRPr>
            </a:pPr>
            <a:r>
              <a:rPr sz="2400" b="1">
                <a:solidFill>
                  <a:srgbClr val="EF4444"/>
                </a:solidFill>
                <a:latin typeface="Aptos Display"/>
                <a:ea typeface="Aptos Display"/>
                <a:cs typeface="Aptos Display"/>
              </a:rPr>
              <a:t>&lt;0.5s</a:t>
            </a:r>
          </a:p>
        </p:txBody>
      </p:sp>
      <p:sp>
        <p:nvSpPr>
          <p:cNvPr id="17" name="">
            <a:extLst xmlns:a="http://schemas.openxmlformats.org/drawingml/2006/main">
              <a:ext uri="{FF2B5EF4-FFF2-40B4-BE49-F238E27FC236}">
                <a16:creationId xmlns:a16="http://schemas.microsoft.com/office/drawing/2014/main" id="{B5A531AE-7250-4972-BA5E-BCB696DA669E}"/>
              </a:ext>
            </a:extLst>
          </p:cNvPr>
          <p:cNvSpPr>
            <a:spLocks xmlns:a="http://schemas.openxmlformats.org/drawingml/2006/main" noGrp="1"/>
          </p:cNvSpPr>
          <p:nvPr/>
        </p:nvSpPr>
        <p:spPr>
          <a:xfrm xmlns:a="http://schemas.openxmlformats.org/drawingml/2006/main">
            <a:off x="10058400" y="20669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a:solidFill>
                  <a:srgbClr val="475569"/>
                </a:solidFill>
                <a:latin typeface="Aptos"/>
                <a:ea typeface="Aptos"/>
                <a:cs typeface="Aptos"/>
              </a:defRPr>
            </a:pPr>
            <a:r>
              <a:rPr sz="990">
                <a:solidFill>
                  <a:srgbClr val="475569"/>
                </a:solidFill>
                <a:latin typeface="Aptos"/>
                <a:ea typeface="Aptos"/>
                <a:cs typeface="Aptos"/>
              </a:rPr>
              <a:t>SOS prompt</a:t>
            </a:r>
          </a:p>
        </p:txBody>
      </p:sp>
      <p:sp>
        <p:nvSpPr>
          <p:cNvPr id="18" name="">
            <a:extLst xmlns:a="http://schemas.openxmlformats.org/drawingml/2006/main">
              <a:ext uri="{FF2B5EF4-FFF2-40B4-BE49-F238E27FC236}">
                <a16:creationId xmlns:a16="http://schemas.microsoft.com/office/drawing/2014/main" id="{D7D4B08E-1040-450F-9FA9-81407DD9DACD}"/>
              </a:ext>
            </a:extLst>
          </p:cNvPr>
          <p:cNvSpPr>
            <a:spLocks xmlns:a="http://schemas.openxmlformats.org/drawingml/2006/main" noGrp="1"/>
          </p:cNvSpPr>
          <p:nvPr/>
        </p:nvSpPr>
        <p:spPr>
          <a:xfrm xmlns:a="http://schemas.openxmlformats.org/drawingml/2006/main">
            <a:off x="952500" y="3524250"/>
            <a:ext cx="2952750" cy="1314450"/>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AAA61F19-BD5D-4957-A8EC-D1EB9EBD8145}"/>
              </a:ext>
            </a:extLst>
          </p:cNvPr>
          <p:cNvSpPr>
            <a:spLocks xmlns:a="http://schemas.openxmlformats.org/drawingml/2006/main" noGrp="1"/>
          </p:cNvSpPr>
          <p:nvPr/>
        </p:nvSpPr>
        <p:spPr>
          <a:xfrm xmlns:a="http://schemas.openxmlformats.org/drawingml/2006/main">
            <a:off x="952500" y="3524250"/>
            <a:ext cx="66675" cy="131445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20" name="">
            <a:extLst xmlns:a="http://schemas.openxmlformats.org/drawingml/2006/main">
              <a:ext uri="{FF2B5EF4-FFF2-40B4-BE49-F238E27FC236}">
                <a16:creationId xmlns:a16="http://schemas.microsoft.com/office/drawing/2014/main" id="{C158BF43-BF78-4F63-8205-F10613D93442}"/>
              </a:ext>
            </a:extLst>
          </p:cNvPr>
          <p:cNvSpPr>
            <a:spLocks xmlns:a="http://schemas.openxmlformats.org/drawingml/2006/main" noGrp="1"/>
          </p:cNvSpPr>
          <p:nvPr/>
        </p:nvSpPr>
        <p:spPr>
          <a:xfrm xmlns:a="http://schemas.openxmlformats.org/drawingml/2006/main">
            <a:off x="1181100" y="36957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What this proves</a:t>
            </a:r>
          </a:p>
        </p:txBody>
      </p:sp>
      <p:sp>
        <p:nvSpPr>
          <p:cNvPr id="21" name="">
            <a:extLst xmlns:a="http://schemas.openxmlformats.org/drawingml/2006/main">
              <a:ext uri="{FF2B5EF4-FFF2-40B4-BE49-F238E27FC236}">
                <a16:creationId xmlns:a16="http://schemas.microsoft.com/office/drawing/2014/main" id="{E215D628-C682-4819-A747-2BE31E5A1261}"/>
              </a:ext>
            </a:extLst>
          </p:cNvPr>
          <p:cNvSpPr>
            <a:spLocks xmlns:a="http://schemas.openxmlformats.org/drawingml/2006/main" noGrp="1"/>
          </p:cNvSpPr>
          <p:nvPr/>
        </p:nvSpPr>
        <p:spPr>
          <a:xfrm xmlns:a="http://schemas.openxmlformats.org/drawingml/2006/main">
            <a:off x="1181100" y="403860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The main technical modules can run together in a working Android prototype.</a:t>
            </a:r>
          </a:p>
        </p:txBody>
      </p:sp>
      <p:sp>
        <p:nvSpPr>
          <p:cNvPr id="22" name="">
            <a:extLst xmlns:a="http://schemas.openxmlformats.org/drawingml/2006/main">
              <a:ext uri="{FF2B5EF4-FFF2-40B4-BE49-F238E27FC236}">
                <a16:creationId xmlns:a16="http://schemas.microsoft.com/office/drawing/2014/main" id="{F833869C-64F9-4B82-8E99-C189220087E6}"/>
              </a:ext>
            </a:extLst>
          </p:cNvPr>
          <p:cNvSpPr>
            <a:spLocks xmlns:a="http://schemas.openxmlformats.org/drawingml/2006/main" noGrp="1"/>
          </p:cNvSpPr>
          <p:nvPr/>
        </p:nvSpPr>
        <p:spPr>
          <a:xfrm xmlns:a="http://schemas.openxmlformats.org/drawingml/2006/main">
            <a:off x="4619625" y="3524250"/>
            <a:ext cx="2952750" cy="1314450"/>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87A273E1-8DFC-484A-84FE-1DDF773DFE88}"/>
              </a:ext>
            </a:extLst>
          </p:cNvPr>
          <p:cNvSpPr>
            <a:spLocks xmlns:a="http://schemas.openxmlformats.org/drawingml/2006/main" noGrp="1"/>
          </p:cNvSpPr>
          <p:nvPr/>
        </p:nvSpPr>
        <p:spPr>
          <a:xfrm xmlns:a="http://schemas.openxmlformats.org/drawingml/2006/main">
            <a:off x="4619625" y="3524250"/>
            <a:ext cx="66675" cy="13144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24" name="">
            <a:extLst xmlns:a="http://schemas.openxmlformats.org/drawingml/2006/main">
              <a:ext uri="{FF2B5EF4-FFF2-40B4-BE49-F238E27FC236}">
                <a16:creationId xmlns:a16="http://schemas.microsoft.com/office/drawing/2014/main" id="{63C3AC00-7671-4E80-81FB-2D66F696DF7A}"/>
              </a:ext>
            </a:extLst>
          </p:cNvPr>
          <p:cNvSpPr>
            <a:spLocks xmlns:a="http://schemas.openxmlformats.org/drawingml/2006/main" noGrp="1"/>
          </p:cNvSpPr>
          <p:nvPr/>
        </p:nvSpPr>
        <p:spPr>
          <a:xfrm xmlns:a="http://schemas.openxmlformats.org/drawingml/2006/main">
            <a:off x="4848225" y="36957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What it does not prove</a:t>
            </a:r>
          </a:p>
        </p:txBody>
      </p:sp>
      <p:sp>
        <p:nvSpPr>
          <p:cNvPr id="25" name="">
            <a:extLst xmlns:a="http://schemas.openxmlformats.org/drawingml/2006/main">
              <a:ext uri="{FF2B5EF4-FFF2-40B4-BE49-F238E27FC236}">
                <a16:creationId xmlns:a16="http://schemas.microsoft.com/office/drawing/2014/main" id="{D82A1010-64C6-4815-BF8B-502111DDE9B5}"/>
              </a:ext>
            </a:extLst>
          </p:cNvPr>
          <p:cNvSpPr>
            <a:spLocks xmlns:a="http://schemas.openxmlformats.org/drawingml/2006/main" noGrp="1"/>
          </p:cNvSpPr>
          <p:nvPr/>
        </p:nvSpPr>
        <p:spPr>
          <a:xfrm xmlns:a="http://schemas.openxmlformats.org/drawingml/2006/main">
            <a:off x="4848225" y="403860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These tests do not establish clinical efficacy or diagnostic accuracy.</a:t>
            </a:r>
          </a:p>
        </p:txBody>
      </p:sp>
      <p:sp>
        <p:nvSpPr>
          <p:cNvPr id="26" name="">
            <a:extLst xmlns:a="http://schemas.openxmlformats.org/drawingml/2006/main">
              <a:ext uri="{FF2B5EF4-FFF2-40B4-BE49-F238E27FC236}">
                <a16:creationId xmlns:a16="http://schemas.microsoft.com/office/drawing/2014/main" id="{5488503A-31E0-45B6-AA53-3FA5413E386B}"/>
              </a:ext>
            </a:extLst>
          </p:cNvPr>
          <p:cNvSpPr>
            <a:spLocks xmlns:a="http://schemas.openxmlformats.org/drawingml/2006/main" noGrp="1"/>
          </p:cNvSpPr>
          <p:nvPr/>
        </p:nvSpPr>
        <p:spPr>
          <a:xfrm xmlns:a="http://schemas.openxmlformats.org/drawingml/2006/main">
            <a:off x="8286750" y="3524250"/>
            <a:ext cx="2952750" cy="1314450"/>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A133537A-537F-4209-A383-45BF255CEC5D}"/>
              </a:ext>
            </a:extLst>
          </p:cNvPr>
          <p:cNvSpPr>
            <a:spLocks xmlns:a="http://schemas.openxmlformats.org/drawingml/2006/main" noGrp="1"/>
          </p:cNvSpPr>
          <p:nvPr/>
        </p:nvSpPr>
        <p:spPr>
          <a:xfrm xmlns:a="http://schemas.openxmlformats.org/drawingml/2006/main">
            <a:off x="8286750" y="3524250"/>
            <a:ext cx="66675" cy="13144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28" name="">
            <a:extLst xmlns:a="http://schemas.openxmlformats.org/drawingml/2006/main">
              <a:ext uri="{FF2B5EF4-FFF2-40B4-BE49-F238E27FC236}">
                <a16:creationId xmlns:a16="http://schemas.microsoft.com/office/drawing/2014/main" id="{4FD281AD-34A6-4E47-ADDC-577FE9F4FDF1}"/>
              </a:ext>
            </a:extLst>
          </p:cNvPr>
          <p:cNvSpPr>
            <a:spLocks xmlns:a="http://schemas.openxmlformats.org/drawingml/2006/main" noGrp="1"/>
          </p:cNvSpPr>
          <p:nvPr/>
        </p:nvSpPr>
        <p:spPr>
          <a:xfrm xmlns:a="http://schemas.openxmlformats.org/drawingml/2006/main">
            <a:off x="8515350" y="36957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Why it matters</a:t>
            </a:r>
          </a:p>
        </p:txBody>
      </p:sp>
      <p:sp>
        <p:nvSpPr>
          <p:cNvPr id="29" name="">
            <a:extLst xmlns:a="http://schemas.openxmlformats.org/drawingml/2006/main">
              <a:ext uri="{FF2B5EF4-FFF2-40B4-BE49-F238E27FC236}">
                <a16:creationId xmlns:a16="http://schemas.microsoft.com/office/drawing/2014/main" id="{6F890A89-CE49-405A-8E9C-90F1E4D1BC93}"/>
              </a:ext>
            </a:extLst>
          </p:cNvPr>
          <p:cNvSpPr>
            <a:spLocks xmlns:a="http://schemas.openxmlformats.org/drawingml/2006/main" noGrp="1"/>
          </p:cNvSpPr>
          <p:nvPr/>
        </p:nvSpPr>
        <p:spPr>
          <a:xfrm xmlns:a="http://schemas.openxmlformats.org/drawingml/2006/main">
            <a:off x="8515350" y="403860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Functional stability is the first step before user studies and clinical comparison.</a:t>
            </a:r>
          </a:p>
        </p:txBody>
      </p:sp>
      <p:sp>
        <p:nvSpPr>
          <p:cNvPr id="30" name="">
            <a:extLst xmlns:a="http://schemas.openxmlformats.org/drawingml/2006/main">
              <a:ext uri="{FF2B5EF4-FFF2-40B4-BE49-F238E27FC236}">
                <a16:creationId xmlns:a16="http://schemas.microsoft.com/office/drawing/2014/main" id="{F6AAF269-F497-4BF8-B159-3EBE5D3BC287}"/>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7/10</a:t>
            </a:r>
          </a:p>
        </p:txBody>
      </p:sp>
    </p:spTree>
    <p:extLst>
      <p:ext uri="{BB962C8B-B14F-4D97-AF65-F5344CB8AC3E}">
        <p14:creationId xmlns:p14="http://schemas.microsoft.com/office/powerpoint/2010/main" val="11057919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97D0D8-A632-47F8-B70D-10D22EAC630E}"/>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Privacy and user agency</a:t>
            </a:r>
          </a:p>
        </p:txBody>
      </p:sp>
      <p:sp>
        <p:nvSpPr>
          <p:cNvPr id="2" name="">
            <a:extLst xmlns:a="http://schemas.openxmlformats.org/drawingml/2006/main">
              <a:ext uri="{FF2B5EF4-FFF2-40B4-BE49-F238E27FC236}">
                <a16:creationId xmlns:a16="http://schemas.microsoft.com/office/drawing/2014/main" id="{1F21F15B-5974-46E4-8A80-176C12C8B2F8}"/>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The app separates raw sensing, structured support, and final user action.</a:t>
            </a:r>
          </a:p>
        </p:txBody>
      </p:sp>
      <p:sp>
        <p:nvSpPr>
          <p:cNvPr id="3" name="">
            <a:extLst xmlns:a="http://schemas.openxmlformats.org/drawingml/2006/main">
              <a:ext uri="{FF2B5EF4-FFF2-40B4-BE49-F238E27FC236}">
                <a16:creationId xmlns:a16="http://schemas.microsoft.com/office/drawing/2014/main" id="{8E2824C2-2BFD-47E1-958B-AB399FC17B4D}"/>
              </a:ext>
            </a:extLst>
          </p:cNvPr>
          <p:cNvSpPr>
            <a:spLocks xmlns:a="http://schemas.openxmlformats.org/drawingml/2006/main" noGrp="1"/>
          </p:cNvSpPr>
          <p:nvPr/>
        </p:nvSpPr>
        <p:spPr>
          <a:xfrm xmlns:a="http://schemas.openxmlformats.org/drawingml/2006/main">
            <a:off x="1028700" y="2095500"/>
            <a:ext cx="2190750" cy="1333500"/>
          </a:xfrm>
          <a:prstGeom xmlns:a="http://schemas.openxmlformats.org/drawingml/2006/main" prst="roundRect">
            <a:avLst>
              <a:gd name="adj" fmla="val 11429"/>
            </a:avLst>
          </a:prstGeom>
          <a:solidFill xmlns:a="http://schemas.openxmlformats.org/drawingml/2006/main">
            <a:srgbClr val="ECF4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3B56E0D4-C3CA-4459-BDAE-B92009F6B277}"/>
              </a:ext>
            </a:extLst>
          </p:cNvPr>
          <p:cNvSpPr>
            <a:spLocks xmlns:a="http://schemas.openxmlformats.org/drawingml/2006/main" noGrp="1"/>
          </p:cNvSpPr>
          <p:nvPr/>
        </p:nvSpPr>
        <p:spPr>
          <a:xfrm xmlns:a="http://schemas.openxmlformats.org/drawingml/2006/main">
            <a:off x="1200150" y="2266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Private zone</a:t>
            </a:r>
          </a:p>
        </p:txBody>
      </p:sp>
      <p:sp>
        <p:nvSpPr>
          <p:cNvPr id="5" name="">
            <a:extLst xmlns:a="http://schemas.openxmlformats.org/drawingml/2006/main">
              <a:ext uri="{FF2B5EF4-FFF2-40B4-BE49-F238E27FC236}">
                <a16:creationId xmlns:a16="http://schemas.microsoft.com/office/drawing/2014/main" id="{23915A82-931A-4A86-9B53-7252BAC3DEAA}"/>
              </a:ext>
            </a:extLst>
          </p:cNvPr>
          <p:cNvSpPr>
            <a:spLocks xmlns:a="http://schemas.openxmlformats.org/drawingml/2006/main" noGrp="1"/>
          </p:cNvSpPr>
          <p:nvPr/>
        </p:nvSpPr>
        <p:spPr>
          <a:xfrm xmlns:a="http://schemas.openxmlformats.org/drawingml/2006/main">
            <a:off x="1200150" y="261937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Camera frames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Blendshape inference</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SQLite records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Encrypted keys</a:t>
            </a:r>
          </a:p>
        </p:txBody>
      </p:sp>
      <p:sp>
        <p:nvSpPr>
          <p:cNvPr id="6" name="">
            <a:extLst xmlns:a="http://schemas.openxmlformats.org/drawingml/2006/main">
              <a:ext uri="{FF2B5EF4-FFF2-40B4-BE49-F238E27FC236}">
                <a16:creationId xmlns:a16="http://schemas.microsoft.com/office/drawing/2014/main" id="{0D167AF9-3C2A-485F-BA7D-8A58D79D9B04}"/>
              </a:ext>
            </a:extLst>
          </p:cNvPr>
          <p:cNvSpPr>
            <a:spLocks xmlns:a="http://schemas.openxmlformats.org/drawingml/2006/main" noGrp="1"/>
          </p:cNvSpPr>
          <p:nvPr/>
        </p:nvSpPr>
        <p:spPr>
          <a:xfrm xmlns:a="http://schemas.openxmlformats.org/drawingml/2006/main">
            <a:off x="2743200" y="2266950"/>
            <a:ext cx="285750" cy="285750"/>
          </a:xfrm>
          <a:prstGeom xmlns:a="http://schemas.openxmlformats.org/drawingml/2006/main" prst="ellipse">
            <a:avLst/>
          </a:prstGeom>
          <a:solidFill xmlns:a="http://schemas.openxmlformats.org/drawingml/2006/main">
            <a:srgbClr val="3B82F6"/>
          </a:solidFill>
          <a:ln xmlns:a="http://schemas.openxmlformats.org/drawingml/2006/main" w="0">
            <a:solidFill>
              <a:srgbClr val="3B82F6"/>
            </a:solidFill>
            <a:prstDash val="solid"/>
          </a:ln>
        </p:spPr>
      </p:sp>
      <p:sp>
        <p:nvSpPr>
          <p:cNvPr id="7" name="">
            <a:extLst xmlns:a="http://schemas.openxmlformats.org/drawingml/2006/main">
              <a:ext uri="{FF2B5EF4-FFF2-40B4-BE49-F238E27FC236}">
                <a16:creationId xmlns:a16="http://schemas.microsoft.com/office/drawing/2014/main" id="{355FA3B1-7066-40F7-AB17-952BA26758EE}"/>
              </a:ext>
            </a:extLst>
          </p:cNvPr>
          <p:cNvSpPr>
            <a:spLocks xmlns:a="http://schemas.openxmlformats.org/drawingml/2006/main" noGrp="1"/>
          </p:cNvSpPr>
          <p:nvPr/>
        </p:nvSpPr>
        <p:spPr>
          <a:xfrm xmlns:a="http://schemas.openxmlformats.org/drawingml/2006/main">
            <a:off x="3352800" y="24955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10B06F91-66A9-41D4-A0B4-F09EE67186EC}"/>
              </a:ext>
            </a:extLst>
          </p:cNvPr>
          <p:cNvSpPr>
            <a:spLocks xmlns:a="http://schemas.openxmlformats.org/drawingml/2006/main" noGrp="1"/>
          </p:cNvSpPr>
          <p:nvPr/>
        </p:nvSpPr>
        <p:spPr>
          <a:xfrm xmlns:a="http://schemas.openxmlformats.org/drawingml/2006/main">
            <a:off x="3857625" y="2095500"/>
            <a:ext cx="2190750" cy="133350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5336FAD-1F01-473D-A8B6-C519F222537F}"/>
              </a:ext>
            </a:extLst>
          </p:cNvPr>
          <p:cNvSpPr>
            <a:spLocks xmlns:a="http://schemas.openxmlformats.org/drawingml/2006/main" noGrp="1"/>
          </p:cNvSpPr>
          <p:nvPr/>
        </p:nvSpPr>
        <p:spPr>
          <a:xfrm xmlns:a="http://schemas.openxmlformats.org/drawingml/2006/main">
            <a:off x="4029075" y="2266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Minimal sharing</a:t>
            </a:r>
          </a:p>
        </p:txBody>
      </p:sp>
      <p:sp>
        <p:nvSpPr>
          <p:cNvPr id="10" name="">
            <a:extLst xmlns:a="http://schemas.openxmlformats.org/drawingml/2006/main">
              <a:ext uri="{FF2B5EF4-FFF2-40B4-BE49-F238E27FC236}">
                <a16:creationId xmlns:a16="http://schemas.microsoft.com/office/drawing/2014/main" id="{36BCED6E-BA4C-4768-89AC-06B4CAFDB17F}"/>
              </a:ext>
            </a:extLst>
          </p:cNvPr>
          <p:cNvSpPr>
            <a:spLocks xmlns:a="http://schemas.openxmlformats.org/drawingml/2006/main" noGrp="1"/>
          </p:cNvSpPr>
          <p:nvPr/>
        </p:nvSpPr>
        <p:spPr>
          <a:xfrm xmlns:a="http://schemas.openxmlformats.org/drawingml/2006/main">
            <a:off x="4029075" y="261937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Structured mood context</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No raw face images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HTTPS request</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Readable export</a:t>
            </a:r>
          </a:p>
        </p:txBody>
      </p:sp>
      <p:sp>
        <p:nvSpPr>
          <p:cNvPr id="11" name="">
            <a:extLst xmlns:a="http://schemas.openxmlformats.org/drawingml/2006/main">
              <a:ext uri="{FF2B5EF4-FFF2-40B4-BE49-F238E27FC236}">
                <a16:creationId xmlns:a16="http://schemas.microsoft.com/office/drawing/2014/main" id="{2E31BADA-673E-41DC-9D44-E0D07CF0BEEE}"/>
              </a:ext>
            </a:extLst>
          </p:cNvPr>
          <p:cNvSpPr>
            <a:spLocks xmlns:a="http://schemas.openxmlformats.org/drawingml/2006/main" noGrp="1"/>
          </p:cNvSpPr>
          <p:nvPr/>
        </p:nvSpPr>
        <p:spPr>
          <a:xfrm xmlns:a="http://schemas.openxmlformats.org/drawingml/2006/main">
            <a:off x="5572125" y="2266950"/>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 name="">
            <a:extLst xmlns:a="http://schemas.openxmlformats.org/drawingml/2006/main">
              <a:ext uri="{FF2B5EF4-FFF2-40B4-BE49-F238E27FC236}">
                <a16:creationId xmlns:a16="http://schemas.microsoft.com/office/drawing/2014/main" id="{510EAEB8-EEE9-4245-93E9-9159D42DA074}"/>
              </a:ext>
            </a:extLst>
          </p:cNvPr>
          <p:cNvSpPr>
            <a:spLocks xmlns:a="http://schemas.openxmlformats.org/drawingml/2006/main" noGrp="1"/>
          </p:cNvSpPr>
          <p:nvPr/>
        </p:nvSpPr>
        <p:spPr>
          <a:xfrm xmlns:a="http://schemas.openxmlformats.org/drawingml/2006/main">
            <a:off x="6191250" y="24955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5457E220-4163-4FCE-B8E2-A3286269989C}"/>
              </a:ext>
            </a:extLst>
          </p:cNvPr>
          <p:cNvSpPr>
            <a:spLocks xmlns:a="http://schemas.openxmlformats.org/drawingml/2006/main" noGrp="1"/>
          </p:cNvSpPr>
          <p:nvPr/>
        </p:nvSpPr>
        <p:spPr>
          <a:xfrm xmlns:a="http://schemas.openxmlformats.org/drawingml/2006/main">
            <a:off x="6696075" y="2095500"/>
            <a:ext cx="2190750" cy="133350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7C4DD17-3CAE-4DFA-9A88-EC5F02DB714D}"/>
              </a:ext>
            </a:extLst>
          </p:cNvPr>
          <p:cNvSpPr>
            <a:spLocks xmlns:a="http://schemas.openxmlformats.org/drawingml/2006/main" noGrp="1"/>
          </p:cNvSpPr>
          <p:nvPr/>
        </p:nvSpPr>
        <p:spPr>
          <a:xfrm xmlns:a="http://schemas.openxmlformats.org/drawingml/2006/main">
            <a:off x="6867525" y="2266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111827"/>
                </a:solidFill>
                <a:latin typeface="Aptos"/>
                <a:ea typeface="Aptos"/>
                <a:cs typeface="Aptos"/>
              </a:defRPr>
            </a:pPr>
            <a:r>
              <a:rPr sz="1350" b="1">
                <a:solidFill>
                  <a:srgbClr val="111827"/>
                </a:solidFill>
                <a:latin typeface="Aptos"/>
                <a:ea typeface="Aptos"/>
                <a:cs typeface="Aptos"/>
              </a:rPr>
              <a:t>User agency</a:t>
            </a:r>
          </a:p>
        </p:txBody>
      </p:sp>
      <p:sp>
        <p:nvSpPr>
          <p:cNvPr id="15" name="">
            <a:extLst xmlns:a="http://schemas.openxmlformats.org/drawingml/2006/main">
              <a:ext uri="{FF2B5EF4-FFF2-40B4-BE49-F238E27FC236}">
                <a16:creationId xmlns:a16="http://schemas.microsoft.com/office/drawing/2014/main" id="{F42E7310-4DE1-47C2-AD66-4D2F6F1553A3}"/>
              </a:ext>
            </a:extLst>
          </p:cNvPr>
          <p:cNvSpPr>
            <a:spLocks xmlns:a="http://schemas.openxmlformats.org/drawingml/2006/main" noGrp="1"/>
          </p:cNvSpPr>
          <p:nvPr/>
        </p:nvSpPr>
        <p:spPr>
          <a:xfrm xmlns:a="http://schemas.openxmlformats.org/drawingml/2006/main">
            <a:off x="6867525" y="261937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Confirm SOS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Clear local records</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Export data</a:t>
            </a:r>
          </a:p>
          <a:p xmlns:a="http://schemas.openxmlformats.org/drawingml/2006/main">
            <a:pPr>
              <a:buNone/>
              <a:defRPr sz="1013">
                <a:solidFill>
                  <a:srgbClr val="475569"/>
                </a:solidFill>
                <a:latin typeface="Aptos"/>
                <a:ea typeface="Aptos"/>
                <a:cs typeface="Aptos"/>
              </a:defRPr>
            </a:pPr>
            <a:r>
              <a:rPr sz="1013">
                <a:solidFill>
                  <a:srgbClr val="475569"/>
                </a:solidFill>
                <a:latin typeface="Aptos"/>
                <a:ea typeface="Aptos"/>
                <a:cs typeface="Aptos"/>
              </a:rPr>
              <a:t>Choose whether to call</a:t>
            </a:r>
          </a:p>
        </p:txBody>
      </p:sp>
      <p:sp>
        <p:nvSpPr>
          <p:cNvPr id="16" name="">
            <a:extLst xmlns:a="http://schemas.openxmlformats.org/drawingml/2006/main">
              <a:ext uri="{FF2B5EF4-FFF2-40B4-BE49-F238E27FC236}">
                <a16:creationId xmlns:a16="http://schemas.microsoft.com/office/drawing/2014/main" id="{556308C5-5098-497F-9420-A51D12B55543}"/>
              </a:ext>
            </a:extLst>
          </p:cNvPr>
          <p:cNvSpPr>
            <a:spLocks xmlns:a="http://schemas.openxmlformats.org/drawingml/2006/main" noGrp="1"/>
          </p:cNvSpPr>
          <p:nvPr/>
        </p:nvSpPr>
        <p:spPr>
          <a:xfrm xmlns:a="http://schemas.openxmlformats.org/drawingml/2006/main">
            <a:off x="8410575" y="2266950"/>
            <a:ext cx="285750" cy="2857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17" name="">
            <a:extLst xmlns:a="http://schemas.openxmlformats.org/drawingml/2006/main">
              <a:ext uri="{FF2B5EF4-FFF2-40B4-BE49-F238E27FC236}">
                <a16:creationId xmlns:a16="http://schemas.microsoft.com/office/drawing/2014/main" id="{4B765379-2EDE-4FB0-AEDA-4850544EE06E}"/>
              </a:ext>
            </a:extLst>
          </p:cNvPr>
          <p:cNvSpPr>
            <a:spLocks xmlns:a="http://schemas.openxmlformats.org/drawingml/2006/main" noGrp="1"/>
          </p:cNvSpPr>
          <p:nvPr/>
        </p:nvSpPr>
        <p:spPr>
          <a:xfrm xmlns:a="http://schemas.openxmlformats.org/drawingml/2006/main">
            <a:off x="9334500" y="1952625"/>
            <a:ext cx="200025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688D5B56-9277-41B2-9873-6FE624762C62}"/>
              </a:ext>
            </a:extLst>
          </p:cNvPr>
          <p:cNvSpPr>
            <a:spLocks xmlns:a="http://schemas.openxmlformats.org/drawingml/2006/main" noGrp="1"/>
          </p:cNvSpPr>
          <p:nvPr/>
        </p:nvSpPr>
        <p:spPr>
          <a:xfrm xmlns:a="http://schemas.openxmlformats.org/drawingml/2006/main">
            <a:off x="9334500" y="1952625"/>
            <a:ext cx="66675" cy="20002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19" name="">
            <a:extLst xmlns:a="http://schemas.openxmlformats.org/drawingml/2006/main">
              <a:ext uri="{FF2B5EF4-FFF2-40B4-BE49-F238E27FC236}">
                <a16:creationId xmlns:a16="http://schemas.microsoft.com/office/drawing/2014/main" id="{5CDEF5CD-C48C-4911-B666-A38C1FD2913A}"/>
              </a:ext>
            </a:extLst>
          </p:cNvPr>
          <p:cNvSpPr>
            <a:spLocks xmlns:a="http://schemas.openxmlformats.org/drawingml/2006/main" noGrp="1"/>
          </p:cNvSpPr>
          <p:nvPr/>
        </p:nvSpPr>
        <p:spPr>
          <a:xfrm xmlns:a="http://schemas.openxmlformats.org/drawingml/2006/main">
            <a:off x="9563100" y="2124075"/>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Ethical stance</a:t>
            </a:r>
          </a:p>
        </p:txBody>
      </p:sp>
      <p:sp>
        <p:nvSpPr>
          <p:cNvPr id="20" name="">
            <a:extLst xmlns:a="http://schemas.openxmlformats.org/drawingml/2006/main">
              <a:ext uri="{FF2B5EF4-FFF2-40B4-BE49-F238E27FC236}">
                <a16:creationId xmlns:a16="http://schemas.microsoft.com/office/drawing/2014/main" id="{BA2DA362-19CC-4D4A-B0BA-6F2385DF3E61}"/>
              </a:ext>
            </a:extLst>
          </p:cNvPr>
          <p:cNvSpPr>
            <a:spLocks xmlns:a="http://schemas.openxmlformats.org/drawingml/2006/main" noGrp="1"/>
          </p:cNvSpPr>
          <p:nvPr/>
        </p:nvSpPr>
        <p:spPr>
          <a:xfrm xmlns:a="http://schemas.openxmlformats.org/drawingml/2006/main">
            <a:off x="9563100" y="2466975"/>
            <a:ext cx="15430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The system may suggest support, but it should not turn uncertain emotional inference into automatic high-stakes action.</a:t>
            </a:r>
          </a:p>
        </p:txBody>
      </p:sp>
      <p:sp>
        <p:nvSpPr>
          <p:cNvPr id="21" name="">
            <a:extLst xmlns:a="http://schemas.openxmlformats.org/drawingml/2006/main">
              <a:ext uri="{FF2B5EF4-FFF2-40B4-BE49-F238E27FC236}">
                <a16:creationId xmlns:a16="http://schemas.microsoft.com/office/drawing/2014/main" id="{1086C841-F77D-4208-9D7E-E8D46B43BDF6}"/>
              </a:ext>
            </a:extLst>
          </p:cNvPr>
          <p:cNvSpPr>
            <a:spLocks xmlns:a="http://schemas.openxmlformats.org/drawingml/2006/main" noGrp="1"/>
          </p:cNvSpPr>
          <p:nvPr/>
        </p:nvSpPr>
        <p:spPr>
          <a:xfrm xmlns:a="http://schemas.openxmlformats.org/drawingml/2006/main">
            <a:off x="1390650" y="4648200"/>
            <a:ext cx="819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Boundary rule: support is guided; escalation is confirmed.</a:t>
            </a:r>
          </a:p>
        </p:txBody>
      </p:sp>
      <p:sp>
        <p:nvSpPr>
          <p:cNvPr id="22" name="">
            <a:extLst xmlns:a="http://schemas.openxmlformats.org/drawingml/2006/main">
              <a:ext uri="{FF2B5EF4-FFF2-40B4-BE49-F238E27FC236}">
                <a16:creationId xmlns:a16="http://schemas.microsoft.com/office/drawing/2014/main" id="{40BCE0E2-B003-4452-ABCB-2CCEDD36CD31}"/>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8/10</a:t>
            </a:r>
          </a:p>
        </p:txBody>
      </p:sp>
    </p:spTree>
    <p:extLst>
      <p:ext uri="{BB962C8B-B14F-4D97-AF65-F5344CB8AC3E}">
        <p14:creationId xmlns:p14="http://schemas.microsoft.com/office/powerpoint/2010/main" val="250841649"/>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2BD240-1CBA-48C1-B5E5-481A6FDAE45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Limitations and future work</a:t>
            </a:r>
          </a:p>
        </p:txBody>
      </p:sp>
      <p:sp>
        <p:nvSpPr>
          <p:cNvPr id="2" name="">
            <a:extLst xmlns:a="http://schemas.openxmlformats.org/drawingml/2006/main">
              <a:ext uri="{FF2B5EF4-FFF2-40B4-BE49-F238E27FC236}">
                <a16:creationId xmlns:a16="http://schemas.microsoft.com/office/drawing/2014/main" id="{42835409-5217-47E8-898A-F1F6B058674A}"/>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4748B"/>
                </a:solidFill>
                <a:latin typeface="Aptos"/>
                <a:ea typeface="Aptos"/>
                <a:cs typeface="Aptos"/>
              </a:defRPr>
            </a:pPr>
            <a:r>
              <a:rPr sz="1200">
                <a:solidFill>
                  <a:srgbClr val="64748B"/>
                </a:solidFill>
                <a:latin typeface="Aptos"/>
                <a:ea typeface="Aptos"/>
                <a:cs typeface="Aptos"/>
              </a:rPr>
              <a:t>The prototype is promising, but the evidence boundary must stay clear.</a:t>
            </a:r>
          </a:p>
        </p:txBody>
      </p:sp>
      <p:sp>
        <p:nvSpPr>
          <p:cNvPr id="3" name="">
            <a:extLst xmlns:a="http://schemas.openxmlformats.org/drawingml/2006/main">
              <a:ext uri="{FF2B5EF4-FFF2-40B4-BE49-F238E27FC236}">
                <a16:creationId xmlns:a16="http://schemas.microsoft.com/office/drawing/2014/main" id="{0DFAB14B-A3FD-4639-8E5B-D87B5CE08D2D}"/>
              </a:ext>
            </a:extLst>
          </p:cNvPr>
          <p:cNvSpPr>
            <a:spLocks xmlns:a="http://schemas.openxmlformats.org/drawingml/2006/main" noGrp="1"/>
          </p:cNvSpPr>
          <p:nvPr/>
        </p:nvSpPr>
        <p:spPr>
          <a:xfrm xmlns:a="http://schemas.openxmlformats.org/drawingml/2006/main">
            <a:off x="800100" y="1524000"/>
            <a:ext cx="3143250" cy="14478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53D0928A-892E-4828-9017-3E35218DCF5F}"/>
              </a:ext>
            </a:extLst>
          </p:cNvPr>
          <p:cNvSpPr>
            <a:spLocks xmlns:a="http://schemas.openxmlformats.org/drawingml/2006/main" noGrp="1"/>
          </p:cNvSpPr>
          <p:nvPr/>
        </p:nvSpPr>
        <p:spPr>
          <a:xfrm xmlns:a="http://schemas.openxmlformats.org/drawingml/2006/main">
            <a:off x="800100" y="1524000"/>
            <a:ext cx="66675" cy="14478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5" name="">
            <a:extLst xmlns:a="http://schemas.openxmlformats.org/drawingml/2006/main">
              <a:ext uri="{FF2B5EF4-FFF2-40B4-BE49-F238E27FC236}">
                <a16:creationId xmlns:a16="http://schemas.microsoft.com/office/drawing/2014/main" id="{C7566BA1-DA4E-4122-B379-EE4B96E816B2}"/>
              </a:ext>
            </a:extLst>
          </p:cNvPr>
          <p:cNvSpPr>
            <a:spLocks xmlns:a="http://schemas.openxmlformats.org/drawingml/2006/main" noGrp="1"/>
          </p:cNvSpPr>
          <p:nvPr/>
        </p:nvSpPr>
        <p:spPr>
          <a:xfrm xmlns:a="http://schemas.openxmlformats.org/drawingml/2006/main">
            <a:off x="1028700" y="16954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Current limitation</a:t>
            </a:r>
          </a:p>
        </p:txBody>
      </p:sp>
      <p:sp>
        <p:nvSpPr>
          <p:cNvPr id="6" name="">
            <a:extLst xmlns:a="http://schemas.openxmlformats.org/drawingml/2006/main">
              <a:ext uri="{FF2B5EF4-FFF2-40B4-BE49-F238E27FC236}">
                <a16:creationId xmlns:a16="http://schemas.microsoft.com/office/drawing/2014/main" id="{37142A97-9093-42D1-8E10-30702E335AEB}"/>
              </a:ext>
            </a:extLst>
          </p:cNvPr>
          <p:cNvSpPr>
            <a:spLocks xmlns:a="http://schemas.openxmlformats.org/drawingml/2006/main" noGrp="1"/>
          </p:cNvSpPr>
          <p:nvPr/>
        </p:nvSpPr>
        <p:spPr>
          <a:xfrm xmlns:a="http://schemas.openxmlformats.org/drawingml/2006/main">
            <a:off x="1028700" y="2038350"/>
            <a:ext cx="2686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Manual blendshape-to-emotion mapping may not generalize across faces, cultures, lighting conditions, and individual habits.</a:t>
            </a:r>
          </a:p>
        </p:txBody>
      </p:sp>
      <p:sp>
        <p:nvSpPr>
          <p:cNvPr id="7" name="">
            <a:extLst xmlns:a="http://schemas.openxmlformats.org/drawingml/2006/main">
              <a:ext uri="{FF2B5EF4-FFF2-40B4-BE49-F238E27FC236}">
                <a16:creationId xmlns:a16="http://schemas.microsoft.com/office/drawing/2014/main" id="{97B7E9F9-0B7C-4D23-AE0A-B211A87BC486}"/>
              </a:ext>
            </a:extLst>
          </p:cNvPr>
          <p:cNvSpPr>
            <a:spLocks xmlns:a="http://schemas.openxmlformats.org/drawingml/2006/main" noGrp="1"/>
          </p:cNvSpPr>
          <p:nvPr/>
        </p:nvSpPr>
        <p:spPr>
          <a:xfrm xmlns:a="http://schemas.openxmlformats.org/drawingml/2006/main">
            <a:off x="4514850" y="1524000"/>
            <a:ext cx="3143250" cy="14478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ABDB10F-F757-4A20-91E8-AF6139442629}"/>
              </a:ext>
            </a:extLst>
          </p:cNvPr>
          <p:cNvSpPr>
            <a:spLocks xmlns:a="http://schemas.openxmlformats.org/drawingml/2006/main" noGrp="1"/>
          </p:cNvSpPr>
          <p:nvPr/>
        </p:nvSpPr>
        <p:spPr>
          <a:xfrm xmlns:a="http://schemas.openxmlformats.org/drawingml/2006/main">
            <a:off x="4514850" y="1524000"/>
            <a:ext cx="66675" cy="14478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71C540A7-2663-4123-B0BB-A4E87F582354}"/>
              </a:ext>
            </a:extLst>
          </p:cNvPr>
          <p:cNvSpPr>
            <a:spLocks xmlns:a="http://schemas.openxmlformats.org/drawingml/2006/main" noGrp="1"/>
          </p:cNvSpPr>
          <p:nvPr/>
        </p:nvSpPr>
        <p:spPr>
          <a:xfrm xmlns:a="http://schemas.openxmlformats.org/drawingml/2006/main">
            <a:off x="4743450" y="16954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Evaluation gap</a:t>
            </a:r>
          </a:p>
        </p:txBody>
      </p:sp>
      <p:sp>
        <p:nvSpPr>
          <p:cNvPr id="10" name="">
            <a:extLst xmlns:a="http://schemas.openxmlformats.org/drawingml/2006/main">
              <a:ext uri="{FF2B5EF4-FFF2-40B4-BE49-F238E27FC236}">
                <a16:creationId xmlns:a16="http://schemas.microsoft.com/office/drawing/2014/main" id="{FF3CAA3A-6E19-4CD5-89E5-A9DB24484BF9}"/>
              </a:ext>
            </a:extLst>
          </p:cNvPr>
          <p:cNvSpPr>
            <a:spLocks xmlns:a="http://schemas.openxmlformats.org/drawingml/2006/main" noGrp="1"/>
          </p:cNvSpPr>
          <p:nvPr/>
        </p:nvSpPr>
        <p:spPr>
          <a:xfrm xmlns:a="http://schemas.openxmlformats.org/drawingml/2006/main">
            <a:off x="4743450" y="2038350"/>
            <a:ext cx="2686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The current tests are functional engineering tests, not clinical validation with real users.</a:t>
            </a:r>
          </a:p>
        </p:txBody>
      </p:sp>
      <p:sp>
        <p:nvSpPr>
          <p:cNvPr id="11" name="">
            <a:extLst xmlns:a="http://schemas.openxmlformats.org/drawingml/2006/main">
              <a:ext uri="{FF2B5EF4-FFF2-40B4-BE49-F238E27FC236}">
                <a16:creationId xmlns:a16="http://schemas.microsoft.com/office/drawing/2014/main" id="{49C99F74-2D06-4C3A-9EBD-C4E1EA8D6A77}"/>
              </a:ext>
            </a:extLst>
          </p:cNvPr>
          <p:cNvSpPr>
            <a:spLocks xmlns:a="http://schemas.openxmlformats.org/drawingml/2006/main" noGrp="1"/>
          </p:cNvSpPr>
          <p:nvPr/>
        </p:nvSpPr>
        <p:spPr>
          <a:xfrm xmlns:a="http://schemas.openxmlformats.org/drawingml/2006/main">
            <a:off x="8229600" y="1524000"/>
            <a:ext cx="3143250" cy="14478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D8F70EB-8785-48CE-8C38-FAC8DABEF6E0}"/>
              </a:ext>
            </a:extLst>
          </p:cNvPr>
          <p:cNvSpPr>
            <a:spLocks xmlns:a="http://schemas.openxmlformats.org/drawingml/2006/main" noGrp="1"/>
          </p:cNvSpPr>
          <p:nvPr/>
        </p:nvSpPr>
        <p:spPr>
          <a:xfrm xmlns:a="http://schemas.openxmlformats.org/drawingml/2006/main">
            <a:off x="8229600" y="1524000"/>
            <a:ext cx="66675" cy="144780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CDBBE8F5-A0FD-4C2F-A73C-BAE44376D7BA}"/>
              </a:ext>
            </a:extLst>
          </p:cNvPr>
          <p:cNvSpPr>
            <a:spLocks xmlns:a="http://schemas.openxmlformats.org/drawingml/2006/main" noGrp="1"/>
          </p:cNvSpPr>
          <p:nvPr/>
        </p:nvSpPr>
        <p:spPr>
          <a:xfrm xmlns:a="http://schemas.openxmlformats.org/drawingml/2006/main">
            <a:off x="8458200" y="16954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Model boundary</a:t>
            </a:r>
          </a:p>
        </p:txBody>
      </p:sp>
      <p:sp>
        <p:nvSpPr>
          <p:cNvPr id="14" name="">
            <a:extLst xmlns:a="http://schemas.openxmlformats.org/drawingml/2006/main">
              <a:ext uri="{FF2B5EF4-FFF2-40B4-BE49-F238E27FC236}">
                <a16:creationId xmlns:a16="http://schemas.microsoft.com/office/drawing/2014/main" id="{6506122D-1C00-452D-A472-0C0CDFB120AF}"/>
              </a:ext>
            </a:extLst>
          </p:cNvPr>
          <p:cNvSpPr>
            <a:spLocks xmlns:a="http://schemas.openxmlformats.org/drawingml/2006/main" noGrp="1"/>
          </p:cNvSpPr>
          <p:nvPr/>
        </p:nvSpPr>
        <p:spPr>
          <a:xfrm xmlns:a="http://schemas.openxmlformats.org/drawingml/2006/main">
            <a:off x="8458200" y="2038350"/>
            <a:ext cx="2686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LLM responses are supportive explanations and should not be framed as professional therapy.</a:t>
            </a:r>
          </a:p>
        </p:txBody>
      </p:sp>
      <p:sp>
        <p:nvSpPr>
          <p:cNvPr id="15" name="">
            <a:extLst xmlns:a="http://schemas.openxmlformats.org/drawingml/2006/main">
              <a:ext uri="{FF2B5EF4-FFF2-40B4-BE49-F238E27FC236}">
                <a16:creationId xmlns:a16="http://schemas.microsoft.com/office/drawing/2014/main" id="{C1A5131F-51FD-485A-BAA6-06934F842139}"/>
              </a:ext>
            </a:extLst>
          </p:cNvPr>
          <p:cNvSpPr>
            <a:spLocks xmlns:a="http://schemas.openxmlformats.org/drawingml/2006/main" noGrp="1"/>
          </p:cNvSpPr>
          <p:nvPr/>
        </p:nvSpPr>
        <p:spPr>
          <a:xfrm xmlns:a="http://schemas.openxmlformats.org/drawingml/2006/main">
            <a:off x="914400" y="3829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4338CA"/>
                </a:solidFill>
                <a:latin typeface="Aptos"/>
                <a:ea typeface="Aptos"/>
                <a:cs typeface="Aptos"/>
              </a:defRPr>
            </a:pPr>
            <a:r>
              <a:rPr sz="1500" b="1">
                <a:solidFill>
                  <a:srgbClr val="4338CA"/>
                </a:solidFill>
                <a:latin typeface="Aptos"/>
                <a:ea typeface="Aptos"/>
                <a:cs typeface="Aptos"/>
              </a:rPr>
              <a:t>Next steps</a:t>
            </a:r>
          </a:p>
        </p:txBody>
      </p:sp>
      <p:sp>
        <p:nvSpPr>
          <p:cNvPr id="16" name="">
            <a:extLst xmlns:a="http://schemas.openxmlformats.org/drawingml/2006/main">
              <a:ext uri="{FF2B5EF4-FFF2-40B4-BE49-F238E27FC236}">
                <a16:creationId xmlns:a16="http://schemas.microsoft.com/office/drawing/2014/main" id="{10B16E31-FEBD-4812-B002-465976A0B70F}"/>
              </a:ext>
            </a:extLst>
          </p:cNvPr>
          <p:cNvSpPr>
            <a:spLocks xmlns:a="http://schemas.openxmlformats.org/drawingml/2006/main" noGrp="1"/>
          </p:cNvSpPr>
          <p:nvPr/>
        </p:nvSpPr>
        <p:spPr>
          <a:xfrm xmlns:a="http://schemas.openxmlformats.org/drawingml/2006/main">
            <a:off x="914400" y="4305300"/>
            <a:ext cx="1809750" cy="4191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9525">
            <a:solidFill>
              <a:srgbClr val="DDD6FE"/>
            </a:solidFill>
            <a:prstDash val="solid"/>
          </a:ln>
        </p:spPr>
      </p:sp>
      <p:sp>
        <p:nvSpPr>
          <p:cNvPr id="17" name="">
            <a:extLst xmlns:a="http://schemas.openxmlformats.org/drawingml/2006/main">
              <a:ext uri="{FF2B5EF4-FFF2-40B4-BE49-F238E27FC236}">
                <a16:creationId xmlns:a16="http://schemas.microsoft.com/office/drawing/2014/main" id="{8A960619-C100-413E-927C-769EEDDEB6F2}"/>
              </a:ext>
            </a:extLst>
          </p:cNvPr>
          <p:cNvSpPr>
            <a:spLocks xmlns:a="http://schemas.openxmlformats.org/drawingml/2006/main" noGrp="1"/>
          </p:cNvSpPr>
          <p:nvPr/>
        </p:nvSpPr>
        <p:spPr>
          <a:xfrm xmlns:a="http://schemas.openxmlformats.org/drawingml/2006/main">
            <a:off x="1085850" y="4410075"/>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4338CA"/>
                </a:solidFill>
                <a:latin typeface="Aptos"/>
                <a:ea typeface="Aptos"/>
                <a:cs typeface="Aptos"/>
              </a:defRPr>
            </a:pPr>
            <a:r>
              <a:rPr sz="1088" b="1">
                <a:solidFill>
                  <a:srgbClr val="4338CA"/>
                </a:solidFill>
                <a:latin typeface="Aptos"/>
                <a:ea typeface="Aptos"/>
                <a:cs typeface="Aptos"/>
              </a:rPr>
              <a:t>User study</a:t>
            </a:r>
          </a:p>
        </p:txBody>
      </p:sp>
      <p:sp>
        <p:nvSpPr>
          <p:cNvPr id="18" name="">
            <a:extLst xmlns:a="http://schemas.openxmlformats.org/drawingml/2006/main">
              <a:ext uri="{FF2B5EF4-FFF2-40B4-BE49-F238E27FC236}">
                <a16:creationId xmlns:a16="http://schemas.microsoft.com/office/drawing/2014/main" id="{D865CFE9-7879-49A9-8629-BFC92C7401F8}"/>
              </a:ext>
            </a:extLst>
          </p:cNvPr>
          <p:cNvSpPr>
            <a:spLocks xmlns:a="http://schemas.openxmlformats.org/drawingml/2006/main" noGrp="1"/>
          </p:cNvSpPr>
          <p:nvPr/>
        </p:nvSpPr>
        <p:spPr>
          <a:xfrm xmlns:a="http://schemas.openxmlformats.org/drawingml/2006/main">
            <a:off x="3009900" y="4305300"/>
            <a:ext cx="1809750" cy="419100"/>
          </a:xfrm>
          <a:prstGeom xmlns:a="http://schemas.openxmlformats.org/drawingml/2006/main" prst="roundRect">
            <a:avLst>
              <a:gd name="adj" fmla="val 50000"/>
            </a:avLst>
          </a:prstGeom>
          <a:solidFill xmlns:a="http://schemas.openxmlformats.org/drawingml/2006/main">
            <a:srgbClr val="ECFDF5"/>
          </a:solidFill>
          <a:ln xmlns:a="http://schemas.openxmlformats.org/drawingml/2006/main" w="9525">
            <a:solidFill>
              <a:srgbClr val="DDD6FE"/>
            </a:solidFill>
            <a:prstDash val="solid"/>
          </a:ln>
        </p:spPr>
      </p:sp>
      <p:sp>
        <p:nvSpPr>
          <p:cNvPr id="19" name="">
            <a:extLst xmlns:a="http://schemas.openxmlformats.org/drawingml/2006/main">
              <a:ext uri="{FF2B5EF4-FFF2-40B4-BE49-F238E27FC236}">
                <a16:creationId xmlns:a16="http://schemas.microsoft.com/office/drawing/2014/main" id="{9854CA81-4763-4F2B-9400-A87E7705E692}"/>
              </a:ext>
            </a:extLst>
          </p:cNvPr>
          <p:cNvSpPr>
            <a:spLocks xmlns:a="http://schemas.openxmlformats.org/drawingml/2006/main" noGrp="1"/>
          </p:cNvSpPr>
          <p:nvPr/>
        </p:nvSpPr>
        <p:spPr>
          <a:xfrm xmlns:a="http://schemas.openxmlformats.org/drawingml/2006/main">
            <a:off x="3181350" y="4410075"/>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047857"/>
                </a:solidFill>
                <a:latin typeface="Aptos"/>
                <a:ea typeface="Aptos"/>
                <a:cs typeface="Aptos"/>
              </a:defRPr>
            </a:pPr>
            <a:r>
              <a:rPr sz="1088" b="1">
                <a:solidFill>
                  <a:srgbClr val="047857"/>
                </a:solidFill>
                <a:latin typeface="Aptos"/>
                <a:ea typeface="Aptos"/>
                <a:cs typeface="Aptos"/>
              </a:rPr>
              <a:t>Fairness audit</a:t>
            </a:r>
          </a:p>
        </p:txBody>
      </p:sp>
      <p:sp>
        <p:nvSpPr>
          <p:cNvPr id="20" name="">
            <a:extLst xmlns:a="http://schemas.openxmlformats.org/drawingml/2006/main">
              <a:ext uri="{FF2B5EF4-FFF2-40B4-BE49-F238E27FC236}">
                <a16:creationId xmlns:a16="http://schemas.microsoft.com/office/drawing/2014/main" id="{7FA3A4A7-3EE9-4960-97CF-B57374D2F80C}"/>
              </a:ext>
            </a:extLst>
          </p:cNvPr>
          <p:cNvSpPr>
            <a:spLocks xmlns:a="http://schemas.openxmlformats.org/drawingml/2006/main" noGrp="1"/>
          </p:cNvSpPr>
          <p:nvPr/>
        </p:nvSpPr>
        <p:spPr>
          <a:xfrm xmlns:a="http://schemas.openxmlformats.org/drawingml/2006/main">
            <a:off x="5105400" y="4305300"/>
            <a:ext cx="2476500" cy="419100"/>
          </a:xfrm>
          <a:prstGeom xmlns:a="http://schemas.openxmlformats.org/drawingml/2006/main" prst="roundRect">
            <a:avLst>
              <a:gd name="adj" fmla="val 50000"/>
            </a:avLst>
          </a:prstGeom>
          <a:solidFill xmlns:a="http://schemas.openxmlformats.org/drawingml/2006/main">
            <a:srgbClr val="FFF7ED"/>
          </a:solidFill>
          <a:ln xmlns:a="http://schemas.openxmlformats.org/drawingml/2006/main" w="9525">
            <a:solidFill>
              <a:srgbClr val="DDD6FE"/>
            </a:solidFill>
            <a:prstDash val="solid"/>
          </a:ln>
        </p:spPr>
      </p:sp>
      <p:sp>
        <p:nvSpPr>
          <p:cNvPr id="21" name="">
            <a:extLst xmlns:a="http://schemas.openxmlformats.org/drawingml/2006/main">
              <a:ext uri="{FF2B5EF4-FFF2-40B4-BE49-F238E27FC236}">
                <a16:creationId xmlns:a16="http://schemas.microsoft.com/office/drawing/2014/main" id="{3D325EA9-E67A-4806-B181-2E774C90183C}"/>
              </a:ext>
            </a:extLst>
          </p:cNvPr>
          <p:cNvSpPr>
            <a:spLocks xmlns:a="http://schemas.openxmlformats.org/drawingml/2006/main" noGrp="1"/>
          </p:cNvSpPr>
          <p:nvPr/>
        </p:nvSpPr>
        <p:spPr>
          <a:xfrm xmlns:a="http://schemas.openxmlformats.org/drawingml/2006/main">
            <a:off x="5276850" y="44100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B45309"/>
                </a:solidFill>
                <a:latin typeface="Aptos"/>
                <a:ea typeface="Aptos"/>
                <a:cs typeface="Aptos"/>
              </a:defRPr>
            </a:pPr>
            <a:r>
              <a:rPr sz="1088" b="1">
                <a:solidFill>
                  <a:srgbClr val="B45309"/>
                </a:solidFill>
                <a:latin typeface="Aptos"/>
                <a:ea typeface="Aptos"/>
                <a:cs typeface="Aptos"/>
              </a:rPr>
              <a:t>PHQ-9 / GAD-7 comparison</a:t>
            </a:r>
          </a:p>
        </p:txBody>
      </p:sp>
      <p:sp>
        <p:nvSpPr>
          <p:cNvPr id="22" name="">
            <a:extLst xmlns:a="http://schemas.openxmlformats.org/drawingml/2006/main">
              <a:ext uri="{FF2B5EF4-FFF2-40B4-BE49-F238E27FC236}">
                <a16:creationId xmlns:a16="http://schemas.microsoft.com/office/drawing/2014/main" id="{56DB2AF3-5EA6-48BD-B1F1-1C07BDEDD813}"/>
              </a:ext>
            </a:extLst>
          </p:cNvPr>
          <p:cNvSpPr>
            <a:spLocks xmlns:a="http://schemas.openxmlformats.org/drawingml/2006/main" noGrp="1"/>
          </p:cNvSpPr>
          <p:nvPr/>
        </p:nvSpPr>
        <p:spPr>
          <a:xfrm xmlns:a="http://schemas.openxmlformats.org/drawingml/2006/main">
            <a:off x="7867650" y="4305300"/>
            <a:ext cx="2476500" cy="419100"/>
          </a:xfrm>
          <a:prstGeom xmlns:a="http://schemas.openxmlformats.org/drawingml/2006/main" prst="roundRect">
            <a:avLst>
              <a:gd name="adj" fmla="val 50000"/>
            </a:avLst>
          </a:prstGeom>
          <a:solidFill xmlns:a="http://schemas.openxmlformats.org/drawingml/2006/main">
            <a:srgbClr val="FEF2F2"/>
          </a:solidFill>
          <a:ln xmlns:a="http://schemas.openxmlformats.org/drawingml/2006/main" w="9525">
            <a:solidFill>
              <a:srgbClr val="DDD6FE"/>
            </a:solidFill>
            <a:prstDash val="solid"/>
          </a:ln>
        </p:spPr>
      </p:sp>
      <p:sp>
        <p:nvSpPr>
          <p:cNvPr id="23" name="">
            <a:extLst xmlns:a="http://schemas.openxmlformats.org/drawingml/2006/main">
              <a:ext uri="{FF2B5EF4-FFF2-40B4-BE49-F238E27FC236}">
                <a16:creationId xmlns:a16="http://schemas.microsoft.com/office/drawing/2014/main" id="{97B88692-FE20-455B-8B53-A7E6FD1FBE8C}"/>
              </a:ext>
            </a:extLst>
          </p:cNvPr>
          <p:cNvSpPr>
            <a:spLocks xmlns:a="http://schemas.openxmlformats.org/drawingml/2006/main" noGrp="1"/>
          </p:cNvSpPr>
          <p:nvPr/>
        </p:nvSpPr>
        <p:spPr>
          <a:xfrm xmlns:a="http://schemas.openxmlformats.org/drawingml/2006/main">
            <a:off x="8039100" y="44100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B91C1C"/>
                </a:solidFill>
                <a:latin typeface="Aptos"/>
                <a:ea typeface="Aptos"/>
                <a:cs typeface="Aptos"/>
              </a:defRPr>
            </a:pPr>
            <a:r>
              <a:rPr sz="1088" b="1">
                <a:solidFill>
                  <a:srgbClr val="B91C1C"/>
                </a:solidFill>
                <a:latin typeface="Aptos"/>
                <a:ea typeface="Aptos"/>
                <a:cs typeface="Aptos"/>
              </a:rPr>
              <a:t>Acoustic emotion features</a:t>
            </a:r>
          </a:p>
        </p:txBody>
      </p:sp>
      <p:sp>
        <p:nvSpPr>
          <p:cNvPr id="24" name="">
            <a:extLst xmlns:a="http://schemas.openxmlformats.org/drawingml/2006/main">
              <a:ext uri="{FF2B5EF4-FFF2-40B4-BE49-F238E27FC236}">
                <a16:creationId xmlns:a16="http://schemas.microsoft.com/office/drawing/2014/main" id="{94DD1C12-3A9E-49DB-9712-273093DA4C79}"/>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9/10</a:t>
            </a:r>
          </a:p>
        </p:txBody>
      </p:sp>
    </p:spTree>
    <p:extLst>
      <p:ext uri="{BB962C8B-B14F-4D97-AF65-F5344CB8AC3E}">
        <p14:creationId xmlns:p14="http://schemas.microsoft.com/office/powerpoint/2010/main" val="564211933"/>
      </p:ext>
    </p:extLst>
  </p:cSld>
</p:sld>
</file>

<file path=ppt/slides/slide10.xml><?xml version="1.0" encoding="utf-8"?>
<p:sld xmlns:p="http://schemas.openxmlformats.org/presentationml/2006/main">
  <p:cSld>
    <p:bg>
      <p:bgPr>
        <a:gradFill xmlns:a="http://schemas.openxmlformats.org/drawingml/2006/main">
          <a:gsLst>
            <a:gs pos="0">
              <a:srgbClr val="111827"/>
            </a:gs>
            <a:gs pos="100000">
              <a:srgbClr val="312E81"/>
            </a:gs>
          </a:gsLst>
          <a:lin ang="810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B9F1CF-1F33-4DDB-8D73-A95E9C5D91C6}"/>
              </a:ext>
            </a:extLst>
          </p:cNvPr>
          <p:cNvSpPr>
            <a:spLocks xmlns:a="http://schemas.openxmlformats.org/drawingml/2006/main" noGrp="1"/>
          </p:cNvSpPr>
          <p:nvPr/>
        </p:nvSpPr>
        <p:spPr>
          <a:xfrm xmlns:a="http://schemas.openxmlformats.org/drawingml/2006/main">
            <a:off x="685800" y="5905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Conclusion</a:t>
            </a:r>
          </a:p>
        </p:txBody>
      </p:sp>
      <p:sp>
        <p:nvSpPr>
          <p:cNvPr id="2" name="">
            <a:extLst xmlns:a="http://schemas.openxmlformats.org/drawingml/2006/main">
              <a:ext uri="{FF2B5EF4-FFF2-40B4-BE49-F238E27FC236}">
                <a16:creationId xmlns:a16="http://schemas.microsoft.com/office/drawing/2014/main" id="{E60CE94F-24A5-40F1-A0BD-AB901DD8F0AD}"/>
              </a:ext>
            </a:extLst>
          </p:cNvPr>
          <p:cNvSpPr>
            <a:spLocks xmlns:a="http://schemas.openxmlformats.org/drawingml/2006/main" noGrp="1"/>
          </p:cNvSpPr>
          <p:nvPr/>
        </p:nvSpPr>
        <p:spPr>
          <a:xfrm xmlns:a="http://schemas.openxmlformats.org/drawingml/2006/main">
            <a:off x="723900" y="1409700"/>
            <a:ext cx="8096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250" b="1">
                <a:solidFill>
                  <a:srgbClr val="F8FAFC"/>
                </a:solidFill>
                <a:latin typeface="Aptos Display"/>
                <a:ea typeface="Aptos Display"/>
                <a:cs typeface="Aptos Display"/>
              </a:defRPr>
            </a:pPr>
            <a:r>
              <a:rPr sz="2250" b="1">
                <a:solidFill>
                  <a:srgbClr val="F8FAFC"/>
                </a:solidFill>
                <a:latin typeface="Aptos Display"/>
                <a:ea typeface="Aptos Display"/>
                <a:cs typeface="Aptos Display"/>
              </a:rPr>
              <a:t>EmoScope demonstrates a practical direction for privacy-preserving emotional self-awareness.</a:t>
            </a:r>
          </a:p>
        </p:txBody>
      </p:sp>
      <p:sp>
        <p:nvSpPr>
          <p:cNvPr id="3" name="">
            <a:extLst xmlns:a="http://schemas.openxmlformats.org/drawingml/2006/main">
              <a:ext uri="{FF2B5EF4-FFF2-40B4-BE49-F238E27FC236}">
                <a16:creationId xmlns:a16="http://schemas.microsoft.com/office/drawing/2014/main" id="{FC185A37-8FF7-4243-A6C7-79DBCEDA2885}"/>
              </a:ext>
            </a:extLst>
          </p:cNvPr>
          <p:cNvSpPr>
            <a:spLocks xmlns:a="http://schemas.openxmlformats.org/drawingml/2006/main" noGrp="1"/>
          </p:cNvSpPr>
          <p:nvPr/>
        </p:nvSpPr>
        <p:spPr>
          <a:xfrm xmlns:a="http://schemas.openxmlformats.org/drawingml/2006/main">
            <a:off x="800100" y="3009900"/>
            <a:ext cx="2857500" cy="1352550"/>
          </a:xfrm>
          <a:prstGeom xmlns:a="http://schemas.openxmlformats.org/drawingml/2006/main" prst="roundRect">
            <a:avLst>
              <a:gd name="adj" fmla="val 1126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3B240015-06E0-4DAB-B774-3CBC68037027}"/>
              </a:ext>
            </a:extLst>
          </p:cNvPr>
          <p:cNvSpPr>
            <a:spLocks xmlns:a="http://schemas.openxmlformats.org/drawingml/2006/main" noGrp="1"/>
          </p:cNvSpPr>
          <p:nvPr/>
        </p:nvSpPr>
        <p:spPr>
          <a:xfrm xmlns:a="http://schemas.openxmlformats.org/drawingml/2006/main">
            <a:off x="800100" y="3009900"/>
            <a:ext cx="66675" cy="1352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5" name="">
            <a:extLst xmlns:a="http://schemas.openxmlformats.org/drawingml/2006/main">
              <a:ext uri="{FF2B5EF4-FFF2-40B4-BE49-F238E27FC236}">
                <a16:creationId xmlns:a16="http://schemas.microsoft.com/office/drawing/2014/main" id="{23F7273A-7C00-4D3C-AE77-77F2B1446EA7}"/>
              </a:ext>
            </a:extLst>
          </p:cNvPr>
          <p:cNvSpPr>
            <a:spLocks xmlns:a="http://schemas.openxmlformats.org/drawingml/2006/main" noGrp="1"/>
          </p:cNvSpPr>
          <p:nvPr/>
        </p:nvSpPr>
        <p:spPr>
          <a:xfrm xmlns:a="http://schemas.openxmlformats.org/drawingml/2006/main">
            <a:off x="1028700" y="31813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System</a:t>
            </a:r>
          </a:p>
        </p:txBody>
      </p:sp>
      <p:sp>
        <p:nvSpPr>
          <p:cNvPr id="6" name="">
            <a:extLst xmlns:a="http://schemas.openxmlformats.org/drawingml/2006/main">
              <a:ext uri="{FF2B5EF4-FFF2-40B4-BE49-F238E27FC236}">
                <a16:creationId xmlns:a16="http://schemas.microsoft.com/office/drawing/2014/main" id="{3A9BFD23-49E5-46EC-BE18-B1B72B235C85}"/>
              </a:ext>
            </a:extLst>
          </p:cNvPr>
          <p:cNvSpPr>
            <a:spLocks xmlns:a="http://schemas.openxmlformats.org/drawingml/2006/main" noGrp="1"/>
          </p:cNvSpPr>
          <p:nvPr/>
        </p:nvSpPr>
        <p:spPr>
          <a:xfrm xmlns:a="http://schemas.openxmlformats.org/drawingml/2006/main">
            <a:off x="1028700" y="35242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On-device facial analysis</a:t>
            </a:r>
          </a:p>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Voice-rate estimation</a:t>
            </a:r>
          </a:p>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Local memory analytics</a:t>
            </a:r>
          </a:p>
        </p:txBody>
      </p:sp>
      <p:sp>
        <p:nvSpPr>
          <p:cNvPr id="7" name="">
            <a:extLst xmlns:a="http://schemas.openxmlformats.org/drawingml/2006/main">
              <a:ext uri="{FF2B5EF4-FFF2-40B4-BE49-F238E27FC236}">
                <a16:creationId xmlns:a16="http://schemas.microsoft.com/office/drawing/2014/main" id="{1224725D-5817-49E7-8A10-ED4CA772BCE0}"/>
              </a:ext>
            </a:extLst>
          </p:cNvPr>
          <p:cNvSpPr>
            <a:spLocks xmlns:a="http://schemas.openxmlformats.org/drawingml/2006/main" noGrp="1"/>
          </p:cNvSpPr>
          <p:nvPr/>
        </p:nvSpPr>
        <p:spPr>
          <a:xfrm xmlns:a="http://schemas.openxmlformats.org/drawingml/2006/main">
            <a:off x="4210050" y="3009900"/>
            <a:ext cx="2857500" cy="1352550"/>
          </a:xfrm>
          <a:prstGeom xmlns:a="http://schemas.openxmlformats.org/drawingml/2006/main" prst="roundRect">
            <a:avLst>
              <a:gd name="adj" fmla="val 1126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23F94CA8-FD16-4327-B3F6-0B9217D98837}"/>
              </a:ext>
            </a:extLst>
          </p:cNvPr>
          <p:cNvSpPr>
            <a:spLocks xmlns:a="http://schemas.openxmlformats.org/drawingml/2006/main" noGrp="1"/>
          </p:cNvSpPr>
          <p:nvPr/>
        </p:nvSpPr>
        <p:spPr>
          <a:xfrm xmlns:a="http://schemas.openxmlformats.org/drawingml/2006/main">
            <a:off x="4210050" y="3009900"/>
            <a:ext cx="66675" cy="13525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0DBC82C6-6F89-425E-ACB5-3F04FFCAAA07}"/>
              </a:ext>
            </a:extLst>
          </p:cNvPr>
          <p:cNvSpPr>
            <a:spLocks xmlns:a="http://schemas.openxmlformats.org/drawingml/2006/main" noGrp="1"/>
          </p:cNvSpPr>
          <p:nvPr/>
        </p:nvSpPr>
        <p:spPr>
          <a:xfrm xmlns:a="http://schemas.openxmlformats.org/drawingml/2006/main">
            <a:off x="4438650" y="31813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Principle</a:t>
            </a:r>
          </a:p>
        </p:txBody>
      </p:sp>
      <p:sp>
        <p:nvSpPr>
          <p:cNvPr id="10" name="">
            <a:extLst xmlns:a="http://schemas.openxmlformats.org/drawingml/2006/main">
              <a:ext uri="{FF2B5EF4-FFF2-40B4-BE49-F238E27FC236}">
                <a16:creationId xmlns:a16="http://schemas.microsoft.com/office/drawing/2014/main" id="{BF19EEFA-334B-4B6E-B66E-5A27D7A01511}"/>
              </a:ext>
            </a:extLst>
          </p:cNvPr>
          <p:cNvSpPr>
            <a:spLocks xmlns:a="http://schemas.openxmlformats.org/drawingml/2006/main" noGrp="1"/>
          </p:cNvSpPr>
          <p:nvPr/>
        </p:nvSpPr>
        <p:spPr>
          <a:xfrm xmlns:a="http://schemas.openxmlformats.org/drawingml/2006/main">
            <a:off x="4438650" y="35242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Continuous sensing</a:t>
            </a:r>
          </a:p>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Cautious interpretation</a:t>
            </a:r>
          </a:p>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User-confirmed support</a:t>
            </a:r>
          </a:p>
        </p:txBody>
      </p:sp>
      <p:sp>
        <p:nvSpPr>
          <p:cNvPr id="11" name="">
            <a:extLst xmlns:a="http://schemas.openxmlformats.org/drawingml/2006/main">
              <a:ext uri="{FF2B5EF4-FFF2-40B4-BE49-F238E27FC236}">
                <a16:creationId xmlns:a16="http://schemas.microsoft.com/office/drawing/2014/main" id="{56BFD38E-1E3D-4990-80B4-8065A2AC6BFB}"/>
              </a:ext>
            </a:extLst>
          </p:cNvPr>
          <p:cNvSpPr>
            <a:spLocks xmlns:a="http://schemas.openxmlformats.org/drawingml/2006/main" noGrp="1"/>
          </p:cNvSpPr>
          <p:nvPr/>
        </p:nvSpPr>
        <p:spPr>
          <a:xfrm xmlns:a="http://schemas.openxmlformats.org/drawingml/2006/main">
            <a:off x="7620000" y="3009900"/>
            <a:ext cx="2857500" cy="1352550"/>
          </a:xfrm>
          <a:prstGeom xmlns:a="http://schemas.openxmlformats.org/drawingml/2006/main" prst="roundRect">
            <a:avLst>
              <a:gd name="adj" fmla="val 1126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514D60F-2170-4D78-80D7-9E9CFF743408}"/>
              </a:ext>
            </a:extLst>
          </p:cNvPr>
          <p:cNvSpPr>
            <a:spLocks xmlns:a="http://schemas.openxmlformats.org/drawingml/2006/main" noGrp="1"/>
          </p:cNvSpPr>
          <p:nvPr/>
        </p:nvSpPr>
        <p:spPr>
          <a:xfrm xmlns:a="http://schemas.openxmlformats.org/drawingml/2006/main">
            <a:off x="7620000" y="3009900"/>
            <a:ext cx="66675" cy="135255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7F48EAED-54FF-49C5-8126-454F36B2075A}"/>
              </a:ext>
            </a:extLst>
          </p:cNvPr>
          <p:cNvSpPr>
            <a:spLocks xmlns:a="http://schemas.openxmlformats.org/drawingml/2006/main" noGrp="1"/>
          </p:cNvSpPr>
          <p:nvPr/>
        </p:nvSpPr>
        <p:spPr>
          <a:xfrm xmlns:a="http://schemas.openxmlformats.org/drawingml/2006/main">
            <a:off x="7848600" y="31813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111827"/>
                </a:solidFill>
                <a:latin typeface="Aptos"/>
                <a:ea typeface="Aptos"/>
                <a:cs typeface="Aptos"/>
              </a:defRPr>
            </a:pPr>
            <a:r>
              <a:rPr sz="1425" b="1">
                <a:solidFill>
                  <a:srgbClr val="111827"/>
                </a:solidFill>
                <a:latin typeface="Aptos"/>
                <a:ea typeface="Aptos"/>
                <a:cs typeface="Aptos"/>
              </a:rPr>
              <a:t>Contribution</a:t>
            </a:r>
          </a:p>
        </p:txBody>
      </p:sp>
      <p:sp>
        <p:nvSpPr>
          <p:cNvPr id="14" name="">
            <a:extLst xmlns:a="http://schemas.openxmlformats.org/drawingml/2006/main">
              <a:ext uri="{FF2B5EF4-FFF2-40B4-BE49-F238E27FC236}">
                <a16:creationId xmlns:a16="http://schemas.microsoft.com/office/drawing/2014/main" id="{FA19F6D2-EB4F-4F52-A54F-C2F289F49D36}"/>
              </a:ext>
            </a:extLst>
          </p:cNvPr>
          <p:cNvSpPr>
            <a:spLocks xmlns:a="http://schemas.openxmlformats.org/drawingml/2006/main" noGrp="1"/>
          </p:cNvSpPr>
          <p:nvPr/>
        </p:nvSpPr>
        <p:spPr>
          <a:xfrm xmlns:a="http://schemas.openxmlformats.org/drawingml/2006/main">
            <a:off x="7848600" y="35242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40">
                <a:solidFill>
                  <a:srgbClr val="475569"/>
                </a:solidFill>
                <a:latin typeface="Aptos"/>
                <a:ea typeface="Aptos"/>
                <a:cs typeface="Aptos"/>
              </a:defRPr>
            </a:pPr>
            <a:r>
              <a:rPr sz="1140">
                <a:solidFill>
                  <a:srgbClr val="475569"/>
                </a:solidFill>
                <a:latin typeface="Aptos"/>
                <a:ea typeface="Aptos"/>
                <a:cs typeface="Aptos"/>
              </a:rPr>
              <a:t>A working prototype that links sensing, reflection, and action.</a:t>
            </a:r>
          </a:p>
        </p:txBody>
      </p:sp>
      <p:sp>
        <p:nvSpPr>
          <p:cNvPr id="15" name="">
            <a:extLst xmlns:a="http://schemas.openxmlformats.org/drawingml/2006/main">
              <a:ext uri="{FF2B5EF4-FFF2-40B4-BE49-F238E27FC236}">
                <a16:creationId xmlns:a16="http://schemas.microsoft.com/office/drawing/2014/main" id="{6B4FF625-810B-4664-8EAE-FF93ED80383F}"/>
              </a:ext>
            </a:extLst>
          </p:cNvPr>
          <p:cNvSpPr>
            <a:spLocks xmlns:a="http://schemas.openxmlformats.org/drawingml/2006/main" noGrp="1"/>
          </p:cNvSpPr>
          <p:nvPr/>
        </p:nvSpPr>
        <p:spPr>
          <a:xfrm xmlns:a="http://schemas.openxmlformats.org/drawingml/2006/main">
            <a:off x="800100" y="52197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FFFFFF"/>
                </a:solidFill>
                <a:latin typeface="Aptos"/>
                <a:ea typeface="Aptos"/>
                <a:cs typeface="Aptos"/>
              </a:defRPr>
            </a:pPr>
            <a:r>
              <a:rPr sz="2700" b="1">
                <a:solidFill>
                  <a:srgbClr val="FFFFFF"/>
                </a:solidFill>
                <a:latin typeface="Aptos"/>
                <a:ea typeface="Aptos"/>
                <a:cs typeface="Aptos"/>
              </a:rPr>
              <a:t>Thank you</a:t>
            </a:r>
          </a:p>
        </p:txBody>
      </p:sp>
      <p:sp>
        <p:nvSpPr>
          <p:cNvPr id="16" name="">
            <a:extLst xmlns:a="http://schemas.openxmlformats.org/drawingml/2006/main">
              <a:ext uri="{FF2B5EF4-FFF2-40B4-BE49-F238E27FC236}">
                <a16:creationId xmlns:a16="http://schemas.microsoft.com/office/drawing/2014/main" id="{0C8653F1-C853-434D-8177-54CC5ECBD844}"/>
              </a:ext>
            </a:extLst>
          </p:cNvPr>
          <p:cNvSpPr>
            <a:spLocks xmlns:a="http://schemas.openxmlformats.org/drawingml/2006/main" noGrp="1"/>
          </p:cNvSpPr>
          <p:nvPr/>
        </p:nvSpPr>
        <p:spPr>
          <a:xfrm xmlns:a="http://schemas.openxmlformats.org/drawingml/2006/main">
            <a:off x="2905125" y="52673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a:solidFill>
                  <a:srgbClr val="C4B5FD"/>
                </a:solidFill>
                <a:latin typeface="Aptos"/>
                <a:ea typeface="Aptos"/>
                <a:cs typeface="Aptos"/>
              </a:defRPr>
            </a:pPr>
            <a:r>
              <a:rPr sz="2025">
                <a:solidFill>
                  <a:srgbClr val="C4B5FD"/>
                </a:solidFill>
                <a:latin typeface="Aptos"/>
                <a:ea typeface="Aptos"/>
                <a:cs typeface="Aptos"/>
              </a:rPr>
              <a:t>Questions?</a:t>
            </a:r>
          </a:p>
        </p:txBody>
      </p:sp>
      <p:sp>
        <p:nvSpPr>
          <p:cNvPr id="17" name="">
            <a:extLst xmlns:a="http://schemas.openxmlformats.org/drawingml/2006/main">
              <a:ext uri="{FF2B5EF4-FFF2-40B4-BE49-F238E27FC236}">
                <a16:creationId xmlns:a16="http://schemas.microsoft.com/office/drawing/2014/main" id="{7B52DC90-82D1-458A-98D6-D43A8B502E8B}"/>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10/10</a:t>
            </a:r>
          </a:p>
        </p:txBody>
      </p:sp>
    </p:spTree>
    <p:extLst>
      <p:ext uri="{BB962C8B-B14F-4D97-AF65-F5344CB8AC3E}">
        <p14:creationId xmlns:p14="http://schemas.microsoft.com/office/powerpoint/2010/main" val="1207073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2026-06-17T06:56:47.3120000Z</dcterms:created>
  <dcterms:modified xsi:type="dcterms:W3CDTF">2026-06-17T06:56:47.3120000Z</dcterms:modified>
</coreProperties>
</file>