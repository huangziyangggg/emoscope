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3a8c99a2f44a3d" /><Relationship Type="http://schemas.openxmlformats.org/officeDocument/2006/relationships/extended-properties" Target="/docProps/app.xml" Id="R666eaa5642c04a74" /><Relationship Type="http://schemas.openxmlformats.org/officeDocument/2006/relationships/officeDocument" Target="/ppt/presentation.xml" Id="Rbc966787e976483f" /></Relationships>
</file>

<file path=ppt/presentation.xml><?xml version="1.0" encoding="utf-8"?>
<p:presentation xmlns:p="http://schemas.openxmlformats.org/presentationml/2006/main">
  <p:sldMasterIdLst>
    <p:sldMasterId xmlns:r="http://schemas.openxmlformats.org/officeDocument/2006/relationships" id="2147483648" r:id="Rf4956c3eca014e43"/>
  </p:sldMasterIdLst>
  <p:notesMasterIdLst>
    <p:notesMasterId xmlns:r="http://schemas.openxmlformats.org/officeDocument/2006/relationships" r:id="R2ad64d6278014e71"/>
  </p:notesMasterIdLst>
  <p:sldIdLst>
    <p:sldId xmlns:r="http://schemas.openxmlformats.org/officeDocument/2006/relationships" id="256" r:id="R5459739ea1054632"/>
    <p:sldId xmlns:r="http://schemas.openxmlformats.org/officeDocument/2006/relationships" id="257" r:id="R3e196d4a90c148cb"/>
    <p:sldId xmlns:r="http://schemas.openxmlformats.org/officeDocument/2006/relationships" id="258" r:id="R335737f9281c4f23"/>
    <p:sldId xmlns:r="http://schemas.openxmlformats.org/officeDocument/2006/relationships" id="259" r:id="Red1f5295fe7941e3"/>
    <p:sldId xmlns:r="http://schemas.openxmlformats.org/officeDocument/2006/relationships" id="260" r:id="R2a632aef676f46ca"/>
    <p:sldId xmlns:r="http://schemas.openxmlformats.org/officeDocument/2006/relationships" id="261" r:id="Rfc0120a1fa744f23"/>
    <p:sldId xmlns:r="http://schemas.openxmlformats.org/officeDocument/2006/relationships" id="262" r:id="Re1d9c67434224af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09b8b5aad74cea" /><Relationship Type="http://schemas.openxmlformats.org/officeDocument/2006/relationships/slideMaster" Target="/ppt/slideMasters/slideMaster1.xml" Id="Rf4956c3eca014e43" /><Relationship Type="http://schemas.openxmlformats.org/officeDocument/2006/relationships/notesMaster" Target="/ppt/notesMasters/notesMaster1.xml" Id="R2ad64d6278014e71" /><Relationship Type="http://schemas.openxmlformats.org/officeDocument/2006/relationships/presProps" Target="/ppt/presProps.xml" Id="R0e98a1ea0fca4979" /><Relationship Type="http://schemas.openxmlformats.org/officeDocument/2006/relationships/tableStyles" Target="/ppt/tableStyles.xml" Id="R4ee200d127bd413f" /><Relationship Type="http://schemas.openxmlformats.org/officeDocument/2006/relationships/slide" Target="/ppt/slides/slide1.xml" Id="R5459739ea1054632" /><Relationship Type="http://schemas.openxmlformats.org/officeDocument/2006/relationships/slide" Target="/ppt/slides/slide2.xml" Id="R3e196d4a90c148cb" /><Relationship Type="http://schemas.openxmlformats.org/officeDocument/2006/relationships/slide" Target="/ppt/slides/slide3.xml" Id="R335737f9281c4f23" /><Relationship Type="http://schemas.openxmlformats.org/officeDocument/2006/relationships/slide" Target="/ppt/slides/slide4.xml" Id="Red1f5295fe7941e3" /><Relationship Type="http://schemas.openxmlformats.org/officeDocument/2006/relationships/slide" Target="/ppt/slides/slide5.xml" Id="R2a632aef676f46ca" /><Relationship Type="http://schemas.openxmlformats.org/officeDocument/2006/relationships/slide" Target="/ppt/slides/slide6.xml" Id="Rfc0120a1fa744f23" /><Relationship Type="http://schemas.openxmlformats.org/officeDocument/2006/relationships/slide" Target="/ppt/slides/slide7.xml" Id="Re1d9c67434224a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2d58f40b314a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389b6876634b6c" /><Relationship Type="http://schemas.openxmlformats.org/officeDocument/2006/relationships/notesMaster" Target="/ppt/notesMasters/notesMaster1.xml" Id="R3a11fe91225043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8b19dee1f44254" /><Relationship Type="http://schemas.openxmlformats.org/officeDocument/2006/relationships/notesMaster" Target="/ppt/notesMasters/notesMaster1.xml" Id="Rcc1c76bc0b8044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b3c10514c948a0" /><Relationship Type="http://schemas.openxmlformats.org/officeDocument/2006/relationships/notesMaster" Target="/ppt/notesMasters/notesMaster1.xml" Id="Rbad6fb6fc9b040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f7b73d370342e2" /><Relationship Type="http://schemas.openxmlformats.org/officeDocument/2006/relationships/notesMaster" Target="/ppt/notesMasters/notesMaster1.xml" Id="Re672f4878adf4b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bd9bf5658c4c4e" /><Relationship Type="http://schemas.openxmlformats.org/officeDocument/2006/relationships/notesMaster" Target="/ppt/notesMasters/notesMaster1.xml" Id="R59f295e2bfe247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8ba33e37f9435e" /><Relationship Type="http://schemas.openxmlformats.org/officeDocument/2006/relationships/notesMaster" Target="/ppt/notesMasters/notesMaster1.xml" Id="R0f93aac751d344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88d15417ba4396" /><Relationship Type="http://schemas.openxmlformats.org/officeDocument/2006/relationships/notesMaster" Target="/ppt/notesMasters/notesMaster1.xml" Id="R144182a534a249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Today I am going to present my project, EmoScope, a privacy-preserving mobile system for multimodal emotion recognition. The motivation is simple: many people want to understand their emotional changes, but traditional mood-tracking apps usually ask users to manually record how they feel. EmoScope tries to make this process more continuous by combining facial expression, voice, recent memory records, and user-controlled intervention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starts from self-report. Mood diaries are useful, but they are easy to forget, especially when users are stressed, tired, or anxious. In those moments, the user may need support the most, but may be least willing to open an app and write a record. This creates missing data and makes long-term reflection difficult. So the research question behind EmoScope is: can a normal smartphone collect helpful emotional context while keeping sensitive biometric analysis mainly on the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design has four major parts. First, the camera captures facial frames and MediaPipe FaceLandmarker extracts 52 blendshape coefficients. Second, these signals are mapped into ten emotion dimensions and smoothed by an exponentially weighted moving average. Third, voice input, speech rate, ambient light, and recent records are fused into a short supportive response. Finally, the local memory engine summarizes 30-day emotional trends and keeps the user's records available for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user interfaces. The home radar gives immediate feedback and quick recording. The wellness workshop offers low-intensity actions such as journaling, breathing, gratitude practice, and weekly reports. The history page helps users review longer-term emotional changes. The point is not only to detect emotion, but to close the loop from sensing, to interpretation, to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prototype evaluation, I focused on functional feasibility. Facial inference ran at about 4 Hertz under normal lighting. The wellness score changed by more than 40 points between joy-dominant and anxiety-dominant conditions. The smoothing filter reduced visible frame jitter to about 3 to 5 percentage points. The memory engine's ten-emotion parser reached 100 percent extraction accuracy on synthetic records, and SOS confirmation opened in less than half a second.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Privacy and user agency are central to the design. Raw facial inference happens locally, and the app stores records on the device. Only structured textual context is sent to the language model when the user asks for feedback. Emergency support is also user-confirmed: negative facial signals can show an SOS cue, but the app does not automatically contact others. This avoids turning emotion recognition into an uncontrolled high-stakes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EmoScope shows that a smartphone can combine on-device facial analysis, speech-rate estimation, local memory analytics, and user-confirmed SOS support into one mental wellness workflow. The current prototype is not a clinical diagnostic tool, and future work should include real user studies, fairness evaluation, and comparison with validated scales such as PHQ-9 or GAD-7. But as a prototype, it demonstrates a practical direction for privacy-preserving, multimodal emotional self-awareness.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89373eddb94f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a1aeb882bc458c" /><Relationship Type="http://schemas.openxmlformats.org/officeDocument/2006/relationships/slideLayout" Target="/ppt/slideLayouts/slideLayout1.xml" Id="R7424a009ff3a4c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24a009ff3a4c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fb249bddde4284" /><Relationship Type="http://schemas.openxmlformats.org/officeDocument/2006/relationships/image" Target="/ppt/media/image.png" Id="R11be6ce88fd8465a" /><Relationship Type="http://schemas.openxmlformats.org/officeDocument/2006/relationships/image" Target="/ppt/media/image2.png" Id="R394fb2dbfeb54c43" /><Relationship Type="http://schemas.openxmlformats.org/officeDocument/2006/relationships/notesSlide" Target="/ppt/notesSlides/notesSlide1.xml" Id="Ra6026b27fc774e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60bf4d83744127" /><Relationship Type="http://schemas.openxmlformats.org/officeDocument/2006/relationships/notesSlide" Target="/ppt/notesSlides/notesSlide2.xml" Id="R2d3137132f5e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61b682de1344a8" /><Relationship Type="http://schemas.openxmlformats.org/officeDocument/2006/relationships/notesSlide" Target="/ppt/notesSlides/notesSlide3.xml" Id="R5649bac41e1e42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59cc917c5c4cea" /><Relationship Type="http://schemas.openxmlformats.org/officeDocument/2006/relationships/image" Target="/ppt/media/image3.png" Id="R7bfed22f09a54fe1" /><Relationship Type="http://schemas.openxmlformats.org/officeDocument/2006/relationships/image" Target="/ppt/media/image4.png" Id="R216a0da897ed4188" /><Relationship Type="http://schemas.openxmlformats.org/officeDocument/2006/relationships/image" Target="/ppt/media/image5.png" Id="Rb3da4fa6de7b4c51" /><Relationship Type="http://schemas.openxmlformats.org/officeDocument/2006/relationships/notesSlide" Target="/ppt/notesSlides/notesSlide4.xml" Id="R85284dd11d694d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47fd66452f466a" /><Relationship Type="http://schemas.openxmlformats.org/officeDocument/2006/relationships/notesSlide" Target="/ppt/notesSlides/notesSlide5.xml" Id="R262120cebb5e41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a16665d84a4e48" /><Relationship Type="http://schemas.openxmlformats.org/officeDocument/2006/relationships/image" Target="/ppt/media/image6.png" Id="Rd23f8ca2c0b14bf0" /><Relationship Type="http://schemas.openxmlformats.org/officeDocument/2006/relationships/image" Target="/ppt/media/image7.png" Id="Rcbfc4028bace4488" /><Relationship Type="http://schemas.openxmlformats.org/officeDocument/2006/relationships/notesSlide" Target="/ppt/notesSlides/notesSlide6.xml" Id="R0ce64e1683ed4b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a8b128a2ed456b" /><Relationship Type="http://schemas.openxmlformats.org/officeDocument/2006/relationships/notesSlide" Target="/ppt/notesSlides/notesSlide7.xml" Id="R2478ff2371794247" /></Relationships>
</file>

<file path=ppt/slides/slide1.xml><?xml version="1.0" encoding="utf-8"?>
<p:sld xmlns:p="http://schemas.openxmlformats.org/presentationml/2006/main">
  <p:cSld>
    <p:bg>
      <p:bgPr>
        <a:gradFill xmlns:a="http://schemas.openxmlformats.org/drawingml/2006/main">
          <a:gsLst>
            <a:gs pos="0">
              <a:srgbClr val="F8FAFC"/>
            </a:gs>
            <a:gs pos="58000">
              <a:srgbClr val="F1EDFF"/>
            </a:gs>
            <a:gs pos="100000">
              <a:srgbClr val="FFFFFF"/>
            </a:gs>
          </a:gsLst>
          <a:lin ang="810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7E2CBD-21EE-4117-B437-026DEB9DBD28}"/>
              </a:ext>
            </a:extLst>
          </p:cNvPr>
          <p:cNvSpPr>
            <a:spLocks xmlns:a="http://schemas.openxmlformats.org/drawingml/2006/main" noGrp="1"/>
          </p:cNvSpPr>
          <p:nvPr/>
        </p:nvSpPr>
        <p:spPr>
          <a:xfrm xmlns:a="http://schemas.openxmlformats.org/drawingml/2006/main">
            <a:off x="609600" y="666750"/>
            <a:ext cx="533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800" b="1">
                <a:solidFill>
                  <a:srgbClr val="4C3FD7"/>
                </a:solidFill>
                <a:latin typeface="Aptos"/>
                <a:ea typeface="Aptos"/>
                <a:cs typeface="Aptos"/>
              </a:defRPr>
            </a:pPr>
            <a:r>
              <a:rPr sz="4800" b="1">
                <a:solidFill>
                  <a:srgbClr val="4C3FD7"/>
                </a:solidFill>
                <a:latin typeface="Aptos"/>
                <a:ea typeface="Aptos"/>
                <a:cs typeface="Aptos"/>
              </a:rPr>
              <a:t>EmoScope</a:t>
            </a:r>
          </a:p>
        </p:txBody>
      </p:sp>
      <p:sp>
        <p:nvSpPr>
          <p:cNvPr id="2" name="">
            <a:extLst xmlns:a="http://schemas.openxmlformats.org/drawingml/2006/main">
              <a:ext uri="{FF2B5EF4-FFF2-40B4-BE49-F238E27FC236}">
                <a16:creationId xmlns:a16="http://schemas.microsoft.com/office/drawing/2014/main" id="{5B031BF2-B091-488D-8322-0DD745692514}"/>
              </a:ext>
            </a:extLst>
          </p:cNvPr>
          <p:cNvSpPr>
            <a:spLocks xmlns:a="http://schemas.openxmlformats.org/drawingml/2006/main" noGrp="1"/>
          </p:cNvSpPr>
          <p:nvPr/>
        </p:nvSpPr>
        <p:spPr>
          <a:xfrm xmlns:a="http://schemas.openxmlformats.org/drawingml/2006/main">
            <a:off x="647700" y="1504950"/>
            <a:ext cx="609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111827"/>
                </a:solidFill>
                <a:latin typeface="Aptos"/>
                <a:ea typeface="Aptos"/>
                <a:cs typeface="Aptos"/>
              </a:defRPr>
            </a:pPr>
            <a:r>
              <a:rPr sz="1950" b="1">
                <a:solidFill>
                  <a:srgbClr val="111827"/>
                </a:solidFill>
                <a:latin typeface="Aptos"/>
                <a:ea typeface="Aptos"/>
                <a:cs typeface="Aptos"/>
              </a:rPr>
              <a:t>A Privacy-Preserving Mobile System for Multimodal Emotion Recognition</a:t>
            </a:r>
          </a:p>
        </p:txBody>
      </p:sp>
      <p:sp>
        <p:nvSpPr>
          <p:cNvPr id="3" name="">
            <a:extLst xmlns:a="http://schemas.openxmlformats.org/drawingml/2006/main">
              <a:ext uri="{FF2B5EF4-FFF2-40B4-BE49-F238E27FC236}">
                <a16:creationId xmlns:a16="http://schemas.microsoft.com/office/drawing/2014/main" id="{99E74886-CB15-478B-B2B1-0E0089B2D322}"/>
              </a:ext>
            </a:extLst>
          </p:cNvPr>
          <p:cNvSpPr>
            <a:spLocks xmlns:a="http://schemas.openxmlformats.org/drawingml/2006/main" noGrp="1"/>
          </p:cNvSpPr>
          <p:nvPr/>
        </p:nvSpPr>
        <p:spPr>
          <a:xfrm xmlns:a="http://schemas.openxmlformats.org/drawingml/2006/main">
            <a:off x="666750" y="25146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475569"/>
                </a:solidFill>
                <a:latin typeface="Aptos"/>
                <a:ea typeface="Aptos"/>
                <a:cs typeface="Aptos"/>
              </a:defRPr>
            </a:pPr>
            <a:r>
              <a:rPr sz="1275">
                <a:solidFill>
                  <a:srgbClr val="475569"/>
                </a:solidFill>
                <a:latin typeface="Aptos"/>
                <a:ea typeface="Aptos"/>
                <a:cs typeface="Aptos"/>
              </a:rPr>
              <a:t>Ziyang Huang 2025112735</a:t>
            </a:r>
          </a:p>
          <a:p xmlns:a="http://schemas.openxmlformats.org/drawingml/2006/main">
            <a:pPr>
              <a:defRPr sz="1275">
                <a:solidFill>
                  <a:srgbClr val="475569"/>
                </a:solidFill>
                <a:latin typeface="Aptos"/>
                <a:ea typeface="Aptos"/>
                <a:cs typeface="Aptos"/>
              </a:defRPr>
            </a:pPr>
            <a:r>
              <a:rPr sz="1275">
                <a:solidFill>
                  <a:srgbClr val="475569"/>
                </a:solidFill>
                <a:latin typeface="Aptos"/>
                <a:ea typeface="Aptos"/>
                <a:cs typeface="Aptos"/>
              </a:rPr>
              <a:t>School of Economics and Management, Harbin Institute of Technology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1be6ce88fd8465a"/>
          <a:srcRect xmlns:a="http://schemas.openxmlformats.org/drawingml/2006/main" l="0" t="50" r="0" b="50"/>
          <a:stretch xmlns:a="http://schemas.openxmlformats.org/drawingml/2006/main">
            <a:fillRect l="0" t="0" r="0" b="0"/>
          </a:stretch>
        </p:blipFill>
        <p:spPr>
          <a:xfrm xmlns:a="http://schemas.openxmlformats.org/drawingml/2006/main">
            <a:off x="7191375" y="590550"/>
            <a:ext cx="2381250" cy="5286375"/>
          </a:xfrm>
          <a:prstGeom xmlns:a="http://schemas.openxmlformats.org/drawingml/2006/main" prst="roundRect">
            <a:avLst>
              <a:gd name="adj" fmla="val 6400"/>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94fb2dbfeb54c43"/>
          <a:srcRect xmlns:a="http://schemas.openxmlformats.org/drawingml/2006/main" l="0" t="109" r="0" b="109"/>
          <a:stretch xmlns:a="http://schemas.openxmlformats.org/drawingml/2006/main">
            <a:fillRect l="0" t="0" r="0" b="0"/>
          </a:stretch>
        </p:blipFill>
        <p:spPr>
          <a:xfrm xmlns:a="http://schemas.openxmlformats.org/drawingml/2006/main">
            <a:off x="9429750" y="876300"/>
            <a:ext cx="2190750" cy="4857750"/>
          </a:xfrm>
          <a:prstGeom xmlns:a="http://schemas.openxmlformats.org/drawingml/2006/main" prst="roundRect">
            <a:avLst>
              <a:gd name="adj" fmla="val 6957"/>
            </a:avLst>
          </a:prstGeom>
        </p:spPr>
      </p:pic>
      <p:sp>
        <p:nvSpPr>
          <p:cNvPr id="6" name="">
            <a:extLst xmlns:a="http://schemas.openxmlformats.org/drawingml/2006/main">
              <a:ext uri="{FF2B5EF4-FFF2-40B4-BE49-F238E27FC236}">
                <a16:creationId xmlns:a16="http://schemas.microsoft.com/office/drawing/2014/main" id="{0868F540-8724-4E57-B462-381766C0D619}"/>
              </a:ext>
            </a:extLst>
          </p:cNvPr>
          <p:cNvSpPr>
            <a:spLocks xmlns:a="http://schemas.openxmlformats.org/drawingml/2006/main" noGrp="1"/>
          </p:cNvSpPr>
          <p:nvPr/>
        </p:nvSpPr>
        <p:spPr>
          <a:xfrm xmlns:a="http://schemas.openxmlformats.org/drawingml/2006/main">
            <a:off x="647700" y="4095750"/>
            <a:ext cx="5715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65F445A-457C-4722-9728-8F8FFCB211CB}"/>
              </a:ext>
            </a:extLst>
          </p:cNvPr>
          <p:cNvSpPr>
            <a:spLocks xmlns:a="http://schemas.openxmlformats.org/drawingml/2006/main" noGrp="1"/>
          </p:cNvSpPr>
          <p:nvPr/>
        </p:nvSpPr>
        <p:spPr>
          <a:xfrm xmlns:a="http://schemas.openxmlformats.org/drawingml/2006/main">
            <a:off x="647700" y="4095750"/>
            <a:ext cx="66675" cy="12001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8" name="">
            <a:extLst xmlns:a="http://schemas.openxmlformats.org/drawingml/2006/main">
              <a:ext uri="{FF2B5EF4-FFF2-40B4-BE49-F238E27FC236}">
                <a16:creationId xmlns:a16="http://schemas.microsoft.com/office/drawing/2014/main" id="{9BFFA8B0-F17E-48B2-8F6E-3CBFB49C13F1}"/>
              </a:ext>
            </a:extLst>
          </p:cNvPr>
          <p:cNvSpPr>
            <a:spLocks xmlns:a="http://schemas.openxmlformats.org/drawingml/2006/main" noGrp="1"/>
          </p:cNvSpPr>
          <p:nvPr/>
        </p:nvSpPr>
        <p:spPr>
          <a:xfrm xmlns:a="http://schemas.openxmlformats.org/drawingml/2006/main">
            <a:off x="876300" y="4267200"/>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Thesis</a:t>
            </a:r>
          </a:p>
        </p:txBody>
      </p:sp>
      <p:sp>
        <p:nvSpPr>
          <p:cNvPr id="9" name="">
            <a:extLst xmlns:a="http://schemas.openxmlformats.org/drawingml/2006/main">
              <a:ext uri="{FF2B5EF4-FFF2-40B4-BE49-F238E27FC236}">
                <a16:creationId xmlns:a16="http://schemas.microsoft.com/office/drawing/2014/main" id="{7CF81EAC-B382-444C-9BFE-2B9ADC97E4E1}"/>
              </a:ext>
            </a:extLst>
          </p:cNvPr>
          <p:cNvSpPr>
            <a:spLocks xmlns:a="http://schemas.openxmlformats.org/drawingml/2006/main" noGrp="1"/>
          </p:cNvSpPr>
          <p:nvPr/>
        </p:nvSpPr>
        <p:spPr>
          <a:xfrm xmlns:a="http://schemas.openxmlformats.org/drawingml/2006/main">
            <a:off x="876300" y="4629150"/>
            <a:ext cx="5257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A smartphone can combine facial, vocal, contextual, and historical signals into a continuous wellness workflow while keeping biometric analysis primarily on-device.</a:t>
            </a:r>
          </a:p>
        </p:txBody>
      </p:sp>
      <p:sp>
        <p:nvSpPr>
          <p:cNvPr id="10" name="">
            <a:extLst xmlns:a="http://schemas.openxmlformats.org/drawingml/2006/main">
              <a:ext uri="{FF2B5EF4-FFF2-40B4-BE49-F238E27FC236}">
                <a16:creationId xmlns:a16="http://schemas.microsoft.com/office/drawing/2014/main" id="{3C1E5077-3C2E-43C4-8EDE-721F040F2C33}"/>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1/7</a:t>
            </a:r>
          </a:p>
        </p:txBody>
      </p:sp>
    </p:spTree>
    <p:extLst>
      <p:ext uri="{BB962C8B-B14F-4D97-AF65-F5344CB8AC3E}">
        <p14:creationId xmlns:p14="http://schemas.microsoft.com/office/powerpoint/2010/main" val="4107439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42B071-EE9C-4387-BE0A-8DAB036FB1C8}"/>
              </a:ext>
            </a:extLst>
          </p:cNvPr>
          <p:cNvSpPr>
            <a:spLocks xmlns:a="http://schemas.openxmlformats.org/drawingml/2006/main" noGrp="1"/>
          </p:cNvSpPr>
          <p:nvPr/>
        </p:nvSpPr>
        <p:spPr>
          <a:xfrm xmlns:a="http://schemas.openxmlformats.org/drawingml/2006/main">
            <a:off x="609600" y="4572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11827"/>
                </a:solidFill>
                <a:latin typeface="Aptos"/>
                <a:ea typeface="Aptos"/>
                <a:cs typeface="Aptos"/>
              </a:defRPr>
            </a:pPr>
            <a:r>
              <a:rPr sz="2700" b="1">
                <a:solidFill>
                  <a:srgbClr val="111827"/>
                </a:solidFill>
                <a:latin typeface="Aptos"/>
                <a:ea typeface="Aptos"/>
                <a:cs typeface="Aptos"/>
              </a:rPr>
              <a:t>The problem: self-report breaks down</a:t>
            </a:r>
          </a:p>
        </p:txBody>
      </p:sp>
      <p:sp>
        <p:nvSpPr>
          <p:cNvPr id="2" name="">
            <a:extLst xmlns:a="http://schemas.openxmlformats.org/drawingml/2006/main">
              <a:ext uri="{FF2B5EF4-FFF2-40B4-BE49-F238E27FC236}">
                <a16:creationId xmlns:a16="http://schemas.microsoft.com/office/drawing/2014/main" id="{C825C26A-2B19-4D4D-AA90-C6FDD478B5E0}"/>
              </a:ext>
            </a:extLst>
          </p:cNvPr>
          <p:cNvSpPr>
            <a:spLocks xmlns:a="http://schemas.openxmlformats.org/drawingml/2006/main" noGrp="1"/>
          </p:cNvSpPr>
          <p:nvPr/>
        </p:nvSpPr>
        <p:spPr>
          <a:xfrm xmlns:a="http://schemas.openxmlformats.org/drawingml/2006/main">
            <a:off x="628650" y="99060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Mood diaries are useful, but they miss the moments when support is most needed.</a:t>
            </a:r>
          </a:p>
        </p:txBody>
      </p:sp>
      <p:sp>
        <p:nvSpPr>
          <p:cNvPr id="3" name="">
            <a:extLst xmlns:a="http://schemas.openxmlformats.org/drawingml/2006/main">
              <a:ext uri="{FF2B5EF4-FFF2-40B4-BE49-F238E27FC236}">
                <a16:creationId xmlns:a16="http://schemas.microsoft.com/office/drawing/2014/main" id="{3E72C581-F2C8-4459-AA68-7B0984CF6CCD}"/>
              </a:ext>
            </a:extLst>
          </p:cNvPr>
          <p:cNvSpPr>
            <a:spLocks xmlns:a="http://schemas.openxmlformats.org/drawingml/2006/main" noGrp="1"/>
          </p:cNvSpPr>
          <p:nvPr/>
        </p:nvSpPr>
        <p:spPr>
          <a:xfrm xmlns:a="http://schemas.openxmlformats.org/drawingml/2006/main">
            <a:off x="762000" y="1638300"/>
            <a:ext cx="323850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0092BFB0-45D6-44D8-BC42-3765248574AE}"/>
              </a:ext>
            </a:extLst>
          </p:cNvPr>
          <p:cNvSpPr>
            <a:spLocks xmlns:a="http://schemas.openxmlformats.org/drawingml/2006/main" noGrp="1"/>
          </p:cNvSpPr>
          <p:nvPr/>
        </p:nvSpPr>
        <p:spPr>
          <a:xfrm xmlns:a="http://schemas.openxmlformats.org/drawingml/2006/main">
            <a:off x="762000" y="1638300"/>
            <a:ext cx="66675" cy="16192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5" name="">
            <a:extLst xmlns:a="http://schemas.openxmlformats.org/drawingml/2006/main">
              <a:ext uri="{FF2B5EF4-FFF2-40B4-BE49-F238E27FC236}">
                <a16:creationId xmlns:a16="http://schemas.microsoft.com/office/drawing/2014/main" id="{AF6D9266-1BAC-4BC2-8E47-CBA6220AD06D}"/>
              </a:ext>
            </a:extLst>
          </p:cNvPr>
          <p:cNvSpPr>
            <a:spLocks xmlns:a="http://schemas.openxmlformats.org/drawingml/2006/main" noGrp="1"/>
          </p:cNvSpPr>
          <p:nvPr/>
        </p:nvSpPr>
        <p:spPr>
          <a:xfrm xmlns:a="http://schemas.openxmlformats.org/drawingml/2006/main">
            <a:off x="990600" y="18097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Recall bias</a:t>
            </a:r>
          </a:p>
        </p:txBody>
      </p:sp>
      <p:sp>
        <p:nvSpPr>
          <p:cNvPr id="6" name="">
            <a:extLst xmlns:a="http://schemas.openxmlformats.org/drawingml/2006/main">
              <a:ext uri="{FF2B5EF4-FFF2-40B4-BE49-F238E27FC236}">
                <a16:creationId xmlns:a16="http://schemas.microsoft.com/office/drawing/2014/main" id="{93206946-4560-4F2D-91AC-33C0058C5A4F}"/>
              </a:ext>
            </a:extLst>
          </p:cNvPr>
          <p:cNvSpPr>
            <a:spLocks xmlns:a="http://schemas.openxmlformats.org/drawingml/2006/main" noGrp="1"/>
          </p:cNvSpPr>
          <p:nvPr/>
        </p:nvSpPr>
        <p:spPr>
          <a:xfrm xmlns:a="http://schemas.openxmlformats.org/drawingml/2006/main">
            <a:off x="990600" y="21717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Users reconstruct feelings after the fact, so records may not reflect the original moment.</a:t>
            </a:r>
          </a:p>
        </p:txBody>
      </p:sp>
      <p:sp>
        <p:nvSpPr>
          <p:cNvPr id="7" name="">
            <a:extLst xmlns:a="http://schemas.openxmlformats.org/drawingml/2006/main">
              <a:ext uri="{FF2B5EF4-FFF2-40B4-BE49-F238E27FC236}">
                <a16:creationId xmlns:a16="http://schemas.microsoft.com/office/drawing/2014/main" id="{5459949A-2A42-4994-8420-3D57C57FBE75}"/>
              </a:ext>
            </a:extLst>
          </p:cNvPr>
          <p:cNvSpPr>
            <a:spLocks xmlns:a="http://schemas.openxmlformats.org/drawingml/2006/main" noGrp="1"/>
          </p:cNvSpPr>
          <p:nvPr/>
        </p:nvSpPr>
        <p:spPr>
          <a:xfrm xmlns:a="http://schemas.openxmlformats.org/drawingml/2006/main">
            <a:off x="4476750" y="1638300"/>
            <a:ext cx="323850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B3129C2-0D8F-4D8B-9F64-BA1E992EED6A}"/>
              </a:ext>
            </a:extLst>
          </p:cNvPr>
          <p:cNvSpPr>
            <a:spLocks xmlns:a="http://schemas.openxmlformats.org/drawingml/2006/main" noGrp="1"/>
          </p:cNvSpPr>
          <p:nvPr/>
        </p:nvSpPr>
        <p:spPr>
          <a:xfrm xmlns:a="http://schemas.openxmlformats.org/drawingml/2006/main">
            <a:off x="4476750" y="1638300"/>
            <a:ext cx="66675" cy="16192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4CC8EE58-FE37-433E-90B2-C28B000C14ED}"/>
              </a:ext>
            </a:extLst>
          </p:cNvPr>
          <p:cNvSpPr>
            <a:spLocks xmlns:a="http://schemas.openxmlformats.org/drawingml/2006/main" noGrp="1"/>
          </p:cNvSpPr>
          <p:nvPr/>
        </p:nvSpPr>
        <p:spPr>
          <a:xfrm xmlns:a="http://schemas.openxmlformats.org/drawingml/2006/main">
            <a:off x="4705350" y="18097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Low compliance</a:t>
            </a:r>
          </a:p>
        </p:txBody>
      </p:sp>
      <p:sp>
        <p:nvSpPr>
          <p:cNvPr id="10" name="">
            <a:extLst xmlns:a="http://schemas.openxmlformats.org/drawingml/2006/main">
              <a:ext uri="{FF2B5EF4-FFF2-40B4-BE49-F238E27FC236}">
                <a16:creationId xmlns:a16="http://schemas.microsoft.com/office/drawing/2014/main" id="{5D4DCA50-767D-493F-90BD-3D02A3E31A68}"/>
              </a:ext>
            </a:extLst>
          </p:cNvPr>
          <p:cNvSpPr>
            <a:spLocks xmlns:a="http://schemas.openxmlformats.org/drawingml/2006/main" noGrp="1"/>
          </p:cNvSpPr>
          <p:nvPr/>
        </p:nvSpPr>
        <p:spPr>
          <a:xfrm xmlns:a="http://schemas.openxmlformats.org/drawingml/2006/main">
            <a:off x="4705350" y="21717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Recording requires effort; engagement often drops quickly in mental health apps.</a:t>
            </a:r>
          </a:p>
        </p:txBody>
      </p:sp>
      <p:sp>
        <p:nvSpPr>
          <p:cNvPr id="11" name="">
            <a:extLst xmlns:a="http://schemas.openxmlformats.org/drawingml/2006/main">
              <a:ext uri="{FF2B5EF4-FFF2-40B4-BE49-F238E27FC236}">
                <a16:creationId xmlns:a16="http://schemas.microsoft.com/office/drawing/2014/main" id="{FF4AE7AA-C4C8-4486-9832-29234E28E6CE}"/>
              </a:ext>
            </a:extLst>
          </p:cNvPr>
          <p:cNvSpPr>
            <a:spLocks xmlns:a="http://schemas.openxmlformats.org/drawingml/2006/main" noGrp="1"/>
          </p:cNvSpPr>
          <p:nvPr/>
        </p:nvSpPr>
        <p:spPr>
          <a:xfrm xmlns:a="http://schemas.openxmlformats.org/drawingml/2006/main">
            <a:off x="8191500" y="1638300"/>
            <a:ext cx="323850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D27CB5F-898A-4FC4-9805-D7A78F6E5986}"/>
              </a:ext>
            </a:extLst>
          </p:cNvPr>
          <p:cNvSpPr>
            <a:spLocks xmlns:a="http://schemas.openxmlformats.org/drawingml/2006/main" noGrp="1"/>
          </p:cNvSpPr>
          <p:nvPr/>
        </p:nvSpPr>
        <p:spPr>
          <a:xfrm xmlns:a="http://schemas.openxmlformats.org/drawingml/2006/main">
            <a:off x="8191500" y="1638300"/>
            <a:ext cx="66675" cy="161925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03838980-2760-4F49-842A-1F943F478F8A}"/>
              </a:ext>
            </a:extLst>
          </p:cNvPr>
          <p:cNvSpPr>
            <a:spLocks xmlns:a="http://schemas.openxmlformats.org/drawingml/2006/main" noGrp="1"/>
          </p:cNvSpPr>
          <p:nvPr/>
        </p:nvSpPr>
        <p:spPr>
          <a:xfrm xmlns:a="http://schemas.openxmlformats.org/drawingml/2006/main">
            <a:off x="8420100" y="18097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Missing high-need data</a:t>
            </a:r>
          </a:p>
        </p:txBody>
      </p:sp>
      <p:sp>
        <p:nvSpPr>
          <p:cNvPr id="14" name="">
            <a:extLst xmlns:a="http://schemas.openxmlformats.org/drawingml/2006/main">
              <a:ext uri="{FF2B5EF4-FFF2-40B4-BE49-F238E27FC236}">
                <a16:creationId xmlns:a16="http://schemas.microsoft.com/office/drawing/2014/main" id="{10764053-BA72-41FF-B0DB-6A1BC069134F}"/>
              </a:ext>
            </a:extLst>
          </p:cNvPr>
          <p:cNvSpPr>
            <a:spLocks xmlns:a="http://schemas.openxmlformats.org/drawingml/2006/main" noGrp="1"/>
          </p:cNvSpPr>
          <p:nvPr/>
        </p:nvSpPr>
        <p:spPr>
          <a:xfrm xmlns:a="http://schemas.openxmlformats.org/drawingml/2006/main">
            <a:off x="8420100" y="21717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Stress or fatigue can make users less willing to open the app and write.</a:t>
            </a:r>
          </a:p>
        </p:txBody>
      </p:sp>
      <p:sp>
        <p:nvSpPr>
          <p:cNvPr id="15" name="">
            <a:extLst xmlns:a="http://schemas.openxmlformats.org/drawingml/2006/main">
              <a:ext uri="{FF2B5EF4-FFF2-40B4-BE49-F238E27FC236}">
                <a16:creationId xmlns:a16="http://schemas.microsoft.com/office/drawing/2014/main" id="{463F5903-CE9B-4AB0-AB14-280CF3C50256}"/>
              </a:ext>
            </a:extLst>
          </p:cNvPr>
          <p:cNvSpPr>
            <a:spLocks xmlns:a="http://schemas.openxmlformats.org/drawingml/2006/main" noGrp="1"/>
          </p:cNvSpPr>
          <p:nvPr/>
        </p:nvSpPr>
        <p:spPr>
          <a:xfrm xmlns:a="http://schemas.openxmlformats.org/drawingml/2006/main">
            <a:off x="876300" y="40005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4C3FD7"/>
                </a:solidFill>
                <a:latin typeface="Aptos"/>
                <a:ea typeface="Aptos"/>
                <a:cs typeface="Aptos"/>
              </a:defRPr>
            </a:pPr>
            <a:r>
              <a:rPr sz="1500" b="1">
                <a:solidFill>
                  <a:srgbClr val="4C3FD7"/>
                </a:solidFill>
                <a:latin typeface="Aptos"/>
                <a:ea typeface="Aptos"/>
                <a:cs typeface="Aptos"/>
              </a:rPr>
              <a:t>Research question</a:t>
            </a:r>
          </a:p>
        </p:txBody>
      </p:sp>
      <p:sp>
        <p:nvSpPr>
          <p:cNvPr id="16" name="">
            <a:extLst xmlns:a="http://schemas.openxmlformats.org/drawingml/2006/main">
              <a:ext uri="{FF2B5EF4-FFF2-40B4-BE49-F238E27FC236}">
                <a16:creationId xmlns:a16="http://schemas.microsoft.com/office/drawing/2014/main" id="{DA512D15-D840-48F6-A27E-E02397E10A5C}"/>
              </a:ext>
            </a:extLst>
          </p:cNvPr>
          <p:cNvSpPr>
            <a:spLocks xmlns:a="http://schemas.openxmlformats.org/drawingml/2006/main" noGrp="1"/>
          </p:cNvSpPr>
          <p:nvPr/>
        </p:nvSpPr>
        <p:spPr>
          <a:xfrm xmlns:a="http://schemas.openxmlformats.org/drawingml/2006/main">
            <a:off x="876300" y="4400550"/>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111827"/>
                </a:solidFill>
                <a:latin typeface="Aptos"/>
                <a:ea typeface="Aptos"/>
                <a:cs typeface="Aptos"/>
              </a:defRPr>
            </a:pPr>
            <a:r>
              <a:rPr sz="2250" b="1">
                <a:solidFill>
                  <a:srgbClr val="111827"/>
                </a:solidFill>
                <a:latin typeface="Aptos"/>
                <a:ea typeface="Aptos"/>
                <a:cs typeface="Aptos"/>
              </a:rPr>
              <a:t>Can a consumer smartphone collect helpful emotional context while keeping sensitive biometric analysis mainly on the device?</a:t>
            </a:r>
          </a:p>
        </p:txBody>
      </p:sp>
      <p:sp>
        <p:nvSpPr>
          <p:cNvPr id="17" name="">
            <a:extLst xmlns:a="http://schemas.openxmlformats.org/drawingml/2006/main">
              <a:ext uri="{FF2B5EF4-FFF2-40B4-BE49-F238E27FC236}">
                <a16:creationId xmlns:a16="http://schemas.microsoft.com/office/drawing/2014/main" id="{7B70E55D-341E-4A75-9967-574F52CBB1B8}"/>
              </a:ext>
            </a:extLst>
          </p:cNvPr>
          <p:cNvSpPr>
            <a:spLocks xmlns:a="http://schemas.openxmlformats.org/drawingml/2006/main" noGrp="1"/>
          </p:cNvSpPr>
          <p:nvPr/>
        </p:nvSpPr>
        <p:spPr>
          <a:xfrm xmlns:a="http://schemas.openxmlformats.org/drawingml/2006/main">
            <a:off x="8858250" y="4191000"/>
            <a:ext cx="2000250" cy="43815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18" name="">
            <a:extLst xmlns:a="http://schemas.openxmlformats.org/drawingml/2006/main">
              <a:ext uri="{FF2B5EF4-FFF2-40B4-BE49-F238E27FC236}">
                <a16:creationId xmlns:a16="http://schemas.microsoft.com/office/drawing/2014/main" id="{C0262D3E-7F04-4F16-B46D-08BC9E7FF37E}"/>
              </a:ext>
            </a:extLst>
          </p:cNvPr>
          <p:cNvSpPr>
            <a:spLocks xmlns:a="http://schemas.openxmlformats.org/drawingml/2006/main" noGrp="1"/>
          </p:cNvSpPr>
          <p:nvPr/>
        </p:nvSpPr>
        <p:spPr>
          <a:xfrm xmlns:a="http://schemas.openxmlformats.org/drawingml/2006/main">
            <a:off x="9029700" y="4305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4C3FD7"/>
                </a:solidFill>
                <a:latin typeface="Aptos"/>
                <a:ea typeface="Aptos"/>
                <a:cs typeface="Aptos"/>
              </a:defRPr>
            </a:pPr>
            <a:r>
              <a:rPr sz="1125" b="1">
                <a:solidFill>
                  <a:srgbClr val="4C3FD7"/>
                </a:solidFill>
                <a:latin typeface="Aptos"/>
                <a:ea typeface="Aptos"/>
                <a:cs typeface="Aptos"/>
              </a:rPr>
              <a:t>Passive signals</a:t>
            </a:r>
          </a:p>
        </p:txBody>
      </p:sp>
      <p:sp>
        <p:nvSpPr>
          <p:cNvPr id="19" name="">
            <a:extLst xmlns:a="http://schemas.openxmlformats.org/drawingml/2006/main">
              <a:ext uri="{FF2B5EF4-FFF2-40B4-BE49-F238E27FC236}">
                <a16:creationId xmlns:a16="http://schemas.microsoft.com/office/drawing/2014/main" id="{2663ED65-6BAB-44EB-A845-37025534657A}"/>
              </a:ext>
            </a:extLst>
          </p:cNvPr>
          <p:cNvSpPr>
            <a:spLocks xmlns:a="http://schemas.openxmlformats.org/drawingml/2006/main" noGrp="1"/>
          </p:cNvSpPr>
          <p:nvPr/>
        </p:nvSpPr>
        <p:spPr>
          <a:xfrm xmlns:a="http://schemas.openxmlformats.org/drawingml/2006/main">
            <a:off x="8858250" y="4762500"/>
            <a:ext cx="2000250" cy="43815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20" name="">
            <a:extLst xmlns:a="http://schemas.openxmlformats.org/drawingml/2006/main">
              <a:ext uri="{FF2B5EF4-FFF2-40B4-BE49-F238E27FC236}">
                <a16:creationId xmlns:a16="http://schemas.microsoft.com/office/drawing/2014/main" id="{3A17DBFC-0EFC-412A-B805-2F6666F5480A}"/>
              </a:ext>
            </a:extLst>
          </p:cNvPr>
          <p:cNvSpPr>
            <a:spLocks xmlns:a="http://schemas.openxmlformats.org/drawingml/2006/main" noGrp="1"/>
          </p:cNvSpPr>
          <p:nvPr/>
        </p:nvSpPr>
        <p:spPr>
          <a:xfrm xmlns:a="http://schemas.openxmlformats.org/drawingml/2006/main">
            <a:off x="9029700" y="48768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4C3FD7"/>
                </a:solidFill>
                <a:latin typeface="Aptos"/>
                <a:ea typeface="Aptos"/>
                <a:cs typeface="Aptos"/>
              </a:defRPr>
            </a:pPr>
            <a:r>
              <a:rPr sz="1125" b="1">
                <a:solidFill>
                  <a:srgbClr val="4C3FD7"/>
                </a:solidFill>
                <a:latin typeface="Aptos"/>
                <a:ea typeface="Aptos"/>
                <a:cs typeface="Aptos"/>
              </a:rPr>
              <a:t>User agency</a:t>
            </a:r>
          </a:p>
        </p:txBody>
      </p:sp>
      <p:sp>
        <p:nvSpPr>
          <p:cNvPr id="21" name="">
            <a:extLst xmlns:a="http://schemas.openxmlformats.org/drawingml/2006/main">
              <a:ext uri="{FF2B5EF4-FFF2-40B4-BE49-F238E27FC236}">
                <a16:creationId xmlns:a16="http://schemas.microsoft.com/office/drawing/2014/main" id="{A18C0C8C-C708-4893-ABF0-00446F864996}"/>
              </a:ext>
            </a:extLst>
          </p:cNvPr>
          <p:cNvSpPr>
            <a:spLocks xmlns:a="http://schemas.openxmlformats.org/drawingml/2006/main" noGrp="1"/>
          </p:cNvSpPr>
          <p:nvPr/>
        </p:nvSpPr>
        <p:spPr>
          <a:xfrm xmlns:a="http://schemas.openxmlformats.org/drawingml/2006/main">
            <a:off x="8858250" y="5334000"/>
            <a:ext cx="2000250" cy="43815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22" name="">
            <a:extLst xmlns:a="http://schemas.openxmlformats.org/drawingml/2006/main">
              <a:ext uri="{FF2B5EF4-FFF2-40B4-BE49-F238E27FC236}">
                <a16:creationId xmlns:a16="http://schemas.microsoft.com/office/drawing/2014/main" id="{7D9EDDBD-3030-4F43-81EF-7982485DD513}"/>
              </a:ext>
            </a:extLst>
          </p:cNvPr>
          <p:cNvSpPr>
            <a:spLocks xmlns:a="http://schemas.openxmlformats.org/drawingml/2006/main" noGrp="1"/>
          </p:cNvSpPr>
          <p:nvPr/>
        </p:nvSpPr>
        <p:spPr>
          <a:xfrm xmlns:a="http://schemas.openxmlformats.org/drawingml/2006/main">
            <a:off x="9029700" y="5448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4C3FD7"/>
                </a:solidFill>
                <a:latin typeface="Aptos"/>
                <a:ea typeface="Aptos"/>
                <a:cs typeface="Aptos"/>
              </a:defRPr>
            </a:pPr>
            <a:r>
              <a:rPr sz="1125" b="1">
                <a:solidFill>
                  <a:srgbClr val="4C3FD7"/>
                </a:solidFill>
                <a:latin typeface="Aptos"/>
                <a:ea typeface="Aptos"/>
                <a:cs typeface="Aptos"/>
              </a:rPr>
              <a:t>Local-first privacy</a:t>
            </a:r>
          </a:p>
        </p:txBody>
      </p:sp>
      <p:sp>
        <p:nvSpPr>
          <p:cNvPr id="23" name="">
            <a:extLst xmlns:a="http://schemas.openxmlformats.org/drawingml/2006/main">
              <a:ext uri="{FF2B5EF4-FFF2-40B4-BE49-F238E27FC236}">
                <a16:creationId xmlns:a16="http://schemas.microsoft.com/office/drawing/2014/main" id="{04A622E5-576D-4F52-800E-EF0EB76CFF7E}"/>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2/7</a:t>
            </a:r>
          </a:p>
        </p:txBody>
      </p:sp>
    </p:spTree>
    <p:extLst>
      <p:ext uri="{BB962C8B-B14F-4D97-AF65-F5344CB8AC3E}">
        <p14:creationId xmlns:p14="http://schemas.microsoft.com/office/powerpoint/2010/main" val="1720645914"/>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FFB4D5-1D02-44EC-BDE1-E15B58DB706A}"/>
              </a:ext>
            </a:extLst>
          </p:cNvPr>
          <p:cNvSpPr>
            <a:spLocks xmlns:a="http://schemas.openxmlformats.org/drawingml/2006/main" noGrp="1"/>
          </p:cNvSpPr>
          <p:nvPr/>
        </p:nvSpPr>
        <p:spPr>
          <a:xfrm xmlns:a="http://schemas.openxmlformats.org/drawingml/2006/main">
            <a:off x="609600" y="4572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11827"/>
                </a:solidFill>
                <a:latin typeface="Aptos"/>
                <a:ea typeface="Aptos"/>
                <a:cs typeface="Aptos"/>
              </a:defRPr>
            </a:pPr>
            <a:r>
              <a:rPr sz="2700" b="1">
                <a:solidFill>
                  <a:srgbClr val="111827"/>
                </a:solidFill>
                <a:latin typeface="Aptos"/>
                <a:ea typeface="Aptos"/>
                <a:cs typeface="Aptos"/>
              </a:rPr>
              <a:t>System architecture</a:t>
            </a:r>
          </a:p>
        </p:txBody>
      </p:sp>
      <p:sp>
        <p:nvSpPr>
          <p:cNvPr id="2" name="">
            <a:extLst xmlns:a="http://schemas.openxmlformats.org/drawingml/2006/main">
              <a:ext uri="{FF2B5EF4-FFF2-40B4-BE49-F238E27FC236}">
                <a16:creationId xmlns:a16="http://schemas.microsoft.com/office/drawing/2014/main" id="{94B892C7-4F20-401D-8238-66C840AFD5AC}"/>
              </a:ext>
            </a:extLst>
          </p:cNvPr>
          <p:cNvSpPr>
            <a:spLocks xmlns:a="http://schemas.openxmlformats.org/drawingml/2006/main" noGrp="1"/>
          </p:cNvSpPr>
          <p:nvPr/>
        </p:nvSpPr>
        <p:spPr>
          <a:xfrm xmlns:a="http://schemas.openxmlformats.org/drawingml/2006/main">
            <a:off x="628650" y="99060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From multimodal sensing to cautious, user-facing feedback.</a:t>
            </a:r>
          </a:p>
        </p:txBody>
      </p:sp>
      <p:sp>
        <p:nvSpPr>
          <p:cNvPr id="3" name="">
            <a:extLst xmlns:a="http://schemas.openxmlformats.org/drawingml/2006/main">
              <a:ext uri="{FF2B5EF4-FFF2-40B4-BE49-F238E27FC236}">
                <a16:creationId xmlns:a16="http://schemas.microsoft.com/office/drawing/2014/main" id="{E52EB650-CEA5-4B9B-BC50-B4B8C5CC3811}"/>
              </a:ext>
            </a:extLst>
          </p:cNvPr>
          <p:cNvSpPr>
            <a:spLocks xmlns:a="http://schemas.openxmlformats.org/drawingml/2006/main" noGrp="1"/>
          </p:cNvSpPr>
          <p:nvPr/>
        </p:nvSpPr>
        <p:spPr>
          <a:xfrm xmlns:a="http://schemas.openxmlformats.org/drawingml/2006/main">
            <a:off x="666750" y="2000250"/>
            <a:ext cx="2190750" cy="1257300"/>
          </a:xfrm>
          <a:prstGeom xmlns:a="http://schemas.openxmlformats.org/drawingml/2006/main" prst="roundRect">
            <a:avLst>
              <a:gd name="adj" fmla="val 12121"/>
            </a:avLst>
          </a:prstGeom>
          <a:solidFill xmlns:a="http://schemas.openxmlformats.org/drawingml/2006/main">
            <a:srgbClr val="ECF4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A5D21E82-8C34-495C-B74C-560500C1CC26}"/>
              </a:ext>
            </a:extLst>
          </p:cNvPr>
          <p:cNvSpPr>
            <a:spLocks xmlns:a="http://schemas.openxmlformats.org/drawingml/2006/main" noGrp="1"/>
          </p:cNvSpPr>
          <p:nvPr/>
        </p:nvSpPr>
        <p:spPr>
          <a:xfrm xmlns:a="http://schemas.openxmlformats.org/drawingml/2006/main">
            <a:off x="838200" y="21717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Input layer</a:t>
            </a:r>
          </a:p>
        </p:txBody>
      </p:sp>
      <p:sp>
        <p:nvSpPr>
          <p:cNvPr id="5" name="">
            <a:extLst xmlns:a="http://schemas.openxmlformats.org/drawingml/2006/main">
              <a:ext uri="{FF2B5EF4-FFF2-40B4-BE49-F238E27FC236}">
                <a16:creationId xmlns:a16="http://schemas.microsoft.com/office/drawing/2014/main" id="{8ED9628E-1F6B-48BD-8E26-03E820377578}"/>
              </a:ext>
            </a:extLst>
          </p:cNvPr>
          <p:cNvSpPr>
            <a:spLocks xmlns:a="http://schemas.openxmlformats.org/drawingml/2006/main" noGrp="1"/>
          </p:cNvSpPr>
          <p:nvPr/>
        </p:nvSpPr>
        <p:spPr>
          <a:xfrm xmlns:a="http://schemas.openxmlformats.org/drawingml/2006/main">
            <a:off x="838200" y="24955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Camera frames</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Voice transcript</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Ambient light</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Recent records</a:t>
            </a:r>
          </a:p>
        </p:txBody>
      </p:sp>
      <p:sp>
        <p:nvSpPr>
          <p:cNvPr id="6" name="">
            <a:extLst xmlns:a="http://schemas.openxmlformats.org/drawingml/2006/main">
              <a:ext uri="{FF2B5EF4-FFF2-40B4-BE49-F238E27FC236}">
                <a16:creationId xmlns:a16="http://schemas.microsoft.com/office/drawing/2014/main" id="{B6081C64-F4F5-4EF8-9885-E94096DE9B37}"/>
              </a:ext>
            </a:extLst>
          </p:cNvPr>
          <p:cNvSpPr>
            <a:spLocks xmlns:a="http://schemas.openxmlformats.org/drawingml/2006/main" noGrp="1"/>
          </p:cNvSpPr>
          <p:nvPr/>
        </p:nvSpPr>
        <p:spPr>
          <a:xfrm xmlns:a="http://schemas.openxmlformats.org/drawingml/2006/main">
            <a:off x="3333750" y="2000250"/>
            <a:ext cx="2190750" cy="1257300"/>
          </a:xfrm>
          <a:prstGeom xmlns:a="http://schemas.openxmlformats.org/drawingml/2006/main" prst="roundRect">
            <a:avLst>
              <a:gd name="adj" fmla="val 12121"/>
            </a:avLst>
          </a:prstGeom>
          <a:solidFill xmlns:a="http://schemas.openxmlformats.org/drawingml/2006/main">
            <a:srgbClr val="EEF9F0"/>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D38E49E-73A8-4C96-8778-B9E56F346C85}"/>
              </a:ext>
            </a:extLst>
          </p:cNvPr>
          <p:cNvSpPr>
            <a:spLocks xmlns:a="http://schemas.openxmlformats.org/drawingml/2006/main" noGrp="1"/>
          </p:cNvSpPr>
          <p:nvPr/>
        </p:nvSpPr>
        <p:spPr>
          <a:xfrm xmlns:a="http://schemas.openxmlformats.org/drawingml/2006/main">
            <a:off x="3505200" y="21717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On-device AI</a:t>
            </a:r>
          </a:p>
        </p:txBody>
      </p:sp>
      <p:sp>
        <p:nvSpPr>
          <p:cNvPr id="8" name="">
            <a:extLst xmlns:a="http://schemas.openxmlformats.org/drawingml/2006/main">
              <a:ext uri="{FF2B5EF4-FFF2-40B4-BE49-F238E27FC236}">
                <a16:creationId xmlns:a16="http://schemas.microsoft.com/office/drawing/2014/main" id="{158D41B4-EB6A-414D-A510-E36C1F18F38C}"/>
              </a:ext>
            </a:extLst>
          </p:cNvPr>
          <p:cNvSpPr>
            <a:spLocks xmlns:a="http://schemas.openxmlformats.org/drawingml/2006/main" noGrp="1"/>
          </p:cNvSpPr>
          <p:nvPr/>
        </p:nvSpPr>
        <p:spPr>
          <a:xfrm xmlns:a="http://schemas.openxmlformats.org/drawingml/2006/main">
            <a:off x="3505200" y="24955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52 blendshapes</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EWMA smoothing</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10 emotion dimensions</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0-100 score</a:t>
            </a:r>
          </a:p>
        </p:txBody>
      </p:sp>
      <p:sp>
        <p:nvSpPr>
          <p:cNvPr id="9" name="">
            <a:extLst xmlns:a="http://schemas.openxmlformats.org/drawingml/2006/main">
              <a:ext uri="{FF2B5EF4-FFF2-40B4-BE49-F238E27FC236}">
                <a16:creationId xmlns:a16="http://schemas.microsoft.com/office/drawing/2014/main" id="{62ACB4D3-1A75-4A6B-B1A3-55C1A9CB9E3E}"/>
              </a:ext>
            </a:extLst>
          </p:cNvPr>
          <p:cNvSpPr>
            <a:spLocks xmlns:a="http://schemas.openxmlformats.org/drawingml/2006/main" noGrp="1"/>
          </p:cNvSpPr>
          <p:nvPr/>
        </p:nvSpPr>
        <p:spPr>
          <a:xfrm xmlns:a="http://schemas.openxmlformats.org/drawingml/2006/main">
            <a:off x="6000750" y="2000250"/>
            <a:ext cx="2190750" cy="1257300"/>
          </a:xfrm>
          <a:prstGeom xmlns:a="http://schemas.openxmlformats.org/drawingml/2006/main" prst="roundRect">
            <a:avLst>
              <a:gd name="adj" fmla="val 12121"/>
            </a:avLst>
          </a:prstGeom>
          <a:solidFill xmlns:a="http://schemas.openxmlformats.org/drawingml/2006/main">
            <a:srgbClr val="F5F0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DC92111-1D41-4C51-AAFA-A91CA912A92A}"/>
              </a:ext>
            </a:extLst>
          </p:cNvPr>
          <p:cNvSpPr>
            <a:spLocks xmlns:a="http://schemas.openxmlformats.org/drawingml/2006/main" noGrp="1"/>
          </p:cNvSpPr>
          <p:nvPr/>
        </p:nvSpPr>
        <p:spPr>
          <a:xfrm xmlns:a="http://schemas.openxmlformats.org/drawingml/2006/main">
            <a:off x="6172200" y="21717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Memory engine</a:t>
            </a:r>
          </a:p>
        </p:txBody>
      </p:sp>
      <p:sp>
        <p:nvSpPr>
          <p:cNvPr id="11" name="">
            <a:extLst xmlns:a="http://schemas.openxmlformats.org/drawingml/2006/main">
              <a:ext uri="{FF2B5EF4-FFF2-40B4-BE49-F238E27FC236}">
                <a16:creationId xmlns:a16="http://schemas.microsoft.com/office/drawing/2014/main" id="{55CA9F78-8EF2-41C5-9E7F-92E58D9AEF09}"/>
              </a:ext>
            </a:extLst>
          </p:cNvPr>
          <p:cNvSpPr>
            <a:spLocks xmlns:a="http://schemas.openxmlformats.org/drawingml/2006/main" noGrp="1"/>
          </p:cNvSpPr>
          <p:nvPr/>
        </p:nvSpPr>
        <p:spPr>
          <a:xfrm xmlns:a="http://schemas.openxmlformats.org/drawingml/2006/main">
            <a:off x="6172200" y="24955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SQLite records</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30-day trends</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Keyword ranking</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JSON export</a:t>
            </a:r>
          </a:p>
        </p:txBody>
      </p:sp>
      <p:sp>
        <p:nvSpPr>
          <p:cNvPr id="12" name="">
            <a:extLst xmlns:a="http://schemas.openxmlformats.org/drawingml/2006/main">
              <a:ext uri="{FF2B5EF4-FFF2-40B4-BE49-F238E27FC236}">
                <a16:creationId xmlns:a16="http://schemas.microsoft.com/office/drawing/2014/main" id="{3C67C950-A46B-41D1-B96A-6FB06FA80F17}"/>
              </a:ext>
            </a:extLst>
          </p:cNvPr>
          <p:cNvSpPr>
            <a:spLocks xmlns:a="http://schemas.openxmlformats.org/drawingml/2006/main" noGrp="1"/>
          </p:cNvSpPr>
          <p:nvPr/>
        </p:nvSpPr>
        <p:spPr>
          <a:xfrm xmlns:a="http://schemas.openxmlformats.org/drawingml/2006/main">
            <a:off x="8667750" y="2000250"/>
            <a:ext cx="2190750" cy="1257300"/>
          </a:xfrm>
          <a:prstGeom xmlns:a="http://schemas.openxmlformats.org/drawingml/2006/main" prst="roundRect">
            <a:avLst>
              <a:gd name="adj" fmla="val 12121"/>
            </a:avLst>
          </a:prstGeom>
          <a:solidFill xmlns:a="http://schemas.openxmlformats.org/drawingml/2006/main">
            <a:srgbClr val="FFF4E8"/>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72BE267-40B4-4AF5-AB68-9DADADEB6916}"/>
              </a:ext>
            </a:extLst>
          </p:cNvPr>
          <p:cNvSpPr>
            <a:spLocks xmlns:a="http://schemas.openxmlformats.org/drawingml/2006/main" noGrp="1"/>
          </p:cNvSpPr>
          <p:nvPr/>
        </p:nvSpPr>
        <p:spPr>
          <a:xfrm xmlns:a="http://schemas.openxmlformats.org/drawingml/2006/main">
            <a:off x="8839200" y="21717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Feedback layer</a:t>
            </a:r>
          </a:p>
        </p:txBody>
      </p:sp>
      <p:sp>
        <p:nvSpPr>
          <p:cNvPr id="14" name="">
            <a:extLst xmlns:a="http://schemas.openxmlformats.org/drawingml/2006/main">
              <a:ext uri="{FF2B5EF4-FFF2-40B4-BE49-F238E27FC236}">
                <a16:creationId xmlns:a16="http://schemas.microsoft.com/office/drawing/2014/main" id="{C7C1ED4B-F82B-4209-9D15-46AD527C9789}"/>
              </a:ext>
            </a:extLst>
          </p:cNvPr>
          <p:cNvSpPr>
            <a:spLocks xmlns:a="http://schemas.openxmlformats.org/drawingml/2006/main" noGrp="1"/>
          </p:cNvSpPr>
          <p:nvPr/>
        </p:nvSpPr>
        <p:spPr>
          <a:xfrm xmlns:a="http://schemas.openxmlformats.org/drawingml/2006/main">
            <a:off x="8839200" y="24955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Care card</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LLM response</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Weekly report</a:t>
            </a:r>
          </a:p>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SOS support</a:t>
            </a:r>
          </a:p>
        </p:txBody>
      </p:sp>
      <p:sp>
        <p:nvSpPr>
          <p:cNvPr id="15" name="">
            <a:extLst xmlns:a="http://schemas.openxmlformats.org/drawingml/2006/main">
              <a:ext uri="{FF2B5EF4-FFF2-40B4-BE49-F238E27FC236}">
                <a16:creationId xmlns:a16="http://schemas.microsoft.com/office/drawing/2014/main" id="{9D57E17B-74B7-409A-9AA3-1034897B7AF9}"/>
              </a:ext>
            </a:extLst>
          </p:cNvPr>
          <p:cNvSpPr>
            <a:spLocks xmlns:a="http://schemas.openxmlformats.org/drawingml/2006/main" noGrp="1"/>
          </p:cNvSpPr>
          <p:nvPr/>
        </p:nvSpPr>
        <p:spPr>
          <a:xfrm xmlns:a="http://schemas.openxmlformats.org/drawingml/2006/main">
            <a:off x="2914650" y="238125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64748B"/>
                </a:solidFill>
                <a:latin typeface="Aptos"/>
                <a:ea typeface="Aptos"/>
                <a:cs typeface="Aptos"/>
              </a:defRPr>
            </a:pPr>
            <a:r>
              <a:rPr sz="3600" b="1">
                <a:solidFill>
                  <a:srgbClr val="64748B"/>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4214808F-3843-43D5-94F5-8B4C0C020696}"/>
              </a:ext>
            </a:extLst>
          </p:cNvPr>
          <p:cNvSpPr>
            <a:spLocks xmlns:a="http://schemas.openxmlformats.org/drawingml/2006/main" noGrp="1"/>
          </p:cNvSpPr>
          <p:nvPr/>
        </p:nvSpPr>
        <p:spPr>
          <a:xfrm xmlns:a="http://schemas.openxmlformats.org/drawingml/2006/main">
            <a:off x="5581650" y="238125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64748B"/>
                </a:solidFill>
                <a:latin typeface="Aptos"/>
                <a:ea typeface="Aptos"/>
                <a:cs typeface="Aptos"/>
              </a:defRPr>
            </a:pPr>
            <a:r>
              <a:rPr sz="3600" b="1">
                <a:solidFill>
                  <a:srgbClr val="64748B"/>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5DDF22D9-7182-4BDC-A212-8FC0E5C4A832}"/>
              </a:ext>
            </a:extLst>
          </p:cNvPr>
          <p:cNvSpPr>
            <a:spLocks xmlns:a="http://schemas.openxmlformats.org/drawingml/2006/main" noGrp="1"/>
          </p:cNvSpPr>
          <p:nvPr/>
        </p:nvSpPr>
        <p:spPr>
          <a:xfrm xmlns:a="http://schemas.openxmlformats.org/drawingml/2006/main">
            <a:off x="8248650" y="238125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64748B"/>
                </a:solidFill>
                <a:latin typeface="Aptos"/>
                <a:ea typeface="Aptos"/>
                <a:cs typeface="Aptos"/>
              </a:defRPr>
            </a:pPr>
            <a:r>
              <a:rPr sz="3600" b="1">
                <a:solidFill>
                  <a:srgbClr val="64748B"/>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8EAA9009-1388-4763-88AE-37B718E372F0}"/>
              </a:ext>
            </a:extLst>
          </p:cNvPr>
          <p:cNvSpPr>
            <a:spLocks xmlns:a="http://schemas.openxmlformats.org/drawingml/2006/main" noGrp="1"/>
          </p:cNvSpPr>
          <p:nvPr/>
        </p:nvSpPr>
        <p:spPr>
          <a:xfrm xmlns:a="http://schemas.openxmlformats.org/drawingml/2006/main">
            <a:off x="1428750" y="4095750"/>
            <a:ext cx="9334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3B8F44B5-DE40-46A4-B4E0-F295D94980E4}"/>
              </a:ext>
            </a:extLst>
          </p:cNvPr>
          <p:cNvSpPr>
            <a:spLocks xmlns:a="http://schemas.openxmlformats.org/drawingml/2006/main" noGrp="1"/>
          </p:cNvSpPr>
          <p:nvPr/>
        </p:nvSpPr>
        <p:spPr>
          <a:xfrm xmlns:a="http://schemas.openxmlformats.org/drawingml/2006/main">
            <a:off x="1428750" y="4095750"/>
            <a:ext cx="66675" cy="952500"/>
          </a:xfrm>
          <a:prstGeom xmlns:a="http://schemas.openxmlformats.org/drawingml/2006/main" prst="rect">
            <a:avLst/>
          </a:prstGeom>
          <a:solidFill xmlns:a="http://schemas.openxmlformats.org/drawingml/2006/main">
            <a:srgbClr val="5B4BEA"/>
          </a:solidFill>
          <a:ln xmlns:a="http://schemas.openxmlformats.org/drawingml/2006/main" w="0">
            <a:solidFill>
              <a:srgbClr val="5B4BEA"/>
            </a:solidFill>
            <a:prstDash val="solid"/>
          </a:ln>
        </p:spPr>
      </p:sp>
      <p:sp>
        <p:nvSpPr>
          <p:cNvPr id="20" name="">
            <a:extLst xmlns:a="http://schemas.openxmlformats.org/drawingml/2006/main">
              <a:ext uri="{FF2B5EF4-FFF2-40B4-BE49-F238E27FC236}">
                <a16:creationId xmlns:a16="http://schemas.microsoft.com/office/drawing/2014/main" id="{478A83FE-CDD7-4404-B78A-9FF18AD04933}"/>
              </a:ext>
            </a:extLst>
          </p:cNvPr>
          <p:cNvSpPr>
            <a:spLocks xmlns:a="http://schemas.openxmlformats.org/drawingml/2006/main" noGrp="1"/>
          </p:cNvSpPr>
          <p:nvPr/>
        </p:nvSpPr>
        <p:spPr>
          <a:xfrm xmlns:a="http://schemas.openxmlformats.org/drawingml/2006/main">
            <a:off x="1657350" y="4267200"/>
            <a:ext cx="887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Design principle</a:t>
            </a:r>
          </a:p>
        </p:txBody>
      </p:sp>
      <p:sp>
        <p:nvSpPr>
          <p:cNvPr id="21" name="">
            <a:extLst xmlns:a="http://schemas.openxmlformats.org/drawingml/2006/main">
              <a:ext uri="{FF2B5EF4-FFF2-40B4-BE49-F238E27FC236}">
                <a16:creationId xmlns:a16="http://schemas.microsoft.com/office/drawing/2014/main" id="{43104922-C45F-4FC4-8165-458761932F07}"/>
              </a:ext>
            </a:extLst>
          </p:cNvPr>
          <p:cNvSpPr>
            <a:spLocks xmlns:a="http://schemas.openxmlformats.org/drawingml/2006/main" noGrp="1"/>
          </p:cNvSpPr>
          <p:nvPr/>
        </p:nvSpPr>
        <p:spPr>
          <a:xfrm xmlns:a="http://schemas.openxmlformats.org/drawingml/2006/main">
            <a:off x="1657350" y="4629150"/>
            <a:ext cx="887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Sensing is continuous, interpretation is cautious, and emergency action remains user-confirmed.</a:t>
            </a:r>
          </a:p>
        </p:txBody>
      </p:sp>
      <p:sp>
        <p:nvSpPr>
          <p:cNvPr id="22" name="">
            <a:extLst xmlns:a="http://schemas.openxmlformats.org/drawingml/2006/main">
              <a:ext uri="{FF2B5EF4-FFF2-40B4-BE49-F238E27FC236}">
                <a16:creationId xmlns:a16="http://schemas.microsoft.com/office/drawing/2014/main" id="{0AA0624C-7399-471D-B9A9-CB4FB346C8CD}"/>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3/7</a:t>
            </a:r>
          </a:p>
        </p:txBody>
      </p:sp>
    </p:spTree>
    <p:extLst>
      <p:ext uri="{BB962C8B-B14F-4D97-AF65-F5344CB8AC3E}">
        <p14:creationId xmlns:p14="http://schemas.microsoft.com/office/powerpoint/2010/main" val="18819630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F71534-754B-4B42-A2F1-4DA788C136BC}"/>
              </a:ext>
            </a:extLst>
          </p:cNvPr>
          <p:cNvSpPr>
            <a:spLocks xmlns:a="http://schemas.openxmlformats.org/drawingml/2006/main" noGrp="1"/>
          </p:cNvSpPr>
          <p:nvPr/>
        </p:nvSpPr>
        <p:spPr>
          <a:xfrm xmlns:a="http://schemas.openxmlformats.org/drawingml/2006/main">
            <a:off x="609600" y="4572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11827"/>
                </a:solidFill>
                <a:latin typeface="Aptos"/>
                <a:ea typeface="Aptos"/>
                <a:cs typeface="Aptos"/>
              </a:defRPr>
            </a:pPr>
            <a:r>
              <a:rPr sz="2700" b="1">
                <a:solidFill>
                  <a:srgbClr val="111827"/>
                </a:solidFill>
                <a:latin typeface="Aptos"/>
                <a:ea typeface="Aptos"/>
                <a:cs typeface="Aptos"/>
              </a:rPr>
              <a:t>Interface workflow</a:t>
            </a:r>
          </a:p>
        </p:txBody>
      </p:sp>
      <p:sp>
        <p:nvSpPr>
          <p:cNvPr id="2" name="">
            <a:extLst xmlns:a="http://schemas.openxmlformats.org/drawingml/2006/main">
              <a:ext uri="{FF2B5EF4-FFF2-40B4-BE49-F238E27FC236}">
                <a16:creationId xmlns:a16="http://schemas.microsoft.com/office/drawing/2014/main" id="{93B760C2-F97E-4B90-8C4B-336FD2BD861F}"/>
              </a:ext>
            </a:extLst>
          </p:cNvPr>
          <p:cNvSpPr>
            <a:spLocks xmlns:a="http://schemas.openxmlformats.org/drawingml/2006/main" noGrp="1"/>
          </p:cNvSpPr>
          <p:nvPr/>
        </p:nvSpPr>
        <p:spPr>
          <a:xfrm xmlns:a="http://schemas.openxmlformats.org/drawingml/2006/main">
            <a:off x="628650" y="99060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The app closes the loop from sensing to reflection to action.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bfed22f09a54fe1"/>
          <a:srcRect xmlns:a="http://schemas.openxmlformats.org/drawingml/2006/main" l="0" t="9327" r="0" b="9327"/>
          <a:stretch xmlns:a="http://schemas.openxmlformats.org/drawingml/2006/main">
            <a:fillRect l="0" t="0" r="0" b="0"/>
          </a:stretch>
        </p:blipFill>
        <p:spPr>
          <a:xfrm xmlns:a="http://schemas.openxmlformats.org/drawingml/2006/main">
            <a:off x="781050" y="1428750"/>
            <a:ext cx="2476500" cy="4476750"/>
          </a:xfrm>
          <a:prstGeom xmlns:a="http://schemas.openxmlformats.org/drawingml/2006/main" prst="roundRect">
            <a:avLst>
              <a:gd name="adj" fmla="val 6154"/>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16a0da897ed4188"/>
          <a:srcRect xmlns:a="http://schemas.openxmlformats.org/drawingml/2006/main" l="0" t="9327" r="0" b="9327"/>
          <a:stretch xmlns:a="http://schemas.openxmlformats.org/drawingml/2006/main">
            <a:fillRect l="0" t="0" r="0" b="0"/>
          </a:stretch>
        </p:blipFill>
        <p:spPr>
          <a:xfrm xmlns:a="http://schemas.openxmlformats.org/drawingml/2006/main">
            <a:off x="3714750" y="1428750"/>
            <a:ext cx="2476500" cy="4476750"/>
          </a:xfrm>
          <a:prstGeom xmlns:a="http://schemas.openxmlformats.org/drawingml/2006/main" prst="roundRect">
            <a:avLst>
              <a:gd name="adj" fmla="val 6154"/>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3da4fa6de7b4c51"/>
          <a:srcRect xmlns:a="http://schemas.openxmlformats.org/drawingml/2006/main" l="0" t="9327" r="0" b="9327"/>
          <a:stretch xmlns:a="http://schemas.openxmlformats.org/drawingml/2006/main">
            <a:fillRect l="0" t="0" r="0" b="0"/>
          </a:stretch>
        </p:blipFill>
        <p:spPr>
          <a:xfrm xmlns:a="http://schemas.openxmlformats.org/drawingml/2006/main">
            <a:off x="6648450" y="1428750"/>
            <a:ext cx="2476500" cy="4476750"/>
          </a:xfrm>
          <a:prstGeom xmlns:a="http://schemas.openxmlformats.org/drawingml/2006/main" prst="roundRect">
            <a:avLst>
              <a:gd name="adj" fmla="val 6154"/>
            </a:avLst>
          </a:prstGeom>
        </p:spPr>
      </p:pic>
      <p:sp>
        <p:nvSpPr>
          <p:cNvPr id="6" name="">
            <a:extLst xmlns:a="http://schemas.openxmlformats.org/drawingml/2006/main">
              <a:ext uri="{FF2B5EF4-FFF2-40B4-BE49-F238E27FC236}">
                <a16:creationId xmlns:a16="http://schemas.microsoft.com/office/drawing/2014/main" id="{14F41E10-2F4F-4882-BF1F-AF55F95CABB8}"/>
              </a:ext>
            </a:extLst>
          </p:cNvPr>
          <p:cNvSpPr>
            <a:spLocks xmlns:a="http://schemas.openxmlformats.org/drawingml/2006/main" noGrp="1"/>
          </p:cNvSpPr>
          <p:nvPr/>
        </p:nvSpPr>
        <p:spPr>
          <a:xfrm xmlns:a="http://schemas.openxmlformats.org/drawingml/2006/main">
            <a:off x="1047750" y="6019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Home radar</a:t>
            </a:r>
          </a:p>
        </p:txBody>
      </p:sp>
      <p:sp>
        <p:nvSpPr>
          <p:cNvPr id="7" name="">
            <a:extLst xmlns:a="http://schemas.openxmlformats.org/drawingml/2006/main">
              <a:ext uri="{FF2B5EF4-FFF2-40B4-BE49-F238E27FC236}">
                <a16:creationId xmlns:a16="http://schemas.microsoft.com/office/drawing/2014/main" id="{7A481391-36A9-42E0-9EE1-23F475C148E0}"/>
              </a:ext>
            </a:extLst>
          </p:cNvPr>
          <p:cNvSpPr>
            <a:spLocks xmlns:a="http://schemas.openxmlformats.org/drawingml/2006/main" noGrp="1"/>
          </p:cNvSpPr>
          <p:nvPr/>
        </p:nvSpPr>
        <p:spPr>
          <a:xfrm xmlns:a="http://schemas.openxmlformats.org/drawingml/2006/main">
            <a:off x="4000500" y="6019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Wellness workshop</a:t>
            </a:r>
          </a:p>
        </p:txBody>
      </p:sp>
      <p:sp>
        <p:nvSpPr>
          <p:cNvPr id="8" name="">
            <a:extLst xmlns:a="http://schemas.openxmlformats.org/drawingml/2006/main">
              <a:ext uri="{FF2B5EF4-FFF2-40B4-BE49-F238E27FC236}">
                <a16:creationId xmlns:a16="http://schemas.microsoft.com/office/drawing/2014/main" id="{14EE80E4-4AA3-4501-934E-884939639E47}"/>
              </a:ext>
            </a:extLst>
          </p:cNvPr>
          <p:cNvSpPr>
            <a:spLocks xmlns:a="http://schemas.openxmlformats.org/drawingml/2006/main" noGrp="1"/>
          </p:cNvSpPr>
          <p:nvPr/>
        </p:nvSpPr>
        <p:spPr>
          <a:xfrm xmlns:a="http://schemas.openxmlformats.org/drawingml/2006/main">
            <a:off x="7000875" y="60198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Emotion history</a:t>
            </a:r>
          </a:p>
        </p:txBody>
      </p:sp>
      <p:sp>
        <p:nvSpPr>
          <p:cNvPr id="9" name="">
            <a:extLst xmlns:a="http://schemas.openxmlformats.org/drawingml/2006/main">
              <a:ext uri="{FF2B5EF4-FFF2-40B4-BE49-F238E27FC236}">
                <a16:creationId xmlns:a16="http://schemas.microsoft.com/office/drawing/2014/main" id="{E866F08E-C926-446C-8E2B-937B2DEDB598}"/>
              </a:ext>
            </a:extLst>
          </p:cNvPr>
          <p:cNvSpPr>
            <a:spLocks xmlns:a="http://schemas.openxmlformats.org/drawingml/2006/main" noGrp="1"/>
          </p:cNvSpPr>
          <p:nvPr/>
        </p:nvSpPr>
        <p:spPr>
          <a:xfrm xmlns:a="http://schemas.openxmlformats.org/drawingml/2006/main">
            <a:off x="9525000" y="1714500"/>
            <a:ext cx="1952625" cy="29527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FF5EF79-1617-44BB-9DDC-CC5E4B871D0E}"/>
              </a:ext>
            </a:extLst>
          </p:cNvPr>
          <p:cNvSpPr>
            <a:spLocks xmlns:a="http://schemas.openxmlformats.org/drawingml/2006/main" noGrp="1"/>
          </p:cNvSpPr>
          <p:nvPr/>
        </p:nvSpPr>
        <p:spPr>
          <a:xfrm xmlns:a="http://schemas.openxmlformats.org/drawingml/2006/main">
            <a:off x="9525000" y="1714500"/>
            <a:ext cx="66675" cy="29527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1" name="">
            <a:extLst xmlns:a="http://schemas.openxmlformats.org/drawingml/2006/main">
              <a:ext uri="{FF2B5EF4-FFF2-40B4-BE49-F238E27FC236}">
                <a16:creationId xmlns:a16="http://schemas.microsoft.com/office/drawing/2014/main" id="{CED93082-F48A-4DFF-981C-053A3F068D86}"/>
              </a:ext>
            </a:extLst>
          </p:cNvPr>
          <p:cNvSpPr>
            <a:spLocks xmlns:a="http://schemas.openxmlformats.org/drawingml/2006/main" noGrp="1"/>
          </p:cNvSpPr>
          <p:nvPr/>
        </p:nvSpPr>
        <p:spPr>
          <a:xfrm xmlns:a="http://schemas.openxmlformats.org/drawingml/2006/main">
            <a:off x="9753600" y="1885950"/>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Workflow</a:t>
            </a:r>
          </a:p>
        </p:txBody>
      </p:sp>
      <p:sp>
        <p:nvSpPr>
          <p:cNvPr id="12" name="">
            <a:extLst xmlns:a="http://schemas.openxmlformats.org/drawingml/2006/main">
              <a:ext uri="{FF2B5EF4-FFF2-40B4-BE49-F238E27FC236}">
                <a16:creationId xmlns:a16="http://schemas.microsoft.com/office/drawing/2014/main" id="{49A1BD59-626F-4A1D-9AA2-4A41F271E145}"/>
              </a:ext>
            </a:extLst>
          </p:cNvPr>
          <p:cNvSpPr>
            <a:spLocks xmlns:a="http://schemas.openxmlformats.org/drawingml/2006/main" noGrp="1"/>
          </p:cNvSpPr>
          <p:nvPr/>
        </p:nvSpPr>
        <p:spPr>
          <a:xfrm xmlns:a="http://schemas.openxmlformats.org/drawingml/2006/main">
            <a:off x="9753600" y="2247900"/>
            <a:ext cx="1495425"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1. Sense current state</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2. Interpret with context</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3. Suggest gentle action</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4. Review long-term trend</a:t>
            </a:r>
          </a:p>
        </p:txBody>
      </p:sp>
      <p:sp>
        <p:nvSpPr>
          <p:cNvPr id="13" name="">
            <a:extLst xmlns:a="http://schemas.openxmlformats.org/drawingml/2006/main">
              <a:ext uri="{FF2B5EF4-FFF2-40B4-BE49-F238E27FC236}">
                <a16:creationId xmlns:a16="http://schemas.microsoft.com/office/drawing/2014/main" id="{F4DEA596-DD23-4E63-93FE-F7C957D4BA24}"/>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4/7</a:t>
            </a:r>
          </a:p>
        </p:txBody>
      </p:sp>
    </p:spTree>
    <p:extLst>
      <p:ext uri="{BB962C8B-B14F-4D97-AF65-F5344CB8AC3E}">
        <p14:creationId xmlns:p14="http://schemas.microsoft.com/office/powerpoint/2010/main" val="147155699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279393-F077-4BCC-BA98-129D8988877D}"/>
              </a:ext>
            </a:extLst>
          </p:cNvPr>
          <p:cNvSpPr>
            <a:spLocks xmlns:a="http://schemas.openxmlformats.org/drawingml/2006/main" noGrp="1"/>
          </p:cNvSpPr>
          <p:nvPr/>
        </p:nvSpPr>
        <p:spPr>
          <a:xfrm xmlns:a="http://schemas.openxmlformats.org/drawingml/2006/main">
            <a:off x="609600" y="4572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11827"/>
                </a:solidFill>
                <a:latin typeface="Aptos"/>
                <a:ea typeface="Aptos"/>
                <a:cs typeface="Aptos"/>
              </a:defRPr>
            </a:pPr>
            <a:r>
              <a:rPr sz="2700" b="1">
                <a:solidFill>
                  <a:srgbClr val="111827"/>
                </a:solidFill>
                <a:latin typeface="Aptos"/>
                <a:ea typeface="Aptos"/>
                <a:cs typeface="Aptos"/>
              </a:rPr>
              <a:t>Functional evaluation</a:t>
            </a:r>
          </a:p>
        </p:txBody>
      </p:sp>
      <p:sp>
        <p:nvSpPr>
          <p:cNvPr id="2" name="">
            <a:extLst xmlns:a="http://schemas.openxmlformats.org/drawingml/2006/main">
              <a:ext uri="{FF2B5EF4-FFF2-40B4-BE49-F238E27FC236}">
                <a16:creationId xmlns:a16="http://schemas.microsoft.com/office/drawing/2014/main" id="{97016038-F1D9-4ECD-8616-5B62BB449FE4}"/>
              </a:ext>
            </a:extLst>
          </p:cNvPr>
          <p:cNvSpPr>
            <a:spLocks xmlns:a="http://schemas.openxmlformats.org/drawingml/2006/main" noGrp="1"/>
          </p:cNvSpPr>
          <p:nvPr/>
        </p:nvSpPr>
        <p:spPr>
          <a:xfrm xmlns:a="http://schemas.openxmlformats.org/drawingml/2006/main">
            <a:off x="628650" y="99060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Prototype validation focused on engineering feasibility, not clinical diagnosis.</a:t>
            </a:r>
          </a:p>
        </p:txBody>
      </p:sp>
      <p:sp>
        <p:nvSpPr>
          <p:cNvPr id="3" name="">
            <a:extLst xmlns:a="http://schemas.openxmlformats.org/drawingml/2006/main">
              <a:ext uri="{FF2B5EF4-FFF2-40B4-BE49-F238E27FC236}">
                <a16:creationId xmlns:a16="http://schemas.microsoft.com/office/drawing/2014/main" id="{72B1D4C6-6FD5-4FA8-BA93-0E011ABC975F}"/>
              </a:ext>
            </a:extLst>
          </p:cNvPr>
          <p:cNvSpPr>
            <a:spLocks xmlns:a="http://schemas.openxmlformats.org/drawingml/2006/main" noGrp="1"/>
          </p:cNvSpPr>
          <p:nvPr/>
        </p:nvSpPr>
        <p:spPr>
          <a:xfrm xmlns:a="http://schemas.openxmlformats.org/drawingml/2006/main">
            <a:off x="762000" y="1476375"/>
            <a:ext cx="2095500" cy="1190625"/>
          </a:xfrm>
          <a:prstGeom xmlns:a="http://schemas.openxmlformats.org/drawingml/2006/main" prst="roundRect">
            <a:avLst>
              <a:gd name="adj" fmla="val 9600"/>
            </a:avLst>
          </a:prstGeom>
          <a:solidFill xmlns:a="http://schemas.openxmlformats.org/drawingml/2006/main">
            <a:srgbClr val="F8FAFC"/>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91754404-30A3-44FF-BDD8-F51442D6A594}"/>
              </a:ext>
            </a:extLst>
          </p:cNvPr>
          <p:cNvSpPr>
            <a:spLocks xmlns:a="http://schemas.openxmlformats.org/drawingml/2006/main" noGrp="1"/>
          </p:cNvSpPr>
          <p:nvPr/>
        </p:nvSpPr>
        <p:spPr>
          <a:xfrm xmlns:a="http://schemas.openxmlformats.org/drawingml/2006/main">
            <a:off x="933450" y="16097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5B4BEA"/>
                </a:solidFill>
                <a:latin typeface="Aptos"/>
                <a:ea typeface="Aptos"/>
                <a:cs typeface="Aptos"/>
              </a:defRPr>
            </a:pPr>
            <a:r>
              <a:rPr sz="2550" b="1">
                <a:solidFill>
                  <a:srgbClr val="5B4BEA"/>
                </a:solidFill>
                <a:latin typeface="Aptos"/>
                <a:ea typeface="Aptos"/>
                <a:cs typeface="Aptos"/>
              </a:rPr>
              <a:t>4 Hz</a:t>
            </a:r>
          </a:p>
        </p:txBody>
      </p:sp>
      <p:sp>
        <p:nvSpPr>
          <p:cNvPr id="5" name="">
            <a:extLst xmlns:a="http://schemas.openxmlformats.org/drawingml/2006/main">
              <a:ext uri="{FF2B5EF4-FFF2-40B4-BE49-F238E27FC236}">
                <a16:creationId xmlns:a16="http://schemas.microsoft.com/office/drawing/2014/main" id="{8FC0A42B-CA9D-45D6-A881-0A0B542BB716}"/>
              </a:ext>
            </a:extLst>
          </p:cNvPr>
          <p:cNvSpPr>
            <a:spLocks xmlns:a="http://schemas.openxmlformats.org/drawingml/2006/main" noGrp="1"/>
          </p:cNvSpPr>
          <p:nvPr/>
        </p:nvSpPr>
        <p:spPr>
          <a:xfrm xmlns:a="http://schemas.openxmlformats.org/drawingml/2006/main">
            <a:off x="933450" y="20669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stable facial inference</a:t>
            </a:r>
          </a:p>
        </p:txBody>
      </p:sp>
      <p:sp>
        <p:nvSpPr>
          <p:cNvPr id="6" name="">
            <a:extLst xmlns:a="http://schemas.openxmlformats.org/drawingml/2006/main">
              <a:ext uri="{FF2B5EF4-FFF2-40B4-BE49-F238E27FC236}">
                <a16:creationId xmlns:a16="http://schemas.microsoft.com/office/drawing/2014/main" id="{2FAA22BA-4D6B-4FAD-BDD3-B322604AA04F}"/>
              </a:ext>
            </a:extLst>
          </p:cNvPr>
          <p:cNvSpPr>
            <a:spLocks xmlns:a="http://schemas.openxmlformats.org/drawingml/2006/main" noGrp="1"/>
          </p:cNvSpPr>
          <p:nvPr/>
        </p:nvSpPr>
        <p:spPr>
          <a:xfrm xmlns:a="http://schemas.openxmlformats.org/drawingml/2006/main">
            <a:off x="3143250" y="1476375"/>
            <a:ext cx="2095500" cy="1190625"/>
          </a:xfrm>
          <a:prstGeom xmlns:a="http://schemas.openxmlformats.org/drawingml/2006/main" prst="roundRect">
            <a:avLst>
              <a:gd name="adj" fmla="val 9600"/>
            </a:avLst>
          </a:prstGeom>
          <a:solidFill xmlns:a="http://schemas.openxmlformats.org/drawingml/2006/main">
            <a:srgbClr val="F8FAFC"/>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E77A0A83-8DE5-4AFC-A1A0-9BDBFB919D68}"/>
              </a:ext>
            </a:extLst>
          </p:cNvPr>
          <p:cNvSpPr>
            <a:spLocks xmlns:a="http://schemas.openxmlformats.org/drawingml/2006/main" noGrp="1"/>
          </p:cNvSpPr>
          <p:nvPr/>
        </p:nvSpPr>
        <p:spPr>
          <a:xfrm xmlns:a="http://schemas.openxmlformats.org/drawingml/2006/main">
            <a:off x="3314700" y="16097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5B4BEA"/>
                </a:solidFill>
                <a:latin typeface="Aptos"/>
                <a:ea typeface="Aptos"/>
                <a:cs typeface="Aptos"/>
              </a:defRPr>
            </a:pPr>
            <a:r>
              <a:rPr sz="2550" b="1">
                <a:solidFill>
                  <a:srgbClr val="5B4BEA"/>
                </a:solidFill>
                <a:latin typeface="Aptos"/>
                <a:ea typeface="Aptos"/>
                <a:cs typeface="Aptos"/>
              </a:rPr>
              <a:t>&gt;40 pts</a:t>
            </a:r>
          </a:p>
        </p:txBody>
      </p:sp>
      <p:sp>
        <p:nvSpPr>
          <p:cNvPr id="8" name="">
            <a:extLst xmlns:a="http://schemas.openxmlformats.org/drawingml/2006/main">
              <a:ext uri="{FF2B5EF4-FFF2-40B4-BE49-F238E27FC236}">
                <a16:creationId xmlns:a16="http://schemas.microsoft.com/office/drawing/2014/main" id="{42AD0B57-01EB-4B02-89F2-BC8C4F6BAD5C}"/>
              </a:ext>
            </a:extLst>
          </p:cNvPr>
          <p:cNvSpPr>
            <a:spLocks xmlns:a="http://schemas.openxmlformats.org/drawingml/2006/main" noGrp="1"/>
          </p:cNvSpPr>
          <p:nvPr/>
        </p:nvSpPr>
        <p:spPr>
          <a:xfrm xmlns:a="http://schemas.openxmlformats.org/drawingml/2006/main">
            <a:off x="3314700" y="20669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wellness-score range</a:t>
            </a:r>
          </a:p>
        </p:txBody>
      </p:sp>
      <p:sp>
        <p:nvSpPr>
          <p:cNvPr id="9" name="">
            <a:extLst xmlns:a="http://schemas.openxmlformats.org/drawingml/2006/main">
              <a:ext uri="{FF2B5EF4-FFF2-40B4-BE49-F238E27FC236}">
                <a16:creationId xmlns:a16="http://schemas.microsoft.com/office/drawing/2014/main" id="{1845CA38-BD0C-4F99-8D06-4A78EAE64681}"/>
              </a:ext>
            </a:extLst>
          </p:cNvPr>
          <p:cNvSpPr>
            <a:spLocks xmlns:a="http://schemas.openxmlformats.org/drawingml/2006/main" noGrp="1"/>
          </p:cNvSpPr>
          <p:nvPr/>
        </p:nvSpPr>
        <p:spPr>
          <a:xfrm xmlns:a="http://schemas.openxmlformats.org/drawingml/2006/main">
            <a:off x="5524500" y="1476375"/>
            <a:ext cx="2095500" cy="1190625"/>
          </a:xfrm>
          <a:prstGeom xmlns:a="http://schemas.openxmlformats.org/drawingml/2006/main" prst="roundRect">
            <a:avLst>
              <a:gd name="adj" fmla="val 96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61FDF93-BA8B-44FF-8C36-E59719A73991}"/>
              </a:ext>
            </a:extLst>
          </p:cNvPr>
          <p:cNvSpPr>
            <a:spLocks xmlns:a="http://schemas.openxmlformats.org/drawingml/2006/main" noGrp="1"/>
          </p:cNvSpPr>
          <p:nvPr/>
        </p:nvSpPr>
        <p:spPr>
          <a:xfrm xmlns:a="http://schemas.openxmlformats.org/drawingml/2006/main">
            <a:off x="5695950" y="16097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5B4BEA"/>
                </a:solidFill>
                <a:latin typeface="Aptos"/>
                <a:ea typeface="Aptos"/>
                <a:cs typeface="Aptos"/>
              </a:defRPr>
            </a:pPr>
            <a:r>
              <a:rPr sz="2550" b="1">
                <a:solidFill>
                  <a:srgbClr val="5B4BEA"/>
                </a:solidFill>
                <a:latin typeface="Aptos"/>
                <a:ea typeface="Aptos"/>
                <a:cs typeface="Aptos"/>
              </a:rPr>
              <a:t>3-5 pp</a:t>
            </a:r>
          </a:p>
        </p:txBody>
      </p:sp>
      <p:sp>
        <p:nvSpPr>
          <p:cNvPr id="11" name="">
            <a:extLst xmlns:a="http://schemas.openxmlformats.org/drawingml/2006/main">
              <a:ext uri="{FF2B5EF4-FFF2-40B4-BE49-F238E27FC236}">
                <a16:creationId xmlns:a16="http://schemas.microsoft.com/office/drawing/2014/main" id="{A32CD51C-9FE0-486C-BCE1-219082091E6B}"/>
              </a:ext>
            </a:extLst>
          </p:cNvPr>
          <p:cNvSpPr>
            <a:spLocks xmlns:a="http://schemas.openxmlformats.org/drawingml/2006/main" noGrp="1"/>
          </p:cNvSpPr>
          <p:nvPr/>
        </p:nvSpPr>
        <p:spPr>
          <a:xfrm xmlns:a="http://schemas.openxmlformats.org/drawingml/2006/main">
            <a:off x="5695950" y="20669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post-smoothing jitter</a:t>
            </a:r>
          </a:p>
        </p:txBody>
      </p:sp>
      <p:sp>
        <p:nvSpPr>
          <p:cNvPr id="12" name="">
            <a:extLst xmlns:a="http://schemas.openxmlformats.org/drawingml/2006/main">
              <a:ext uri="{FF2B5EF4-FFF2-40B4-BE49-F238E27FC236}">
                <a16:creationId xmlns:a16="http://schemas.microsoft.com/office/drawing/2014/main" id="{986BCE34-A6DD-4C0F-9237-3DE14CCD8BB1}"/>
              </a:ext>
            </a:extLst>
          </p:cNvPr>
          <p:cNvSpPr>
            <a:spLocks xmlns:a="http://schemas.openxmlformats.org/drawingml/2006/main" noGrp="1"/>
          </p:cNvSpPr>
          <p:nvPr/>
        </p:nvSpPr>
        <p:spPr>
          <a:xfrm xmlns:a="http://schemas.openxmlformats.org/drawingml/2006/main">
            <a:off x="7905750" y="1476375"/>
            <a:ext cx="2095500" cy="1190625"/>
          </a:xfrm>
          <a:prstGeom xmlns:a="http://schemas.openxmlformats.org/drawingml/2006/main" prst="roundRect">
            <a:avLst>
              <a:gd name="adj" fmla="val 9600"/>
            </a:avLst>
          </a:prstGeom>
          <a:solidFill xmlns:a="http://schemas.openxmlformats.org/drawingml/2006/main">
            <a:srgbClr val="F8FAFC"/>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EA459C94-E170-42E0-8609-0ACAE3783879}"/>
              </a:ext>
            </a:extLst>
          </p:cNvPr>
          <p:cNvSpPr>
            <a:spLocks xmlns:a="http://schemas.openxmlformats.org/drawingml/2006/main" noGrp="1"/>
          </p:cNvSpPr>
          <p:nvPr/>
        </p:nvSpPr>
        <p:spPr>
          <a:xfrm xmlns:a="http://schemas.openxmlformats.org/drawingml/2006/main">
            <a:off x="8077200" y="16097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5B4BEA"/>
                </a:solidFill>
                <a:latin typeface="Aptos"/>
                <a:ea typeface="Aptos"/>
                <a:cs typeface="Aptos"/>
              </a:defRPr>
            </a:pPr>
            <a:r>
              <a:rPr sz="2550" b="1">
                <a:solidFill>
                  <a:srgbClr val="5B4BEA"/>
                </a:solidFill>
                <a:latin typeface="Aptos"/>
                <a:ea typeface="Aptos"/>
                <a:cs typeface="Aptos"/>
              </a:rPr>
              <a:t>100%</a:t>
            </a:r>
          </a:p>
        </p:txBody>
      </p:sp>
      <p:sp>
        <p:nvSpPr>
          <p:cNvPr id="14" name="">
            <a:extLst xmlns:a="http://schemas.openxmlformats.org/drawingml/2006/main">
              <a:ext uri="{FF2B5EF4-FFF2-40B4-BE49-F238E27FC236}">
                <a16:creationId xmlns:a16="http://schemas.microsoft.com/office/drawing/2014/main" id="{9BA83201-7828-442A-B6DE-8A30F62D5EA1}"/>
              </a:ext>
            </a:extLst>
          </p:cNvPr>
          <p:cNvSpPr>
            <a:spLocks xmlns:a="http://schemas.openxmlformats.org/drawingml/2006/main" noGrp="1"/>
          </p:cNvSpPr>
          <p:nvPr/>
        </p:nvSpPr>
        <p:spPr>
          <a:xfrm xmlns:a="http://schemas.openxmlformats.org/drawingml/2006/main">
            <a:off x="8077200" y="2066925"/>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synthetic regex extraction</a:t>
            </a:r>
          </a:p>
        </p:txBody>
      </p:sp>
      <p:sp>
        <p:nvSpPr>
          <p:cNvPr id="15" name="">
            <a:extLst xmlns:a="http://schemas.openxmlformats.org/drawingml/2006/main">
              <a:ext uri="{FF2B5EF4-FFF2-40B4-BE49-F238E27FC236}">
                <a16:creationId xmlns:a16="http://schemas.microsoft.com/office/drawing/2014/main" id="{5BBE8BE4-3CD3-477D-BD52-4D4E2E3F4A65}"/>
              </a:ext>
            </a:extLst>
          </p:cNvPr>
          <p:cNvSpPr>
            <a:spLocks xmlns:a="http://schemas.openxmlformats.org/drawingml/2006/main" noGrp="1"/>
          </p:cNvSpPr>
          <p:nvPr/>
        </p:nvSpPr>
        <p:spPr>
          <a:xfrm xmlns:a="http://schemas.openxmlformats.org/drawingml/2006/main">
            <a:off x="10287000" y="1476375"/>
            <a:ext cx="1333500" cy="1190625"/>
          </a:xfrm>
          <a:prstGeom xmlns:a="http://schemas.openxmlformats.org/drawingml/2006/main" prst="roundRect">
            <a:avLst>
              <a:gd name="adj" fmla="val 9600"/>
            </a:avLst>
          </a:prstGeom>
          <a:solidFill xmlns:a="http://schemas.openxmlformats.org/drawingml/2006/main">
            <a:srgbClr val="F8FAFC"/>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FA0F7BE3-92C7-4380-A5BD-9F102CB8A752}"/>
              </a:ext>
            </a:extLst>
          </p:cNvPr>
          <p:cNvSpPr>
            <a:spLocks xmlns:a="http://schemas.openxmlformats.org/drawingml/2006/main" noGrp="1"/>
          </p:cNvSpPr>
          <p:nvPr/>
        </p:nvSpPr>
        <p:spPr>
          <a:xfrm xmlns:a="http://schemas.openxmlformats.org/drawingml/2006/main">
            <a:off x="10458450" y="1609725"/>
            <a:ext cx="99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5B4BEA"/>
                </a:solidFill>
                <a:latin typeface="Aptos"/>
                <a:ea typeface="Aptos"/>
                <a:cs typeface="Aptos"/>
              </a:defRPr>
            </a:pPr>
            <a:r>
              <a:rPr sz="2550" b="1">
                <a:solidFill>
                  <a:srgbClr val="5B4BEA"/>
                </a:solidFill>
                <a:latin typeface="Aptos"/>
                <a:ea typeface="Aptos"/>
                <a:cs typeface="Aptos"/>
              </a:rPr>
              <a:t>&lt;0.5s</a:t>
            </a:r>
          </a:p>
        </p:txBody>
      </p:sp>
      <p:sp>
        <p:nvSpPr>
          <p:cNvPr id="17" name="">
            <a:extLst xmlns:a="http://schemas.openxmlformats.org/drawingml/2006/main">
              <a:ext uri="{FF2B5EF4-FFF2-40B4-BE49-F238E27FC236}">
                <a16:creationId xmlns:a16="http://schemas.microsoft.com/office/drawing/2014/main" id="{53ED5E24-50A1-4BE1-ADB4-AA01165C9D8D}"/>
              </a:ext>
            </a:extLst>
          </p:cNvPr>
          <p:cNvSpPr>
            <a:spLocks xmlns:a="http://schemas.openxmlformats.org/drawingml/2006/main" noGrp="1"/>
          </p:cNvSpPr>
          <p:nvPr/>
        </p:nvSpPr>
        <p:spPr>
          <a:xfrm xmlns:a="http://schemas.openxmlformats.org/drawingml/2006/main">
            <a:off x="10458450" y="2066925"/>
            <a:ext cx="99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475569"/>
                </a:solidFill>
                <a:latin typeface="Aptos"/>
                <a:ea typeface="Aptos"/>
                <a:cs typeface="Aptos"/>
              </a:defRPr>
            </a:pPr>
            <a:r>
              <a:rPr sz="975">
                <a:solidFill>
                  <a:srgbClr val="475569"/>
                </a:solidFill>
                <a:latin typeface="Aptos"/>
                <a:ea typeface="Aptos"/>
                <a:cs typeface="Aptos"/>
              </a:rPr>
              <a:t>manual SOS</a:t>
            </a:r>
          </a:p>
        </p:txBody>
      </p:sp>
      <p:sp>
        <p:nvSpPr>
          <p:cNvPr id="18" name="">
            <a:extLst xmlns:a="http://schemas.openxmlformats.org/drawingml/2006/main">
              <a:ext uri="{FF2B5EF4-FFF2-40B4-BE49-F238E27FC236}">
                <a16:creationId xmlns:a16="http://schemas.microsoft.com/office/drawing/2014/main" id="{74455DA0-0F0D-4F47-96B8-112EAFD1AFEF}"/>
              </a:ext>
            </a:extLst>
          </p:cNvPr>
          <p:cNvSpPr>
            <a:spLocks xmlns:a="http://schemas.openxmlformats.org/drawingml/2006/main" noGrp="1"/>
          </p:cNvSpPr>
          <p:nvPr/>
        </p:nvSpPr>
        <p:spPr>
          <a:xfrm xmlns:a="http://schemas.openxmlformats.org/drawingml/2006/main">
            <a:off x="857250" y="3333750"/>
            <a:ext cx="23812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8A6AACAB-3CAA-4BE4-8139-0A5F18BFB5FE}"/>
              </a:ext>
            </a:extLst>
          </p:cNvPr>
          <p:cNvSpPr>
            <a:spLocks xmlns:a="http://schemas.openxmlformats.org/drawingml/2006/main" noGrp="1"/>
          </p:cNvSpPr>
          <p:nvPr/>
        </p:nvSpPr>
        <p:spPr>
          <a:xfrm xmlns:a="http://schemas.openxmlformats.org/drawingml/2006/main">
            <a:off x="857250" y="3333750"/>
            <a:ext cx="66675" cy="1428750"/>
          </a:xfrm>
          <a:prstGeom xmlns:a="http://schemas.openxmlformats.org/drawingml/2006/main" prst="rect">
            <a:avLst/>
          </a:prstGeom>
          <a:solidFill xmlns:a="http://schemas.openxmlformats.org/drawingml/2006/main">
            <a:srgbClr val="5B4BEA"/>
          </a:solidFill>
          <a:ln xmlns:a="http://schemas.openxmlformats.org/drawingml/2006/main" w="0">
            <a:solidFill>
              <a:srgbClr val="5B4BEA"/>
            </a:solidFill>
            <a:prstDash val="solid"/>
          </a:ln>
        </p:spPr>
      </p:sp>
      <p:sp>
        <p:nvSpPr>
          <p:cNvPr id="20" name="">
            <a:extLst xmlns:a="http://schemas.openxmlformats.org/drawingml/2006/main">
              <a:ext uri="{FF2B5EF4-FFF2-40B4-BE49-F238E27FC236}">
                <a16:creationId xmlns:a16="http://schemas.microsoft.com/office/drawing/2014/main" id="{DE5F5F0E-09EE-4B64-AC15-AF7B54D1CE95}"/>
              </a:ext>
            </a:extLst>
          </p:cNvPr>
          <p:cNvSpPr>
            <a:spLocks xmlns:a="http://schemas.openxmlformats.org/drawingml/2006/main" noGrp="1"/>
          </p:cNvSpPr>
          <p:nvPr/>
        </p:nvSpPr>
        <p:spPr>
          <a:xfrm xmlns:a="http://schemas.openxmlformats.org/drawingml/2006/main">
            <a:off x="1085850" y="350520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Face analysis</a:t>
            </a:r>
          </a:p>
        </p:txBody>
      </p:sp>
      <p:sp>
        <p:nvSpPr>
          <p:cNvPr id="21" name="">
            <a:extLst xmlns:a="http://schemas.openxmlformats.org/drawingml/2006/main">
              <a:ext uri="{FF2B5EF4-FFF2-40B4-BE49-F238E27FC236}">
                <a16:creationId xmlns:a16="http://schemas.microsoft.com/office/drawing/2014/main" id="{EA307BBC-F90F-4490-8B7D-9AA9232D0178}"/>
              </a:ext>
            </a:extLst>
          </p:cNvPr>
          <p:cNvSpPr>
            <a:spLocks xmlns:a="http://schemas.openxmlformats.org/drawingml/2006/main" noGrp="1"/>
          </p:cNvSpPr>
          <p:nvPr/>
        </p:nvSpPr>
        <p:spPr>
          <a:xfrm xmlns:a="http://schemas.openxmlformats.org/drawingml/2006/main">
            <a:off x="1085850" y="3867150"/>
            <a:ext cx="1924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Stable 4 Hz inference; EWMA reduced visible jitter in the camera overlay.</a:t>
            </a:r>
          </a:p>
        </p:txBody>
      </p:sp>
      <p:sp>
        <p:nvSpPr>
          <p:cNvPr id="22" name="">
            <a:extLst xmlns:a="http://schemas.openxmlformats.org/drawingml/2006/main">
              <a:ext uri="{FF2B5EF4-FFF2-40B4-BE49-F238E27FC236}">
                <a16:creationId xmlns:a16="http://schemas.microsoft.com/office/drawing/2014/main" id="{929EC215-2B21-472F-B62D-496EABDF2D87}"/>
              </a:ext>
            </a:extLst>
          </p:cNvPr>
          <p:cNvSpPr>
            <a:spLocks xmlns:a="http://schemas.openxmlformats.org/drawingml/2006/main" noGrp="1"/>
          </p:cNvSpPr>
          <p:nvPr/>
        </p:nvSpPr>
        <p:spPr>
          <a:xfrm xmlns:a="http://schemas.openxmlformats.org/drawingml/2006/main">
            <a:off x="3524250" y="3333750"/>
            <a:ext cx="23812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90C8D466-AEDA-4279-83CE-A8741CA7A0DF}"/>
              </a:ext>
            </a:extLst>
          </p:cNvPr>
          <p:cNvSpPr>
            <a:spLocks xmlns:a="http://schemas.openxmlformats.org/drawingml/2006/main" noGrp="1"/>
          </p:cNvSpPr>
          <p:nvPr/>
        </p:nvSpPr>
        <p:spPr>
          <a:xfrm xmlns:a="http://schemas.openxmlformats.org/drawingml/2006/main">
            <a:off x="3524250" y="3333750"/>
            <a:ext cx="66675" cy="14287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24" name="">
            <a:extLst xmlns:a="http://schemas.openxmlformats.org/drawingml/2006/main">
              <a:ext uri="{FF2B5EF4-FFF2-40B4-BE49-F238E27FC236}">
                <a16:creationId xmlns:a16="http://schemas.microsoft.com/office/drawing/2014/main" id="{14490E4E-9315-47C8-A8C7-221947CB95B3}"/>
              </a:ext>
            </a:extLst>
          </p:cNvPr>
          <p:cNvSpPr>
            <a:spLocks xmlns:a="http://schemas.openxmlformats.org/drawingml/2006/main" noGrp="1"/>
          </p:cNvSpPr>
          <p:nvPr/>
        </p:nvSpPr>
        <p:spPr>
          <a:xfrm xmlns:a="http://schemas.openxmlformats.org/drawingml/2006/main">
            <a:off x="3752850" y="350520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Memory engine</a:t>
            </a:r>
          </a:p>
        </p:txBody>
      </p:sp>
      <p:sp>
        <p:nvSpPr>
          <p:cNvPr id="25" name="">
            <a:extLst xmlns:a="http://schemas.openxmlformats.org/drawingml/2006/main">
              <a:ext uri="{FF2B5EF4-FFF2-40B4-BE49-F238E27FC236}">
                <a16:creationId xmlns:a16="http://schemas.microsoft.com/office/drawing/2014/main" id="{1592046E-0296-4851-8930-94906CC05386}"/>
              </a:ext>
            </a:extLst>
          </p:cNvPr>
          <p:cNvSpPr>
            <a:spLocks xmlns:a="http://schemas.openxmlformats.org/drawingml/2006/main" noGrp="1"/>
          </p:cNvSpPr>
          <p:nvPr/>
        </p:nvSpPr>
        <p:spPr>
          <a:xfrm xmlns:a="http://schemas.openxmlformats.org/drawingml/2006/main">
            <a:off x="3752850" y="3867150"/>
            <a:ext cx="1924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Ten-emotion parser reached 100% extraction accuracy on synthetic records.</a:t>
            </a:r>
          </a:p>
        </p:txBody>
      </p:sp>
      <p:sp>
        <p:nvSpPr>
          <p:cNvPr id="26" name="">
            <a:extLst xmlns:a="http://schemas.openxmlformats.org/drawingml/2006/main">
              <a:ext uri="{FF2B5EF4-FFF2-40B4-BE49-F238E27FC236}">
                <a16:creationId xmlns:a16="http://schemas.microsoft.com/office/drawing/2014/main" id="{D7C45032-9B45-4F17-90CF-C27315AC2C9A}"/>
              </a:ext>
            </a:extLst>
          </p:cNvPr>
          <p:cNvSpPr>
            <a:spLocks xmlns:a="http://schemas.openxmlformats.org/drawingml/2006/main" noGrp="1"/>
          </p:cNvSpPr>
          <p:nvPr/>
        </p:nvSpPr>
        <p:spPr>
          <a:xfrm xmlns:a="http://schemas.openxmlformats.org/drawingml/2006/main">
            <a:off x="6191250" y="3333750"/>
            <a:ext cx="23812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0ACDB1D4-612A-4A56-A6B1-3551190F9316}"/>
              </a:ext>
            </a:extLst>
          </p:cNvPr>
          <p:cNvSpPr>
            <a:spLocks xmlns:a="http://schemas.openxmlformats.org/drawingml/2006/main" noGrp="1"/>
          </p:cNvSpPr>
          <p:nvPr/>
        </p:nvSpPr>
        <p:spPr>
          <a:xfrm xmlns:a="http://schemas.openxmlformats.org/drawingml/2006/main">
            <a:off x="6191250" y="3333750"/>
            <a:ext cx="66675" cy="14287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28" name="">
            <a:extLst xmlns:a="http://schemas.openxmlformats.org/drawingml/2006/main">
              <a:ext uri="{FF2B5EF4-FFF2-40B4-BE49-F238E27FC236}">
                <a16:creationId xmlns:a16="http://schemas.microsoft.com/office/drawing/2014/main" id="{00A0A0E1-84D3-49DC-99F3-FC417EA62F2F}"/>
              </a:ext>
            </a:extLst>
          </p:cNvPr>
          <p:cNvSpPr>
            <a:spLocks xmlns:a="http://schemas.openxmlformats.org/drawingml/2006/main" noGrp="1"/>
          </p:cNvSpPr>
          <p:nvPr/>
        </p:nvSpPr>
        <p:spPr>
          <a:xfrm xmlns:a="http://schemas.openxmlformats.org/drawingml/2006/main">
            <a:off x="6419850" y="350520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Safety workflow</a:t>
            </a:r>
          </a:p>
        </p:txBody>
      </p:sp>
      <p:sp>
        <p:nvSpPr>
          <p:cNvPr id="29" name="">
            <a:extLst xmlns:a="http://schemas.openxmlformats.org/drawingml/2006/main">
              <a:ext uri="{FF2B5EF4-FFF2-40B4-BE49-F238E27FC236}">
                <a16:creationId xmlns:a16="http://schemas.microsoft.com/office/drawing/2014/main" id="{9979A7D6-DFF6-45B8-BC95-E4E7984B0C78}"/>
              </a:ext>
            </a:extLst>
          </p:cNvPr>
          <p:cNvSpPr>
            <a:spLocks xmlns:a="http://schemas.openxmlformats.org/drawingml/2006/main" noGrp="1"/>
          </p:cNvSpPr>
          <p:nvPr/>
        </p:nvSpPr>
        <p:spPr>
          <a:xfrm xmlns:a="http://schemas.openxmlformats.org/drawingml/2006/main">
            <a:off x="6419850" y="3867150"/>
            <a:ext cx="1924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Manual, shake, and passive facial SOS cues were validated for response behavior.</a:t>
            </a:r>
          </a:p>
        </p:txBody>
      </p:sp>
      <p:sp>
        <p:nvSpPr>
          <p:cNvPr id="30" name="">
            <a:extLst xmlns:a="http://schemas.openxmlformats.org/drawingml/2006/main">
              <a:ext uri="{FF2B5EF4-FFF2-40B4-BE49-F238E27FC236}">
                <a16:creationId xmlns:a16="http://schemas.microsoft.com/office/drawing/2014/main" id="{ECA54CF4-CBB2-4CDB-A738-138FBC061D43}"/>
              </a:ext>
            </a:extLst>
          </p:cNvPr>
          <p:cNvSpPr>
            <a:spLocks xmlns:a="http://schemas.openxmlformats.org/drawingml/2006/main" noGrp="1"/>
          </p:cNvSpPr>
          <p:nvPr/>
        </p:nvSpPr>
        <p:spPr>
          <a:xfrm xmlns:a="http://schemas.openxmlformats.org/drawingml/2006/main">
            <a:off x="8667750" y="3476625"/>
            <a:ext cx="257175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6625D0AB-2BFD-45F0-B958-6617D7FB36C4}"/>
              </a:ext>
            </a:extLst>
          </p:cNvPr>
          <p:cNvSpPr>
            <a:spLocks xmlns:a="http://schemas.openxmlformats.org/drawingml/2006/main" noGrp="1"/>
          </p:cNvSpPr>
          <p:nvPr/>
        </p:nvSpPr>
        <p:spPr>
          <a:xfrm xmlns:a="http://schemas.openxmlformats.org/drawingml/2006/main">
            <a:off x="8667750" y="3476625"/>
            <a:ext cx="66675" cy="161925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32" name="">
            <a:extLst xmlns:a="http://schemas.openxmlformats.org/drawingml/2006/main">
              <a:ext uri="{FF2B5EF4-FFF2-40B4-BE49-F238E27FC236}">
                <a16:creationId xmlns:a16="http://schemas.microsoft.com/office/drawing/2014/main" id="{387FF262-C973-4480-90B7-DD4C0CDD9E36}"/>
              </a:ext>
            </a:extLst>
          </p:cNvPr>
          <p:cNvSpPr>
            <a:spLocks xmlns:a="http://schemas.openxmlformats.org/drawingml/2006/main" noGrp="1"/>
          </p:cNvSpPr>
          <p:nvPr/>
        </p:nvSpPr>
        <p:spPr>
          <a:xfrm xmlns:a="http://schemas.openxmlformats.org/drawingml/2006/main">
            <a:off x="8896350" y="3648075"/>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Interpretation</a:t>
            </a:r>
          </a:p>
        </p:txBody>
      </p:sp>
      <p:sp>
        <p:nvSpPr>
          <p:cNvPr id="33" name="">
            <a:extLst xmlns:a="http://schemas.openxmlformats.org/drawingml/2006/main">
              <a:ext uri="{FF2B5EF4-FFF2-40B4-BE49-F238E27FC236}">
                <a16:creationId xmlns:a16="http://schemas.microsoft.com/office/drawing/2014/main" id="{C39DC5A0-0BF3-49C5-9D64-B680592CB00C}"/>
              </a:ext>
            </a:extLst>
          </p:cNvPr>
          <p:cNvSpPr>
            <a:spLocks xmlns:a="http://schemas.openxmlformats.org/drawingml/2006/main" noGrp="1"/>
          </p:cNvSpPr>
          <p:nvPr/>
        </p:nvSpPr>
        <p:spPr>
          <a:xfrm xmlns:a="http://schemas.openxmlformats.org/drawingml/2006/main">
            <a:off x="8896350" y="4010025"/>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The result supports technical feasibility, while clinical effectiveness still requires user studies and validated scales.</a:t>
            </a:r>
          </a:p>
        </p:txBody>
      </p:sp>
      <p:sp>
        <p:nvSpPr>
          <p:cNvPr id="34" name="">
            <a:extLst xmlns:a="http://schemas.openxmlformats.org/drawingml/2006/main">
              <a:ext uri="{FF2B5EF4-FFF2-40B4-BE49-F238E27FC236}">
                <a16:creationId xmlns:a16="http://schemas.microsoft.com/office/drawing/2014/main" id="{8C6C3233-E5A7-4C38-9652-F2B35CAFF27A}"/>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5/7</a:t>
            </a:r>
          </a:p>
        </p:txBody>
      </p:sp>
    </p:spTree>
    <p:extLst>
      <p:ext uri="{BB962C8B-B14F-4D97-AF65-F5344CB8AC3E}">
        <p14:creationId xmlns:p14="http://schemas.microsoft.com/office/powerpoint/2010/main" val="8385979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A0F540-3B35-48E9-9FFD-42F7490CF346}"/>
              </a:ext>
            </a:extLst>
          </p:cNvPr>
          <p:cNvSpPr>
            <a:spLocks xmlns:a="http://schemas.openxmlformats.org/drawingml/2006/main" noGrp="1"/>
          </p:cNvSpPr>
          <p:nvPr/>
        </p:nvSpPr>
        <p:spPr>
          <a:xfrm xmlns:a="http://schemas.openxmlformats.org/drawingml/2006/main">
            <a:off x="609600" y="4572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11827"/>
                </a:solidFill>
                <a:latin typeface="Aptos"/>
                <a:ea typeface="Aptos"/>
                <a:cs typeface="Aptos"/>
              </a:defRPr>
            </a:pPr>
            <a:r>
              <a:rPr sz="2700" b="1">
                <a:solidFill>
                  <a:srgbClr val="111827"/>
                </a:solidFill>
                <a:latin typeface="Aptos"/>
                <a:ea typeface="Aptos"/>
                <a:cs typeface="Aptos"/>
              </a:rPr>
              <a:t>Privacy and user agency</a:t>
            </a:r>
          </a:p>
        </p:txBody>
      </p:sp>
      <p:sp>
        <p:nvSpPr>
          <p:cNvPr id="2" name="">
            <a:extLst xmlns:a="http://schemas.openxmlformats.org/drawingml/2006/main">
              <a:ext uri="{FF2B5EF4-FFF2-40B4-BE49-F238E27FC236}">
                <a16:creationId xmlns:a16="http://schemas.microsoft.com/office/drawing/2014/main" id="{6B8BD42C-FE8F-4B3B-A241-0678B3C8332B}"/>
              </a:ext>
            </a:extLst>
          </p:cNvPr>
          <p:cNvSpPr>
            <a:spLocks xmlns:a="http://schemas.openxmlformats.org/drawingml/2006/main" noGrp="1"/>
          </p:cNvSpPr>
          <p:nvPr/>
        </p:nvSpPr>
        <p:spPr>
          <a:xfrm xmlns:a="http://schemas.openxmlformats.org/drawingml/2006/main">
            <a:off x="628650" y="99060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Emotion recognition should support the user, not override the user.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23f8ca2c0b14bf0"/>
          <a:srcRect xmlns:a="http://schemas.openxmlformats.org/drawingml/2006/main" l="0" t="10094" r="0" b="10094"/>
          <a:stretch xmlns:a="http://schemas.openxmlformats.org/drawingml/2006/main">
            <a:fillRect l="0" t="0" r="0" b="0"/>
          </a:stretch>
        </p:blipFill>
        <p:spPr>
          <a:xfrm xmlns:a="http://schemas.openxmlformats.org/drawingml/2006/main">
            <a:off x="742950" y="1447800"/>
            <a:ext cx="2524125" cy="4476750"/>
          </a:xfrm>
          <a:prstGeom xmlns:a="http://schemas.openxmlformats.org/drawingml/2006/main" prst="roundRect">
            <a:avLst>
              <a:gd name="adj" fmla="val 6038"/>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bfc4028bace4488"/>
          <a:srcRect xmlns:a="http://schemas.openxmlformats.org/drawingml/2006/main" l="0" t="10094" r="0" b="10094"/>
          <a:stretch xmlns:a="http://schemas.openxmlformats.org/drawingml/2006/main">
            <a:fillRect l="0" t="0" r="0" b="0"/>
          </a:stretch>
        </p:blipFill>
        <p:spPr>
          <a:xfrm xmlns:a="http://schemas.openxmlformats.org/drawingml/2006/main">
            <a:off x="3638550" y="1447800"/>
            <a:ext cx="2524125" cy="4476750"/>
          </a:xfrm>
          <a:prstGeom xmlns:a="http://schemas.openxmlformats.org/drawingml/2006/main" prst="roundRect">
            <a:avLst>
              <a:gd name="adj" fmla="val 6038"/>
            </a:avLst>
          </a:prstGeom>
        </p:spPr>
      </p:pic>
      <p:sp>
        <p:nvSpPr>
          <p:cNvPr id="5" name="">
            <a:extLst xmlns:a="http://schemas.openxmlformats.org/drawingml/2006/main">
              <a:ext uri="{FF2B5EF4-FFF2-40B4-BE49-F238E27FC236}">
                <a16:creationId xmlns:a16="http://schemas.microsoft.com/office/drawing/2014/main" id="{82B214DD-DE9A-445E-9E1A-3A1D66486C07}"/>
              </a:ext>
            </a:extLst>
          </p:cNvPr>
          <p:cNvSpPr>
            <a:spLocks xmlns:a="http://schemas.openxmlformats.org/drawingml/2006/main" noGrp="1"/>
          </p:cNvSpPr>
          <p:nvPr/>
        </p:nvSpPr>
        <p:spPr>
          <a:xfrm xmlns:a="http://schemas.openxmlformats.org/drawingml/2006/main">
            <a:off x="6858000" y="1571625"/>
            <a:ext cx="428625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9127EFE-73CE-44D1-AA49-174C93EEE638}"/>
              </a:ext>
            </a:extLst>
          </p:cNvPr>
          <p:cNvSpPr>
            <a:spLocks xmlns:a="http://schemas.openxmlformats.org/drawingml/2006/main" noGrp="1"/>
          </p:cNvSpPr>
          <p:nvPr/>
        </p:nvSpPr>
        <p:spPr>
          <a:xfrm xmlns:a="http://schemas.openxmlformats.org/drawingml/2006/main">
            <a:off x="6858000" y="1571625"/>
            <a:ext cx="66675" cy="990600"/>
          </a:xfrm>
          <a:prstGeom xmlns:a="http://schemas.openxmlformats.org/drawingml/2006/main" prst="rect">
            <a:avLst/>
          </a:prstGeom>
          <a:solidFill xmlns:a="http://schemas.openxmlformats.org/drawingml/2006/main">
            <a:srgbClr val="5B4BEA"/>
          </a:solidFill>
          <a:ln xmlns:a="http://schemas.openxmlformats.org/drawingml/2006/main" w="0">
            <a:solidFill>
              <a:srgbClr val="5B4BEA"/>
            </a:solidFill>
            <a:prstDash val="solid"/>
          </a:ln>
        </p:spPr>
      </p:sp>
      <p:sp>
        <p:nvSpPr>
          <p:cNvPr id="7" name="">
            <a:extLst xmlns:a="http://schemas.openxmlformats.org/drawingml/2006/main">
              <a:ext uri="{FF2B5EF4-FFF2-40B4-BE49-F238E27FC236}">
                <a16:creationId xmlns:a16="http://schemas.microsoft.com/office/drawing/2014/main" id="{57493C4D-AA23-4F48-9550-299A2FBEA360}"/>
              </a:ext>
            </a:extLst>
          </p:cNvPr>
          <p:cNvSpPr>
            <a:spLocks xmlns:a="http://schemas.openxmlformats.org/drawingml/2006/main" noGrp="1"/>
          </p:cNvSpPr>
          <p:nvPr/>
        </p:nvSpPr>
        <p:spPr>
          <a:xfrm xmlns:a="http://schemas.openxmlformats.org/drawingml/2006/main">
            <a:off x="7086600" y="1743075"/>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Local-first boundary</a:t>
            </a:r>
          </a:p>
        </p:txBody>
      </p:sp>
      <p:sp>
        <p:nvSpPr>
          <p:cNvPr id="8" name="">
            <a:extLst xmlns:a="http://schemas.openxmlformats.org/drawingml/2006/main">
              <a:ext uri="{FF2B5EF4-FFF2-40B4-BE49-F238E27FC236}">
                <a16:creationId xmlns:a16="http://schemas.microsoft.com/office/drawing/2014/main" id="{69D1DC6B-F27A-4904-8F7C-463520539AC0}"/>
              </a:ext>
            </a:extLst>
          </p:cNvPr>
          <p:cNvSpPr>
            <a:spLocks xmlns:a="http://schemas.openxmlformats.org/drawingml/2006/main" noGrp="1"/>
          </p:cNvSpPr>
          <p:nvPr/>
        </p:nvSpPr>
        <p:spPr>
          <a:xfrm xmlns:a="http://schemas.openxmlformats.org/drawingml/2006/main">
            <a:off x="7086600" y="2105025"/>
            <a:ext cx="3829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Raw facial inference runs on-device; records are stored locally; export and clearing remain user-controlled.</a:t>
            </a:r>
          </a:p>
        </p:txBody>
      </p:sp>
      <p:sp>
        <p:nvSpPr>
          <p:cNvPr id="9" name="">
            <a:extLst xmlns:a="http://schemas.openxmlformats.org/drawingml/2006/main">
              <a:ext uri="{FF2B5EF4-FFF2-40B4-BE49-F238E27FC236}">
                <a16:creationId xmlns:a16="http://schemas.microsoft.com/office/drawing/2014/main" id="{C484CB80-A640-4D7D-AE88-591015133552}"/>
              </a:ext>
            </a:extLst>
          </p:cNvPr>
          <p:cNvSpPr>
            <a:spLocks xmlns:a="http://schemas.openxmlformats.org/drawingml/2006/main" noGrp="1"/>
          </p:cNvSpPr>
          <p:nvPr/>
        </p:nvSpPr>
        <p:spPr>
          <a:xfrm xmlns:a="http://schemas.openxmlformats.org/drawingml/2006/main">
            <a:off x="6858000" y="2857500"/>
            <a:ext cx="428625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B361C65-A41D-4641-8F4D-8E9F3DB8F2D8}"/>
              </a:ext>
            </a:extLst>
          </p:cNvPr>
          <p:cNvSpPr>
            <a:spLocks xmlns:a="http://schemas.openxmlformats.org/drawingml/2006/main" noGrp="1"/>
          </p:cNvSpPr>
          <p:nvPr/>
        </p:nvSpPr>
        <p:spPr>
          <a:xfrm xmlns:a="http://schemas.openxmlformats.org/drawingml/2006/main">
            <a:off x="6858000" y="2857500"/>
            <a:ext cx="66675" cy="9906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1" name="">
            <a:extLst xmlns:a="http://schemas.openxmlformats.org/drawingml/2006/main">
              <a:ext uri="{FF2B5EF4-FFF2-40B4-BE49-F238E27FC236}">
                <a16:creationId xmlns:a16="http://schemas.microsoft.com/office/drawing/2014/main" id="{621DC1FD-2DF7-4733-B8F6-ABF187FF855A}"/>
              </a:ext>
            </a:extLst>
          </p:cNvPr>
          <p:cNvSpPr>
            <a:spLocks xmlns:a="http://schemas.openxmlformats.org/drawingml/2006/main" noGrp="1"/>
          </p:cNvSpPr>
          <p:nvPr/>
        </p:nvSpPr>
        <p:spPr>
          <a:xfrm xmlns:a="http://schemas.openxmlformats.org/drawingml/2006/main">
            <a:off x="7086600" y="302895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LLM as explanation layer</a:t>
            </a:r>
          </a:p>
        </p:txBody>
      </p:sp>
      <p:sp>
        <p:nvSpPr>
          <p:cNvPr id="12" name="">
            <a:extLst xmlns:a="http://schemas.openxmlformats.org/drawingml/2006/main">
              <a:ext uri="{FF2B5EF4-FFF2-40B4-BE49-F238E27FC236}">
                <a16:creationId xmlns:a16="http://schemas.microsoft.com/office/drawing/2014/main" id="{5631FD2A-D237-4B17-9209-9E3B9525A0CE}"/>
              </a:ext>
            </a:extLst>
          </p:cNvPr>
          <p:cNvSpPr>
            <a:spLocks xmlns:a="http://schemas.openxmlformats.org/drawingml/2006/main" noGrp="1"/>
          </p:cNvSpPr>
          <p:nvPr/>
        </p:nvSpPr>
        <p:spPr>
          <a:xfrm xmlns:a="http://schemas.openxmlformats.org/drawingml/2006/main">
            <a:off x="7086600" y="3390900"/>
            <a:ext cx="3829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The model receives structured context and produces supportive language, not the primary detection result.</a:t>
            </a:r>
          </a:p>
        </p:txBody>
      </p:sp>
      <p:sp>
        <p:nvSpPr>
          <p:cNvPr id="13" name="">
            <a:extLst xmlns:a="http://schemas.openxmlformats.org/drawingml/2006/main">
              <a:ext uri="{FF2B5EF4-FFF2-40B4-BE49-F238E27FC236}">
                <a16:creationId xmlns:a16="http://schemas.microsoft.com/office/drawing/2014/main" id="{B48ED240-4339-428F-B27B-794B41417F75}"/>
              </a:ext>
            </a:extLst>
          </p:cNvPr>
          <p:cNvSpPr>
            <a:spLocks xmlns:a="http://schemas.openxmlformats.org/drawingml/2006/main" noGrp="1"/>
          </p:cNvSpPr>
          <p:nvPr/>
        </p:nvSpPr>
        <p:spPr>
          <a:xfrm xmlns:a="http://schemas.openxmlformats.org/drawingml/2006/main">
            <a:off x="6858000" y="4143375"/>
            <a:ext cx="428625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F754515-A2C0-4F84-A430-46F53C9A1D4F}"/>
              </a:ext>
            </a:extLst>
          </p:cNvPr>
          <p:cNvSpPr>
            <a:spLocks xmlns:a="http://schemas.openxmlformats.org/drawingml/2006/main" noGrp="1"/>
          </p:cNvSpPr>
          <p:nvPr/>
        </p:nvSpPr>
        <p:spPr>
          <a:xfrm xmlns:a="http://schemas.openxmlformats.org/drawingml/2006/main">
            <a:off x="6858000" y="4143375"/>
            <a:ext cx="66675" cy="9906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5" name="">
            <a:extLst xmlns:a="http://schemas.openxmlformats.org/drawingml/2006/main">
              <a:ext uri="{FF2B5EF4-FFF2-40B4-BE49-F238E27FC236}">
                <a16:creationId xmlns:a16="http://schemas.microsoft.com/office/drawing/2014/main" id="{5D2F8C3E-BE05-45E3-9209-83C1FF77BF27}"/>
              </a:ext>
            </a:extLst>
          </p:cNvPr>
          <p:cNvSpPr>
            <a:spLocks xmlns:a="http://schemas.openxmlformats.org/drawingml/2006/main" noGrp="1"/>
          </p:cNvSpPr>
          <p:nvPr/>
        </p:nvSpPr>
        <p:spPr>
          <a:xfrm xmlns:a="http://schemas.openxmlformats.org/drawingml/2006/main">
            <a:off x="7086600" y="4314825"/>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User-confirmed SOS</a:t>
            </a:r>
          </a:p>
        </p:txBody>
      </p:sp>
      <p:sp>
        <p:nvSpPr>
          <p:cNvPr id="16" name="">
            <a:extLst xmlns:a="http://schemas.openxmlformats.org/drawingml/2006/main">
              <a:ext uri="{FF2B5EF4-FFF2-40B4-BE49-F238E27FC236}">
                <a16:creationId xmlns:a16="http://schemas.microsoft.com/office/drawing/2014/main" id="{15AAB20D-0A59-480C-AF9D-5CC4595654A9}"/>
              </a:ext>
            </a:extLst>
          </p:cNvPr>
          <p:cNvSpPr>
            <a:spLocks xmlns:a="http://schemas.openxmlformats.org/drawingml/2006/main" noGrp="1"/>
          </p:cNvSpPr>
          <p:nvPr/>
        </p:nvSpPr>
        <p:spPr>
          <a:xfrm xmlns:a="http://schemas.openxmlformats.org/drawingml/2006/main">
            <a:off x="7086600" y="4676775"/>
            <a:ext cx="3829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Negative signals can surface a cue, but emergency action requires confirmation.</a:t>
            </a:r>
          </a:p>
        </p:txBody>
      </p:sp>
      <p:sp>
        <p:nvSpPr>
          <p:cNvPr id="17" name="">
            <a:extLst xmlns:a="http://schemas.openxmlformats.org/drawingml/2006/main">
              <a:ext uri="{FF2B5EF4-FFF2-40B4-BE49-F238E27FC236}">
                <a16:creationId xmlns:a16="http://schemas.microsoft.com/office/drawing/2014/main" id="{FDA3286C-4BD3-4E4A-9DE7-E49DDE31E79B}"/>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6/7</a:t>
            </a:r>
          </a:p>
        </p:txBody>
      </p:sp>
    </p:spTree>
    <p:extLst>
      <p:ext uri="{BB962C8B-B14F-4D97-AF65-F5344CB8AC3E}">
        <p14:creationId xmlns:p14="http://schemas.microsoft.com/office/powerpoint/2010/main" val="723386778"/>
      </p:ext>
    </p:extLst>
  </p:cSld>
</p:sld>
</file>

<file path=ppt/slides/slide7.xml><?xml version="1.0" encoding="utf-8"?>
<p:sld xmlns:p="http://schemas.openxmlformats.org/presentationml/2006/main">
  <p:cSld>
    <p:bg>
      <p:bgPr>
        <a:gradFill xmlns:a="http://schemas.openxmlformats.org/drawingml/2006/main">
          <a:gsLst>
            <a:gs pos="0">
              <a:srgbClr val="111827"/>
            </a:gs>
            <a:gs pos="100000">
              <a:srgbClr val="312E81"/>
            </a:gs>
          </a:gsLst>
          <a:lin ang="810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A03846-0BF5-4582-94AC-6400872E2C13}"/>
              </a:ext>
            </a:extLst>
          </p:cNvPr>
          <p:cNvSpPr>
            <a:spLocks xmlns:a="http://schemas.openxmlformats.org/drawingml/2006/main" noGrp="1"/>
          </p:cNvSpPr>
          <p:nvPr/>
        </p:nvSpPr>
        <p:spPr>
          <a:xfrm xmlns:a="http://schemas.openxmlformats.org/drawingml/2006/main">
            <a:off x="685800" y="628650"/>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latin typeface="Aptos"/>
                <a:ea typeface="Aptos"/>
                <a:cs typeface="Aptos"/>
              </a:defRPr>
            </a:pPr>
            <a:r>
              <a:rPr sz="3900" b="1">
                <a:solidFill>
                  <a:srgbClr val="FFFFFF"/>
                </a:solidFill>
                <a:latin typeface="Aptos"/>
                <a:ea typeface="Aptos"/>
                <a:cs typeface="Aptos"/>
              </a:rPr>
              <a:t>Conclusion</a:t>
            </a:r>
          </a:p>
        </p:txBody>
      </p:sp>
      <p:sp>
        <p:nvSpPr>
          <p:cNvPr id="2" name="">
            <a:extLst xmlns:a="http://schemas.openxmlformats.org/drawingml/2006/main">
              <a:ext uri="{FF2B5EF4-FFF2-40B4-BE49-F238E27FC236}">
                <a16:creationId xmlns:a16="http://schemas.microsoft.com/office/drawing/2014/main" id="{7A118CF9-21AB-4AED-A7FA-5C0253EDFFB6}"/>
              </a:ext>
            </a:extLst>
          </p:cNvPr>
          <p:cNvSpPr>
            <a:spLocks xmlns:a="http://schemas.openxmlformats.org/drawingml/2006/main" noGrp="1"/>
          </p:cNvSpPr>
          <p:nvPr/>
        </p:nvSpPr>
        <p:spPr>
          <a:xfrm xmlns:a="http://schemas.openxmlformats.org/drawingml/2006/main">
            <a:off x="723900" y="1485900"/>
            <a:ext cx="800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8FAFC"/>
                </a:solidFill>
                <a:latin typeface="Aptos"/>
                <a:ea typeface="Aptos"/>
                <a:cs typeface="Aptos"/>
              </a:defRPr>
            </a:pPr>
            <a:r>
              <a:rPr sz="2250" b="1">
                <a:solidFill>
                  <a:srgbClr val="F8FAFC"/>
                </a:solidFill>
                <a:latin typeface="Aptos"/>
                <a:ea typeface="Aptos"/>
                <a:cs typeface="Aptos"/>
              </a:rPr>
              <a:t>EmoScope demonstrates a practical direction for privacy-preserving, multimodal emotional self-awareness.</a:t>
            </a:r>
          </a:p>
        </p:txBody>
      </p:sp>
      <p:sp>
        <p:nvSpPr>
          <p:cNvPr id="3" name="">
            <a:extLst xmlns:a="http://schemas.openxmlformats.org/drawingml/2006/main">
              <a:ext uri="{FF2B5EF4-FFF2-40B4-BE49-F238E27FC236}">
                <a16:creationId xmlns:a16="http://schemas.microsoft.com/office/drawing/2014/main" id="{81A15262-985B-40C8-9B05-161A9B99341C}"/>
              </a:ext>
            </a:extLst>
          </p:cNvPr>
          <p:cNvSpPr>
            <a:spLocks xmlns:a="http://schemas.openxmlformats.org/drawingml/2006/main" noGrp="1"/>
          </p:cNvSpPr>
          <p:nvPr/>
        </p:nvSpPr>
        <p:spPr>
          <a:xfrm xmlns:a="http://schemas.openxmlformats.org/drawingml/2006/main">
            <a:off x="762000" y="2952750"/>
            <a:ext cx="314325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A9BB4DC4-41CF-4530-8F13-04867DBACA81}"/>
              </a:ext>
            </a:extLst>
          </p:cNvPr>
          <p:cNvSpPr>
            <a:spLocks xmlns:a="http://schemas.openxmlformats.org/drawingml/2006/main" noGrp="1"/>
          </p:cNvSpPr>
          <p:nvPr/>
        </p:nvSpPr>
        <p:spPr>
          <a:xfrm xmlns:a="http://schemas.openxmlformats.org/drawingml/2006/main">
            <a:off x="762000" y="2952750"/>
            <a:ext cx="66675" cy="14097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5" name="">
            <a:extLst xmlns:a="http://schemas.openxmlformats.org/drawingml/2006/main">
              <a:ext uri="{FF2B5EF4-FFF2-40B4-BE49-F238E27FC236}">
                <a16:creationId xmlns:a16="http://schemas.microsoft.com/office/drawing/2014/main" id="{B0DE7B5C-9ADA-48AA-B28A-48D05DB98970}"/>
              </a:ext>
            </a:extLst>
          </p:cNvPr>
          <p:cNvSpPr>
            <a:spLocks xmlns:a="http://schemas.openxmlformats.org/drawingml/2006/main" noGrp="1"/>
          </p:cNvSpPr>
          <p:nvPr/>
        </p:nvSpPr>
        <p:spPr>
          <a:xfrm xmlns:a="http://schemas.openxmlformats.org/drawingml/2006/main">
            <a:off x="990600" y="31242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What works</a:t>
            </a:r>
          </a:p>
        </p:txBody>
      </p:sp>
      <p:sp>
        <p:nvSpPr>
          <p:cNvPr id="6" name="">
            <a:extLst xmlns:a="http://schemas.openxmlformats.org/drawingml/2006/main">
              <a:ext uri="{FF2B5EF4-FFF2-40B4-BE49-F238E27FC236}">
                <a16:creationId xmlns:a16="http://schemas.microsoft.com/office/drawing/2014/main" id="{D490D708-0A02-427D-83E9-39882913870D}"/>
              </a:ext>
            </a:extLst>
          </p:cNvPr>
          <p:cNvSpPr>
            <a:spLocks xmlns:a="http://schemas.openxmlformats.org/drawingml/2006/main" noGrp="1"/>
          </p:cNvSpPr>
          <p:nvPr/>
        </p:nvSpPr>
        <p:spPr>
          <a:xfrm xmlns:a="http://schemas.openxmlformats.org/drawingml/2006/main">
            <a:off x="990600" y="3486150"/>
            <a:ext cx="2686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On-device facial analysis</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Voice-rate context</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30-day memory analytics</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User-confirmed support</a:t>
            </a:r>
          </a:p>
        </p:txBody>
      </p:sp>
      <p:sp>
        <p:nvSpPr>
          <p:cNvPr id="7" name="">
            <a:extLst xmlns:a="http://schemas.openxmlformats.org/drawingml/2006/main">
              <a:ext uri="{FF2B5EF4-FFF2-40B4-BE49-F238E27FC236}">
                <a16:creationId xmlns:a16="http://schemas.microsoft.com/office/drawing/2014/main" id="{B4224E3C-D490-4344-BC4D-015833C61D2E}"/>
              </a:ext>
            </a:extLst>
          </p:cNvPr>
          <p:cNvSpPr>
            <a:spLocks xmlns:a="http://schemas.openxmlformats.org/drawingml/2006/main" noGrp="1"/>
          </p:cNvSpPr>
          <p:nvPr/>
        </p:nvSpPr>
        <p:spPr>
          <a:xfrm xmlns:a="http://schemas.openxmlformats.org/drawingml/2006/main">
            <a:off x="4524375" y="2952750"/>
            <a:ext cx="314325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E5E7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B0CB1D5-CDF0-457C-B445-64964BA1EEB5}"/>
              </a:ext>
            </a:extLst>
          </p:cNvPr>
          <p:cNvSpPr>
            <a:spLocks xmlns:a="http://schemas.openxmlformats.org/drawingml/2006/main" noGrp="1"/>
          </p:cNvSpPr>
          <p:nvPr/>
        </p:nvSpPr>
        <p:spPr>
          <a:xfrm xmlns:a="http://schemas.openxmlformats.org/drawingml/2006/main">
            <a:off x="4524375" y="2952750"/>
            <a:ext cx="66675" cy="14097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079178E1-8788-4203-A48E-78A9D6782A6A}"/>
              </a:ext>
            </a:extLst>
          </p:cNvPr>
          <p:cNvSpPr>
            <a:spLocks xmlns:a="http://schemas.openxmlformats.org/drawingml/2006/main" noGrp="1"/>
          </p:cNvSpPr>
          <p:nvPr/>
        </p:nvSpPr>
        <p:spPr>
          <a:xfrm xmlns:a="http://schemas.openxmlformats.org/drawingml/2006/main">
            <a:off x="4752975" y="31242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11827"/>
                </a:solidFill>
                <a:latin typeface="Aptos"/>
                <a:ea typeface="Aptos"/>
                <a:cs typeface="Aptos"/>
              </a:defRPr>
            </a:pPr>
            <a:r>
              <a:rPr sz="1500" b="1">
                <a:solidFill>
                  <a:srgbClr val="111827"/>
                </a:solidFill>
                <a:latin typeface="Aptos"/>
                <a:ea typeface="Aptos"/>
                <a:cs typeface="Aptos"/>
              </a:rPr>
              <a:t>What remains</a:t>
            </a:r>
          </a:p>
        </p:txBody>
      </p:sp>
      <p:sp>
        <p:nvSpPr>
          <p:cNvPr id="10" name="">
            <a:extLst xmlns:a="http://schemas.openxmlformats.org/drawingml/2006/main">
              <a:ext uri="{FF2B5EF4-FFF2-40B4-BE49-F238E27FC236}">
                <a16:creationId xmlns:a16="http://schemas.microsoft.com/office/drawing/2014/main" id="{621F8B48-C275-43D2-9CA2-96D64A46E8B0}"/>
              </a:ext>
            </a:extLst>
          </p:cNvPr>
          <p:cNvSpPr>
            <a:spLocks xmlns:a="http://schemas.openxmlformats.org/drawingml/2006/main" noGrp="1"/>
          </p:cNvSpPr>
          <p:nvPr/>
        </p:nvSpPr>
        <p:spPr>
          <a:xfrm xmlns:a="http://schemas.openxmlformats.org/drawingml/2006/main">
            <a:off x="4752975" y="3486150"/>
            <a:ext cx="2686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Clinical validation</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Fairness evaluation</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Full acoustic analysis</a:t>
            </a:r>
          </a:p>
          <a:p xmlns:a="http://schemas.openxmlformats.org/drawingml/2006/main">
            <a:pPr>
              <a:defRPr sz="1125">
                <a:solidFill>
                  <a:srgbClr val="475569"/>
                </a:solidFill>
                <a:latin typeface="Aptos"/>
                <a:ea typeface="Aptos"/>
                <a:cs typeface="Aptos"/>
              </a:defRPr>
            </a:pPr>
            <a:r>
              <a:rPr sz="1125">
                <a:solidFill>
                  <a:srgbClr val="475569"/>
                </a:solidFill>
                <a:latin typeface="Aptos"/>
                <a:ea typeface="Aptos"/>
                <a:cs typeface="Aptos"/>
              </a:rPr>
              <a:t>Longitudinal user study</a:t>
            </a:r>
          </a:p>
        </p:txBody>
      </p:sp>
      <p:sp>
        <p:nvSpPr>
          <p:cNvPr id="11" name="">
            <a:extLst xmlns:a="http://schemas.openxmlformats.org/drawingml/2006/main">
              <a:ext uri="{FF2B5EF4-FFF2-40B4-BE49-F238E27FC236}">
                <a16:creationId xmlns:a16="http://schemas.microsoft.com/office/drawing/2014/main" id="{78FBA80B-B482-42EE-B998-156D58F50813}"/>
              </a:ext>
            </a:extLst>
          </p:cNvPr>
          <p:cNvSpPr>
            <a:spLocks xmlns:a="http://schemas.openxmlformats.org/drawingml/2006/main" noGrp="1"/>
          </p:cNvSpPr>
          <p:nvPr/>
        </p:nvSpPr>
        <p:spPr>
          <a:xfrm xmlns:a="http://schemas.openxmlformats.org/drawingml/2006/main">
            <a:off x="8191500" y="32385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Thank you</a:t>
            </a:r>
          </a:p>
        </p:txBody>
      </p:sp>
      <p:sp>
        <p:nvSpPr>
          <p:cNvPr id="12" name="">
            <a:extLst xmlns:a="http://schemas.openxmlformats.org/drawingml/2006/main">
              <a:ext uri="{FF2B5EF4-FFF2-40B4-BE49-F238E27FC236}">
                <a16:creationId xmlns:a16="http://schemas.microsoft.com/office/drawing/2014/main" id="{2C760E60-20C7-4778-AEEA-55B3CC2E2972}"/>
              </a:ext>
            </a:extLst>
          </p:cNvPr>
          <p:cNvSpPr>
            <a:spLocks xmlns:a="http://schemas.openxmlformats.org/drawingml/2006/main" noGrp="1"/>
          </p:cNvSpPr>
          <p:nvPr/>
        </p:nvSpPr>
        <p:spPr>
          <a:xfrm xmlns:a="http://schemas.openxmlformats.org/drawingml/2006/main">
            <a:off x="8248650" y="3886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C4B5FD"/>
                </a:solidFill>
                <a:latin typeface="Aptos"/>
                <a:ea typeface="Aptos"/>
                <a:cs typeface="Aptos"/>
              </a:defRPr>
            </a:pPr>
            <a:r>
              <a:rPr sz="2100">
                <a:solidFill>
                  <a:srgbClr val="C4B5FD"/>
                </a:solidFill>
                <a:latin typeface="Aptos"/>
                <a:ea typeface="Aptos"/>
                <a:cs typeface="Aptos"/>
              </a:rPr>
              <a:t>Questions?</a:t>
            </a:r>
          </a:p>
        </p:txBody>
      </p:sp>
      <p:sp>
        <p:nvSpPr>
          <p:cNvPr id="13" name="">
            <a:extLst xmlns:a="http://schemas.openxmlformats.org/drawingml/2006/main">
              <a:ext uri="{FF2B5EF4-FFF2-40B4-BE49-F238E27FC236}">
                <a16:creationId xmlns:a16="http://schemas.microsoft.com/office/drawing/2014/main" id="{EBDBB8E8-FBEA-400B-8AD5-DC37D688BBBF}"/>
              </a:ext>
            </a:extLst>
          </p:cNvPr>
          <p:cNvSpPr>
            <a:spLocks xmlns:a="http://schemas.openxmlformats.org/drawingml/2006/main" noGrp="1"/>
          </p:cNvSpPr>
          <p:nvPr/>
        </p:nvSpPr>
        <p:spPr>
          <a:xfrm xmlns:a="http://schemas.openxmlformats.org/drawingml/2006/main">
            <a:off x="609600" y="6438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7/7</a:t>
            </a:r>
          </a:p>
        </p:txBody>
      </p:sp>
    </p:spTree>
    <p:extLst>
      <p:ext uri="{BB962C8B-B14F-4D97-AF65-F5344CB8AC3E}">
        <p14:creationId xmlns:p14="http://schemas.microsoft.com/office/powerpoint/2010/main" val="364001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2026-06-16T16:52:05.1780000Z</dcterms:created>
  <dcterms:modified xsi:type="dcterms:W3CDTF">2026-06-16T16:52:05.1780000Z</dcterms:modified>
</coreProperties>
</file>