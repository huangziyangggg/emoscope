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20a82c1298d4110" /><Relationship Type="http://schemas.openxmlformats.org/officeDocument/2006/relationships/extended-properties" Target="/docProps/app.xml" Id="R7d3ea7497bbb47b3" /><Relationship Type="http://schemas.openxmlformats.org/officeDocument/2006/relationships/officeDocument" Target="/ppt/presentation.xml" Id="R0cba2d9a1fa34d21" /></Relationships>
</file>

<file path=ppt/presentation.xml><?xml version="1.0" encoding="utf-8"?>
<p:presentation xmlns:p="http://schemas.openxmlformats.org/presentationml/2006/main">
  <p:sldMasterIdLst>
    <p:sldMasterId xmlns:r="http://schemas.openxmlformats.org/officeDocument/2006/relationships" id="2147483648" r:id="R6ac816cbe507400b"/>
  </p:sldMasterIdLst>
  <p:notesMasterIdLst>
    <p:notesMasterId xmlns:r="http://schemas.openxmlformats.org/officeDocument/2006/relationships" r:id="R249847fcd7de4009"/>
  </p:notesMasterIdLst>
  <p:sldIdLst>
    <p:sldId xmlns:r="http://schemas.openxmlformats.org/officeDocument/2006/relationships" id="256" r:id="R3b458cf035074eed"/>
    <p:sldId xmlns:r="http://schemas.openxmlformats.org/officeDocument/2006/relationships" id="257" r:id="Rdc328077bd804e89"/>
    <p:sldId xmlns:r="http://schemas.openxmlformats.org/officeDocument/2006/relationships" id="258" r:id="Rc35b57f602c9423e"/>
    <p:sldId xmlns:r="http://schemas.openxmlformats.org/officeDocument/2006/relationships" id="259" r:id="R83279cb11e8e468c"/>
    <p:sldId xmlns:r="http://schemas.openxmlformats.org/officeDocument/2006/relationships" id="260" r:id="R9da94956fe2f4d98"/>
    <p:sldId xmlns:r="http://schemas.openxmlformats.org/officeDocument/2006/relationships" id="261" r:id="R2a99675e39ad4fc1"/>
    <p:sldId xmlns:r="http://schemas.openxmlformats.org/officeDocument/2006/relationships" id="262" r:id="R1c4a55c1def24844"/>
    <p:sldId xmlns:r="http://schemas.openxmlformats.org/officeDocument/2006/relationships" id="263" r:id="R7e69af44da6e4858"/>
    <p:sldId xmlns:r="http://schemas.openxmlformats.org/officeDocument/2006/relationships" id="264" r:id="Rbf490431f79c46de"/>
    <p:sldId xmlns:r="http://schemas.openxmlformats.org/officeDocument/2006/relationships" id="265" r:id="Re92193f6a3bf4c25"/>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0ee7bac042445e4" /><Relationship Type="http://schemas.openxmlformats.org/officeDocument/2006/relationships/slideMaster" Target="/ppt/slideMasters/slideMaster1.xml" Id="R6ac816cbe507400b" /><Relationship Type="http://schemas.openxmlformats.org/officeDocument/2006/relationships/notesMaster" Target="/ppt/notesMasters/notesMaster1.xml" Id="R249847fcd7de4009" /><Relationship Type="http://schemas.openxmlformats.org/officeDocument/2006/relationships/presProps" Target="/ppt/presProps.xml" Id="R25e19bb7cc77491c" /><Relationship Type="http://schemas.openxmlformats.org/officeDocument/2006/relationships/tableStyles" Target="/ppt/tableStyles.xml" Id="R8c8c821999d64dac" /><Relationship Type="http://schemas.openxmlformats.org/officeDocument/2006/relationships/slide" Target="/ppt/slides/slide1.xml" Id="R3b458cf035074eed" /><Relationship Type="http://schemas.openxmlformats.org/officeDocument/2006/relationships/slide" Target="/ppt/slides/slide2.xml" Id="Rdc328077bd804e89" /><Relationship Type="http://schemas.openxmlformats.org/officeDocument/2006/relationships/slide" Target="/ppt/slides/slide3.xml" Id="Rc35b57f602c9423e" /><Relationship Type="http://schemas.openxmlformats.org/officeDocument/2006/relationships/slide" Target="/ppt/slides/slide4.xml" Id="R83279cb11e8e468c" /><Relationship Type="http://schemas.openxmlformats.org/officeDocument/2006/relationships/slide" Target="/ppt/slides/slide5.xml" Id="R9da94956fe2f4d98" /><Relationship Type="http://schemas.openxmlformats.org/officeDocument/2006/relationships/slide" Target="/ppt/slides/slide6.xml" Id="R2a99675e39ad4fc1" /><Relationship Type="http://schemas.openxmlformats.org/officeDocument/2006/relationships/slide" Target="/ppt/slides/slide7.xml" Id="R1c4a55c1def24844" /><Relationship Type="http://schemas.openxmlformats.org/officeDocument/2006/relationships/slide" Target="/ppt/slides/slide8.xml" Id="R7e69af44da6e4858" /><Relationship Type="http://schemas.openxmlformats.org/officeDocument/2006/relationships/slide" Target="/ppt/slides/slide9.xml" Id="Rbf490431f79c46de" /><Relationship Type="http://schemas.openxmlformats.org/officeDocument/2006/relationships/slide" Target="/ppt/slides/slide10.xml" Id="Re92193f6a3bf4c2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06e2f2f29ba4b0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67f05e3b28a48f9" /><Relationship Type="http://schemas.openxmlformats.org/officeDocument/2006/relationships/notesMaster" Target="/ppt/notesMasters/notesMaster1.xml" Id="R771767c97c75482a" /></Relationships>
</file>

<file path=ppt/notesSlides/_rels/notesSlide2.xml.rels>&#65279;<?xml version="1.0" encoding="utf-8"?><Relationships xmlns="http://schemas.openxmlformats.org/package/2006/relationships"><Relationship Type="http://schemas.openxmlformats.org/officeDocument/2006/relationships/slide" Target="/ppt/slides/slide2.xml" Id="Rb430c4790ded4492" /><Relationship Type="http://schemas.openxmlformats.org/officeDocument/2006/relationships/notesMaster" Target="/ppt/notesMasters/notesMaster1.xml" Id="R2781ddf32cb94d4e" /></Relationships>
</file>

<file path=ppt/notesSlides/_rels/notesSlide3.xml.rels>&#65279;<?xml version="1.0" encoding="utf-8"?><Relationships xmlns="http://schemas.openxmlformats.org/package/2006/relationships"><Relationship Type="http://schemas.openxmlformats.org/officeDocument/2006/relationships/slide" Target="/ppt/slides/slide3.xml" Id="R0813b10be3ea4b8e" /><Relationship Type="http://schemas.openxmlformats.org/officeDocument/2006/relationships/notesMaster" Target="/ppt/notesMasters/notesMaster1.xml" Id="Rd65a4e6c835d4158" /></Relationships>
</file>

<file path=ppt/notesSlides/_rels/notesSlide4.xml.rels>&#65279;<?xml version="1.0" encoding="utf-8"?><Relationships xmlns="http://schemas.openxmlformats.org/package/2006/relationships"><Relationship Type="http://schemas.openxmlformats.org/officeDocument/2006/relationships/slide" Target="/ppt/slides/slide4.xml" Id="Rf7dd7b06e54f4e76" /><Relationship Type="http://schemas.openxmlformats.org/officeDocument/2006/relationships/notesMaster" Target="/ppt/notesMasters/notesMaster1.xml" Id="R582c39906e4f4eeb" /></Relationships>
</file>

<file path=ppt/notesSlides/_rels/notesSlide5.xml.rels>&#65279;<?xml version="1.0" encoding="utf-8"?><Relationships xmlns="http://schemas.openxmlformats.org/package/2006/relationships"><Relationship Type="http://schemas.openxmlformats.org/officeDocument/2006/relationships/slide" Target="/ppt/slides/slide5.xml" Id="Rf040d2d5180845f4" /><Relationship Type="http://schemas.openxmlformats.org/officeDocument/2006/relationships/notesMaster" Target="/ppt/notesMasters/notesMaster1.xml" Id="R97d7f744852c43ad" /></Relationships>
</file>

<file path=ppt/notesSlides/_rels/notesSlide6.xml.rels>&#65279;<?xml version="1.0" encoding="utf-8"?><Relationships xmlns="http://schemas.openxmlformats.org/package/2006/relationships"><Relationship Type="http://schemas.openxmlformats.org/officeDocument/2006/relationships/slide" Target="/ppt/slides/slide6.xml" Id="Re0b1a16365e14e25" /><Relationship Type="http://schemas.openxmlformats.org/officeDocument/2006/relationships/notesMaster" Target="/ppt/notesMasters/notesMaster1.xml" Id="Rc0da20a3bdd64b0f" /></Relationships>
</file>

<file path=ppt/notesSlides/_rels/notesSlide7.xml.rels>&#65279;<?xml version="1.0" encoding="utf-8"?><Relationships xmlns="http://schemas.openxmlformats.org/package/2006/relationships"><Relationship Type="http://schemas.openxmlformats.org/officeDocument/2006/relationships/slide" Target="/ppt/slides/slide7.xml" Id="Rf5246cb024b24691" /><Relationship Type="http://schemas.openxmlformats.org/officeDocument/2006/relationships/notesMaster" Target="/ppt/notesMasters/notesMaster1.xml" Id="Raeeeee170f0f4dc9" /></Relationships>
</file>

<file path=ppt/notesSlides/_rels/notesSlide8.xml.rels>&#65279;<?xml version="1.0" encoding="utf-8"?><Relationships xmlns="http://schemas.openxmlformats.org/package/2006/relationships"><Relationship Type="http://schemas.openxmlformats.org/officeDocument/2006/relationships/slide" Target="/ppt/slides/slide8.xml" Id="R02465cbd9e884e03" /><Relationship Type="http://schemas.openxmlformats.org/officeDocument/2006/relationships/notesMaster" Target="/ppt/notesMasters/notesMaster1.xml" Id="Rf7230e7e50514539" /></Relationships>
</file>

<file path=ppt/notesSlides/_rels/notesSlide9.xml.rels>&#65279;<?xml version="1.0" encoding="utf-8"?><Relationships xmlns="http://schemas.openxmlformats.org/package/2006/relationships"><Relationship Type="http://schemas.openxmlformats.org/officeDocument/2006/relationships/slide" Target="/ppt/slides/slide9.xml" Id="Ra87137eca08c4873" /><Relationship Type="http://schemas.openxmlformats.org/officeDocument/2006/relationships/notesMaster" Target="/ppt/notesMasters/notesMaster1.xml" Id="R4e3a49d55615495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c74707ff934451d" /><Relationship Type="http://schemas.openxmlformats.org/officeDocument/2006/relationships/notesMaster" Target="/ppt/notesMasters/notesMaster1.xml" Id="R24c7a24a641b437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morning everyone. Today I am going to present my project, EmoScope. It is a privacy-preserving mobile system for multimodal emotion recognition and mental wellness support. The basic idea is simple: instead of asking the user to manually record every mood, EmoScope uses the smartphone itself to collect helpful emotional context, while keeping sensitive biometric processing mainly on the device.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problem is self-report. Mood diaries can be useful, but they depend on memory, motivation, and consistency. When users are stressed, tired, or anxious, they may be exactly the people who need support, but also the least likely to open an app and write a detailed record. This creates missing data and makes long-term emotional reflection less reliable.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research question behind EmoScope is whether a normal smartphone can combine facial, vocal, contextual, and historical signals into a useful wellness workflow. I do not claim that the app diagnoses mental disorders. Instead, the goal is a reflection system: it helps the user notice emotional patterns, receive gentle feedback, and decide when to take 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system architecture. The input layer includes camera frames, voice transcript, ambient light, and recent user records. The on-device AI layer extracts facial blendshape coefficients, maps them into ten emotion dimensions, and smooths the output. The memory layer stores local records and summarizes 30-day trends. Finally, the feedback layer provides care cards, weekly reports, and SOS support.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facial analysis, EmoScope uses MediaPipe FaceLandmarker, which returns 52 facial blendshape coefficients. These coefficients are mapped into ten emotion dimensions such as joy, calm, surprise, sadness, anxiety, anger, fear, disgust, contempt, and fatigue. To reduce unstable frame-by-frame changes, I apply an exponentially weighted moving average with alpha equal to 0.3, and then convert the smoothed values into a zero-to-one-hundred wellness score.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user workflow has three parts. First, the home screen gives immediate emotional feedback. Second, the growth and wellness functions encourage low-intensity actions, such as journaling, mindfulness, gratitude, and weekly reflection. Third, the records page helps users look back at longer-term emotional changes. This closes the loop from sensing, to interpretation, to 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prototype evaluation, I focused on functional feasibility. Facial inference ran at about four Hertz under normal lighting. The wellness score changed by more than forty points between joy-dominant and anxiety-dominant test conditions. The smoothing filter reduced visible frame jitter to about three to five percentage points. The memory engine also reached one hundred percent extraction accuracy on synthetic ten-emotion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Privacy and user agency are central to the design. Raw facial analysis happens locally, and emotion records are stored on the device. When the language model is used, it receives structured textual context rather than raw face images. Emergency support is also user-confirmed: negative facial signals can show an SOS cue, but the system does not automatically contact others.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There are still several limitations. The emotion mapping is manually designed, so it may not generalize across different users, cultures, lighting conditions, or facial habits. The current evaluation is engineering validation rather than clinical validation. Future work should include real user studies, fairness evaluation, and comparison with validated scales such as PHQ-9 and GAD-7.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 conclude, EmoScope demonstrates a practical direction for privacy-preserving emotional self-awareness. It combines on-device facial analysis, voice-rate estimation, local memory analytics, and user-confirmed support into one mobile workflow. The most important contribution is not a clinical diagnosis, but a safer and more continuous way for users to reflect on emotional change. Thank you.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c1cb10a52a549e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d023b44ca3f4109" /><Relationship Type="http://schemas.openxmlformats.org/officeDocument/2006/relationships/slideLayout" Target="/ppt/slideLayouts/slideLayout1.xml" Id="R1a475abca331473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a475abca331473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be234740bf64e67" /><Relationship Type="http://schemas.openxmlformats.org/officeDocument/2006/relationships/notesSlide" Target="/ppt/notesSlides/notesSlide1.xml" Id="Rc7c08e65270b43e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e56c011ee644be5" /><Relationship Type="http://schemas.openxmlformats.org/officeDocument/2006/relationships/notesSlide" Target="/ppt/notesSlides/notesSlide2.xml" Id="R844f96c8ee844fb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a4bbd39f463488b" /><Relationship Type="http://schemas.openxmlformats.org/officeDocument/2006/relationships/notesSlide" Target="/ppt/notesSlides/notesSlide3.xml" Id="R068834fdac01470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d291e71383045e1" /><Relationship Type="http://schemas.openxmlformats.org/officeDocument/2006/relationships/notesSlide" Target="/ppt/notesSlides/notesSlide4.xml" Id="R6841e0e9c42c4a7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bfbccacfab142fb" /><Relationship Type="http://schemas.openxmlformats.org/officeDocument/2006/relationships/notesSlide" Target="/ppt/notesSlides/notesSlide5.xml" Id="R6f276a4341b941e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8ea8433ca6f4b9a" /><Relationship Type="http://schemas.openxmlformats.org/officeDocument/2006/relationships/image" Target="/ppt/media/image.png" Id="Rd4f43dc5c4da4c4d" /><Relationship Type="http://schemas.openxmlformats.org/officeDocument/2006/relationships/image" Target="/ppt/media/image2.png" Id="Rc6b18764f31e4c46" /><Relationship Type="http://schemas.openxmlformats.org/officeDocument/2006/relationships/image" Target="/ppt/media/image3.png" Id="R0cd6b2fa6e2d4fcf" /><Relationship Type="http://schemas.openxmlformats.org/officeDocument/2006/relationships/notesSlide" Target="/ppt/notesSlides/notesSlide6.xml" Id="Rf6cf5644c263479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a0d934c9bf94493" /><Relationship Type="http://schemas.openxmlformats.org/officeDocument/2006/relationships/notesSlide" Target="/ppt/notesSlides/notesSlide7.xml" Id="R127710962e5f487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7a5963c0e774ef5" /><Relationship Type="http://schemas.openxmlformats.org/officeDocument/2006/relationships/notesSlide" Target="/ppt/notesSlides/notesSlide8.xml" Id="R6218b7be5572498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48e6d28d8254f71" /><Relationship Type="http://schemas.openxmlformats.org/officeDocument/2006/relationships/notesSlide" Target="/ppt/notesSlides/notesSlide9.xml" Id="R0a3baa758caf4c8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a31b12ed0464d25" /><Relationship Type="http://schemas.openxmlformats.org/officeDocument/2006/relationships/notesSlide" Target="/ppt/notesSlides/notesSlide10.xml" Id="Re1b7acdc3b3846bf" /></Relationships>
</file>

<file path=ppt/slides/slide1.xml><?xml version="1.0" encoding="utf-8"?>
<p:sld xmlns:p="http://schemas.openxmlformats.org/presentationml/2006/main">
  <p:cSld>
    <p:bg>
      <p:bgPr>
        <a:gradFill xmlns:a="http://schemas.openxmlformats.org/drawingml/2006/main">
          <a:gsLst>
            <a:gs pos="0">
              <a:srgbClr val="F8FAFC"/>
            </a:gs>
            <a:gs pos="55000">
              <a:srgbClr val="F1EDFF"/>
            </a:gs>
            <a:gs pos="100000">
              <a:srgbClr val="FFFFFF"/>
            </a:gs>
          </a:gsLst>
          <a:lin ang="8100000"/>
        </a:gra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09EEAE5-F07F-40FF-93B0-434E657E9F6B}"/>
              </a:ext>
            </a:extLst>
          </p:cNvPr>
          <p:cNvSpPr>
            <a:spLocks xmlns:a="http://schemas.openxmlformats.org/drawingml/2006/main" noGrp="1"/>
          </p:cNvSpPr>
          <p:nvPr/>
        </p:nvSpPr>
        <p:spPr>
          <a:xfrm xmlns:a="http://schemas.openxmlformats.org/drawingml/2006/main">
            <a:off x="666750" y="723900"/>
            <a:ext cx="5143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4650" b="1">
                <a:solidFill>
                  <a:srgbClr val="4338CA"/>
                </a:solidFill>
                <a:latin typeface="Aptos Display"/>
                <a:ea typeface="Aptos Display"/>
                <a:cs typeface="Aptos Display"/>
              </a:defRPr>
            </a:pPr>
            <a:r>
              <a:rPr sz="4650" b="1">
                <a:solidFill>
                  <a:srgbClr val="4338CA"/>
                </a:solidFill>
                <a:latin typeface="Aptos Display"/>
                <a:ea typeface="Aptos Display"/>
                <a:cs typeface="Aptos Display"/>
              </a:rPr>
              <a:t>EmoScope</a:t>
            </a:r>
          </a:p>
        </p:txBody>
      </p:sp>
      <p:sp>
        <p:nvSpPr>
          <p:cNvPr id="2" name="">
            <a:extLst xmlns:a="http://schemas.openxmlformats.org/drawingml/2006/main">
              <a:ext uri="{FF2B5EF4-FFF2-40B4-BE49-F238E27FC236}">
                <a16:creationId xmlns:a16="http://schemas.microsoft.com/office/drawing/2014/main" id="{44EABF83-985E-4C16-8291-E28DC8291B3C}"/>
              </a:ext>
            </a:extLst>
          </p:cNvPr>
          <p:cNvSpPr>
            <a:spLocks xmlns:a="http://schemas.openxmlformats.org/drawingml/2006/main" noGrp="1"/>
          </p:cNvSpPr>
          <p:nvPr/>
        </p:nvSpPr>
        <p:spPr>
          <a:xfrm xmlns:a="http://schemas.openxmlformats.org/drawingml/2006/main">
            <a:off x="704850" y="1543050"/>
            <a:ext cx="6286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950" b="1">
                <a:solidFill>
                  <a:srgbClr val="111827"/>
                </a:solidFill>
                <a:latin typeface="Aptos"/>
                <a:ea typeface="Aptos"/>
                <a:cs typeface="Aptos"/>
              </a:defRPr>
            </a:pPr>
            <a:r>
              <a:rPr sz="1950" b="1">
                <a:solidFill>
                  <a:srgbClr val="111827"/>
                </a:solidFill>
                <a:latin typeface="Aptos"/>
                <a:ea typeface="Aptos"/>
                <a:cs typeface="Aptos"/>
              </a:rPr>
              <a:t>A Privacy-Preserving Mobile System for Multimodal Emotion Recognition</a:t>
            </a:r>
          </a:p>
        </p:txBody>
      </p:sp>
      <p:sp>
        <p:nvSpPr>
          <p:cNvPr id="3" name="">
            <a:extLst xmlns:a="http://schemas.openxmlformats.org/drawingml/2006/main">
              <a:ext uri="{FF2B5EF4-FFF2-40B4-BE49-F238E27FC236}">
                <a16:creationId xmlns:a16="http://schemas.microsoft.com/office/drawing/2014/main" id="{D002F4FF-25B6-411A-AC08-4C1F5A26821E}"/>
              </a:ext>
            </a:extLst>
          </p:cNvPr>
          <p:cNvSpPr>
            <a:spLocks xmlns:a="http://schemas.openxmlformats.org/drawingml/2006/main" noGrp="1"/>
          </p:cNvSpPr>
          <p:nvPr/>
        </p:nvSpPr>
        <p:spPr>
          <a:xfrm xmlns:a="http://schemas.openxmlformats.org/drawingml/2006/main">
            <a:off x="723900" y="2590800"/>
            <a:ext cx="6286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38">
                <a:solidFill>
                  <a:srgbClr val="475569"/>
                </a:solidFill>
                <a:latin typeface="Aptos"/>
                <a:ea typeface="Aptos"/>
                <a:cs typeface="Aptos"/>
              </a:defRPr>
            </a:pPr>
            <a:r>
              <a:rPr sz="1238">
                <a:solidFill>
                  <a:srgbClr val="475569"/>
                </a:solidFill>
                <a:latin typeface="Aptos"/>
                <a:ea typeface="Aptos"/>
                <a:cs typeface="Aptos"/>
              </a:rPr>
              <a:t>Ziyang Huang 2025112735</a:t>
            </a:r>
          </a:p>
          <a:p xmlns:a="http://schemas.openxmlformats.org/drawingml/2006/main">
            <a:pPr>
              <a:defRPr sz="1238">
                <a:solidFill>
                  <a:srgbClr val="475569"/>
                </a:solidFill>
                <a:latin typeface="Aptos"/>
                <a:ea typeface="Aptos"/>
                <a:cs typeface="Aptos"/>
              </a:defRPr>
            </a:pPr>
            <a:r>
              <a:rPr sz="1238">
                <a:solidFill>
                  <a:srgbClr val="475569"/>
                </a:solidFill>
                <a:latin typeface="Aptos"/>
                <a:ea typeface="Aptos"/>
                <a:cs typeface="Aptos"/>
              </a:rPr>
              <a:t>School of Economics and Management, Harbin Institute of Technology</a:t>
            </a:r>
          </a:p>
        </p:txBody>
      </p:sp>
      <p:sp>
        <p:nvSpPr>
          <p:cNvPr id="4" name="">
            <a:extLst xmlns:a="http://schemas.openxmlformats.org/drawingml/2006/main">
              <a:ext uri="{FF2B5EF4-FFF2-40B4-BE49-F238E27FC236}">
                <a16:creationId xmlns:a16="http://schemas.microsoft.com/office/drawing/2014/main" id="{0B9246CD-0B01-4CC0-917D-14595111C9E6}"/>
              </a:ext>
            </a:extLst>
          </p:cNvPr>
          <p:cNvSpPr>
            <a:spLocks xmlns:a="http://schemas.openxmlformats.org/drawingml/2006/main" noGrp="1"/>
          </p:cNvSpPr>
          <p:nvPr/>
        </p:nvSpPr>
        <p:spPr>
          <a:xfrm xmlns:a="http://schemas.openxmlformats.org/drawingml/2006/main">
            <a:off x="723900" y="4095750"/>
            <a:ext cx="5810250" cy="1123950"/>
          </a:xfrm>
          <a:prstGeom xmlns:a="http://schemas.openxmlformats.org/drawingml/2006/main" prst="roundRect">
            <a:avLst>
              <a:gd name="adj" fmla="val 13559"/>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584BB650-892A-48ED-B878-BE3032D895EE}"/>
              </a:ext>
            </a:extLst>
          </p:cNvPr>
          <p:cNvSpPr>
            <a:spLocks xmlns:a="http://schemas.openxmlformats.org/drawingml/2006/main" noGrp="1"/>
          </p:cNvSpPr>
          <p:nvPr/>
        </p:nvSpPr>
        <p:spPr>
          <a:xfrm xmlns:a="http://schemas.openxmlformats.org/drawingml/2006/main">
            <a:off x="723900" y="4095750"/>
            <a:ext cx="66675" cy="1123950"/>
          </a:xfrm>
          <a:prstGeom xmlns:a="http://schemas.openxmlformats.org/drawingml/2006/main" prst="rect">
            <a:avLst/>
          </a:prstGeom>
          <a:solidFill xmlns:a="http://schemas.openxmlformats.org/drawingml/2006/main">
            <a:srgbClr val="10B981"/>
          </a:solidFill>
          <a:ln xmlns:a="http://schemas.openxmlformats.org/drawingml/2006/main" w="0">
            <a:solidFill>
              <a:srgbClr val="10B981"/>
            </a:solidFill>
            <a:prstDash val="solid"/>
          </a:ln>
        </p:spPr>
      </p:sp>
      <p:sp>
        <p:nvSpPr>
          <p:cNvPr id="6" name="">
            <a:extLst xmlns:a="http://schemas.openxmlformats.org/drawingml/2006/main">
              <a:ext uri="{FF2B5EF4-FFF2-40B4-BE49-F238E27FC236}">
                <a16:creationId xmlns:a16="http://schemas.microsoft.com/office/drawing/2014/main" id="{851F4231-05A7-4643-B1B5-D30C750DEA05}"/>
              </a:ext>
            </a:extLst>
          </p:cNvPr>
          <p:cNvSpPr>
            <a:spLocks xmlns:a="http://schemas.openxmlformats.org/drawingml/2006/main" noGrp="1"/>
          </p:cNvSpPr>
          <p:nvPr/>
        </p:nvSpPr>
        <p:spPr>
          <a:xfrm xmlns:a="http://schemas.openxmlformats.org/drawingml/2006/main">
            <a:off x="952500" y="4267200"/>
            <a:ext cx="5353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1">
                <a:solidFill>
                  <a:srgbClr val="111827"/>
                </a:solidFill>
                <a:latin typeface="Aptos"/>
                <a:ea typeface="Aptos"/>
                <a:cs typeface="Aptos"/>
              </a:defRPr>
            </a:pPr>
            <a:r>
              <a:rPr sz="1425" b="1">
                <a:solidFill>
                  <a:srgbClr val="111827"/>
                </a:solidFill>
                <a:latin typeface="Aptos"/>
                <a:ea typeface="Aptos"/>
                <a:cs typeface="Aptos"/>
              </a:rPr>
              <a:t>Core claim</a:t>
            </a:r>
          </a:p>
        </p:txBody>
      </p:sp>
      <p:sp>
        <p:nvSpPr>
          <p:cNvPr id="7" name="">
            <a:extLst xmlns:a="http://schemas.openxmlformats.org/drawingml/2006/main">
              <a:ext uri="{FF2B5EF4-FFF2-40B4-BE49-F238E27FC236}">
                <a16:creationId xmlns:a16="http://schemas.microsoft.com/office/drawing/2014/main" id="{5577C002-9730-4528-8B40-0C12813D8914}"/>
              </a:ext>
            </a:extLst>
          </p:cNvPr>
          <p:cNvSpPr>
            <a:spLocks xmlns:a="http://schemas.openxmlformats.org/drawingml/2006/main" noGrp="1"/>
          </p:cNvSpPr>
          <p:nvPr/>
        </p:nvSpPr>
        <p:spPr>
          <a:xfrm xmlns:a="http://schemas.openxmlformats.org/drawingml/2006/main">
            <a:off x="952500" y="4610100"/>
            <a:ext cx="53530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40">
                <a:solidFill>
                  <a:srgbClr val="475569"/>
                </a:solidFill>
                <a:latin typeface="Aptos"/>
                <a:ea typeface="Aptos"/>
                <a:cs typeface="Aptos"/>
              </a:defRPr>
            </a:pPr>
            <a:r>
              <a:rPr sz="1140">
                <a:solidFill>
                  <a:srgbClr val="475569"/>
                </a:solidFill>
                <a:latin typeface="Aptos"/>
                <a:ea typeface="Aptos"/>
                <a:cs typeface="Aptos"/>
              </a:rPr>
              <a:t>Smartphone sensing can support emotional self-awareness when biometric analysis, memory records, and emergency actions are designed around privacy and user control.</a:t>
            </a:r>
          </a:p>
        </p:txBody>
      </p:sp>
      <p:sp>
        <p:nvSpPr>
          <p:cNvPr id="8" name="">
            <a:extLst xmlns:a="http://schemas.openxmlformats.org/drawingml/2006/main">
              <a:ext uri="{FF2B5EF4-FFF2-40B4-BE49-F238E27FC236}">
                <a16:creationId xmlns:a16="http://schemas.microsoft.com/office/drawing/2014/main" id="{D31112BD-7D7F-4FDE-AE6D-9B12056415BE}"/>
              </a:ext>
            </a:extLst>
          </p:cNvPr>
          <p:cNvSpPr>
            <a:spLocks xmlns:a="http://schemas.openxmlformats.org/drawingml/2006/main" noGrp="1"/>
          </p:cNvSpPr>
          <p:nvPr/>
        </p:nvSpPr>
        <p:spPr>
          <a:xfrm xmlns:a="http://schemas.openxmlformats.org/drawingml/2006/main">
            <a:off x="7810500" y="1123950"/>
            <a:ext cx="2190750" cy="1333500"/>
          </a:xfrm>
          <a:prstGeom xmlns:a="http://schemas.openxmlformats.org/drawingml/2006/main" prst="roundRect">
            <a:avLst>
              <a:gd name="adj" fmla="val 11429"/>
            </a:avLst>
          </a:prstGeom>
          <a:solidFill xmlns:a="http://schemas.openxmlformats.org/drawingml/2006/main">
            <a:srgbClr val="EEF2FF"/>
          </a:solidFill>
          <a:ln xmlns:a="http://schemas.openxmlformats.org/drawingml/2006/main" w="9525">
            <a:solidFill>
              <a:srgbClr val="CBD5E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942892FC-B854-4290-81A3-B8C79759110E}"/>
              </a:ext>
            </a:extLst>
          </p:cNvPr>
          <p:cNvSpPr>
            <a:spLocks xmlns:a="http://schemas.openxmlformats.org/drawingml/2006/main" noGrp="1"/>
          </p:cNvSpPr>
          <p:nvPr/>
        </p:nvSpPr>
        <p:spPr>
          <a:xfrm xmlns:a="http://schemas.openxmlformats.org/drawingml/2006/main">
            <a:off x="7981950" y="12954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111827"/>
                </a:solidFill>
                <a:latin typeface="Aptos"/>
                <a:ea typeface="Aptos"/>
                <a:cs typeface="Aptos"/>
              </a:defRPr>
            </a:pPr>
            <a:r>
              <a:rPr sz="1350" b="1">
                <a:solidFill>
                  <a:srgbClr val="111827"/>
                </a:solidFill>
                <a:latin typeface="Aptos"/>
                <a:ea typeface="Aptos"/>
                <a:cs typeface="Aptos"/>
              </a:rPr>
              <a:t>Sense</a:t>
            </a:r>
          </a:p>
        </p:txBody>
      </p:sp>
      <p:sp>
        <p:nvSpPr>
          <p:cNvPr id="10" name="">
            <a:extLst xmlns:a="http://schemas.openxmlformats.org/drawingml/2006/main">
              <a:ext uri="{FF2B5EF4-FFF2-40B4-BE49-F238E27FC236}">
                <a16:creationId xmlns:a16="http://schemas.microsoft.com/office/drawing/2014/main" id="{F3BBC43B-325B-4919-AC0F-76B8E41F4336}"/>
              </a:ext>
            </a:extLst>
          </p:cNvPr>
          <p:cNvSpPr>
            <a:spLocks xmlns:a="http://schemas.openxmlformats.org/drawingml/2006/main" noGrp="1"/>
          </p:cNvSpPr>
          <p:nvPr/>
        </p:nvSpPr>
        <p:spPr>
          <a:xfrm xmlns:a="http://schemas.openxmlformats.org/drawingml/2006/main">
            <a:off x="7981950" y="1647825"/>
            <a:ext cx="1809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13">
                <a:solidFill>
                  <a:srgbClr val="475569"/>
                </a:solidFill>
                <a:latin typeface="Aptos"/>
                <a:ea typeface="Aptos"/>
                <a:cs typeface="Aptos"/>
              </a:defRPr>
            </a:pPr>
            <a:r>
              <a:rPr sz="1013">
                <a:solidFill>
                  <a:srgbClr val="475569"/>
                </a:solidFill>
                <a:latin typeface="Aptos"/>
                <a:ea typeface="Aptos"/>
                <a:cs typeface="Aptos"/>
              </a:rPr>
              <a:t>face, voice,</a:t>
            </a:r>
          </a:p>
          <a:p xmlns:a="http://schemas.openxmlformats.org/drawingml/2006/main">
            <a:pPr>
              <a:defRPr sz="1013">
                <a:solidFill>
                  <a:srgbClr val="475569"/>
                </a:solidFill>
                <a:latin typeface="Aptos"/>
                <a:ea typeface="Aptos"/>
                <a:cs typeface="Aptos"/>
              </a:defRPr>
            </a:pPr>
            <a:r>
              <a:rPr sz="1013">
                <a:solidFill>
                  <a:srgbClr val="475569"/>
                </a:solidFill>
                <a:latin typeface="Aptos"/>
                <a:ea typeface="Aptos"/>
                <a:cs typeface="Aptos"/>
              </a:rPr>
              <a:t>light, records</a:t>
            </a:r>
          </a:p>
        </p:txBody>
      </p:sp>
      <p:sp>
        <p:nvSpPr>
          <p:cNvPr id="11" name="">
            <a:extLst xmlns:a="http://schemas.openxmlformats.org/drawingml/2006/main">
              <a:ext uri="{FF2B5EF4-FFF2-40B4-BE49-F238E27FC236}">
                <a16:creationId xmlns:a16="http://schemas.microsoft.com/office/drawing/2014/main" id="{B658FF82-4AAE-4E30-9A4A-9D98B6985A63}"/>
              </a:ext>
            </a:extLst>
          </p:cNvPr>
          <p:cNvSpPr>
            <a:spLocks xmlns:a="http://schemas.openxmlformats.org/drawingml/2006/main" noGrp="1"/>
          </p:cNvSpPr>
          <p:nvPr/>
        </p:nvSpPr>
        <p:spPr>
          <a:xfrm xmlns:a="http://schemas.openxmlformats.org/drawingml/2006/main">
            <a:off x="9525000" y="1295400"/>
            <a:ext cx="285750" cy="285750"/>
          </a:xfrm>
          <a:prstGeom xmlns:a="http://schemas.openxmlformats.org/drawingml/2006/main" prst="ellipse">
            <a:avLst/>
          </a:prstGeom>
          <a:solidFill xmlns:a="http://schemas.openxmlformats.org/drawingml/2006/main">
            <a:srgbClr val="4338CA"/>
          </a:solidFill>
          <a:ln xmlns:a="http://schemas.openxmlformats.org/drawingml/2006/main" w="0">
            <a:solidFill>
              <a:srgbClr val="4338CA"/>
            </a:solidFill>
            <a:prstDash val="solid"/>
          </a:ln>
        </p:spPr>
      </p:sp>
      <p:sp>
        <p:nvSpPr>
          <p:cNvPr id="12" name="">
            <a:extLst xmlns:a="http://schemas.openxmlformats.org/drawingml/2006/main">
              <a:ext uri="{FF2B5EF4-FFF2-40B4-BE49-F238E27FC236}">
                <a16:creationId xmlns:a16="http://schemas.microsoft.com/office/drawing/2014/main" id="{53899F2E-EF68-4277-956A-4F8D7177647B}"/>
              </a:ext>
            </a:extLst>
          </p:cNvPr>
          <p:cNvSpPr>
            <a:spLocks xmlns:a="http://schemas.openxmlformats.org/drawingml/2006/main" noGrp="1"/>
          </p:cNvSpPr>
          <p:nvPr/>
        </p:nvSpPr>
        <p:spPr>
          <a:xfrm xmlns:a="http://schemas.openxmlformats.org/drawingml/2006/main">
            <a:off x="8858250" y="2714625"/>
            <a:ext cx="2190750" cy="1333500"/>
          </a:xfrm>
          <a:prstGeom xmlns:a="http://schemas.openxmlformats.org/drawingml/2006/main" prst="roundRect">
            <a:avLst>
              <a:gd name="adj" fmla="val 11429"/>
            </a:avLst>
          </a:prstGeom>
          <a:solidFill xmlns:a="http://schemas.openxmlformats.org/drawingml/2006/main">
            <a:srgbClr val="ECFDF5"/>
          </a:solidFill>
          <a:ln xmlns:a="http://schemas.openxmlformats.org/drawingml/2006/main" w="9525">
            <a:solidFill>
              <a:srgbClr val="CBD5E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EC19D1C2-CF18-4CB9-AFAE-687089916143}"/>
              </a:ext>
            </a:extLst>
          </p:cNvPr>
          <p:cNvSpPr>
            <a:spLocks xmlns:a="http://schemas.openxmlformats.org/drawingml/2006/main" noGrp="1"/>
          </p:cNvSpPr>
          <p:nvPr/>
        </p:nvSpPr>
        <p:spPr>
          <a:xfrm xmlns:a="http://schemas.openxmlformats.org/drawingml/2006/main">
            <a:off x="9029700" y="28860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111827"/>
                </a:solidFill>
                <a:latin typeface="Aptos"/>
                <a:ea typeface="Aptos"/>
                <a:cs typeface="Aptos"/>
              </a:defRPr>
            </a:pPr>
            <a:r>
              <a:rPr sz="1350" b="1">
                <a:solidFill>
                  <a:srgbClr val="111827"/>
                </a:solidFill>
                <a:latin typeface="Aptos"/>
                <a:ea typeface="Aptos"/>
                <a:cs typeface="Aptos"/>
              </a:rPr>
              <a:t>Reflect</a:t>
            </a:r>
          </a:p>
        </p:txBody>
      </p:sp>
      <p:sp>
        <p:nvSpPr>
          <p:cNvPr id="14" name="">
            <a:extLst xmlns:a="http://schemas.openxmlformats.org/drawingml/2006/main">
              <a:ext uri="{FF2B5EF4-FFF2-40B4-BE49-F238E27FC236}">
                <a16:creationId xmlns:a16="http://schemas.microsoft.com/office/drawing/2014/main" id="{12E217BF-87BE-49C6-809A-CC08980AD332}"/>
              </a:ext>
            </a:extLst>
          </p:cNvPr>
          <p:cNvSpPr>
            <a:spLocks xmlns:a="http://schemas.openxmlformats.org/drawingml/2006/main" noGrp="1"/>
          </p:cNvSpPr>
          <p:nvPr/>
        </p:nvSpPr>
        <p:spPr>
          <a:xfrm xmlns:a="http://schemas.openxmlformats.org/drawingml/2006/main">
            <a:off x="9029700" y="3238500"/>
            <a:ext cx="1809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13">
                <a:solidFill>
                  <a:srgbClr val="475569"/>
                </a:solidFill>
                <a:latin typeface="Aptos"/>
                <a:ea typeface="Aptos"/>
                <a:cs typeface="Aptos"/>
              </a:defRPr>
            </a:pPr>
            <a:r>
              <a:rPr sz="1013">
                <a:solidFill>
                  <a:srgbClr val="475569"/>
                </a:solidFill>
                <a:latin typeface="Aptos"/>
                <a:ea typeface="Aptos"/>
                <a:cs typeface="Aptos"/>
              </a:rPr>
              <a:t>score, trend,</a:t>
            </a:r>
          </a:p>
          <a:p xmlns:a="http://schemas.openxmlformats.org/drawingml/2006/main">
            <a:pPr>
              <a:defRPr sz="1013">
                <a:solidFill>
                  <a:srgbClr val="475569"/>
                </a:solidFill>
                <a:latin typeface="Aptos"/>
                <a:ea typeface="Aptos"/>
                <a:cs typeface="Aptos"/>
              </a:defRPr>
            </a:pPr>
            <a:r>
              <a:rPr sz="1013">
                <a:solidFill>
                  <a:srgbClr val="475569"/>
                </a:solidFill>
                <a:latin typeface="Aptos"/>
                <a:ea typeface="Aptos"/>
                <a:cs typeface="Aptos"/>
              </a:rPr>
              <a:t>weekly report</a:t>
            </a:r>
          </a:p>
        </p:txBody>
      </p:sp>
      <p:sp>
        <p:nvSpPr>
          <p:cNvPr id="15" name="">
            <a:extLst xmlns:a="http://schemas.openxmlformats.org/drawingml/2006/main">
              <a:ext uri="{FF2B5EF4-FFF2-40B4-BE49-F238E27FC236}">
                <a16:creationId xmlns:a16="http://schemas.microsoft.com/office/drawing/2014/main" id="{E1BC6335-7E28-49C6-887F-B8790167BFA8}"/>
              </a:ext>
            </a:extLst>
          </p:cNvPr>
          <p:cNvSpPr>
            <a:spLocks xmlns:a="http://schemas.openxmlformats.org/drawingml/2006/main" noGrp="1"/>
          </p:cNvSpPr>
          <p:nvPr/>
        </p:nvSpPr>
        <p:spPr>
          <a:xfrm xmlns:a="http://schemas.openxmlformats.org/drawingml/2006/main">
            <a:off x="10572750" y="2886075"/>
            <a:ext cx="285750" cy="28575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6" name="">
            <a:extLst xmlns:a="http://schemas.openxmlformats.org/drawingml/2006/main">
              <a:ext uri="{FF2B5EF4-FFF2-40B4-BE49-F238E27FC236}">
                <a16:creationId xmlns:a16="http://schemas.microsoft.com/office/drawing/2014/main" id="{A056720B-EC65-43B3-8717-42D13610F4A2}"/>
              </a:ext>
            </a:extLst>
          </p:cNvPr>
          <p:cNvSpPr>
            <a:spLocks xmlns:a="http://schemas.openxmlformats.org/drawingml/2006/main" noGrp="1"/>
          </p:cNvSpPr>
          <p:nvPr/>
        </p:nvSpPr>
        <p:spPr>
          <a:xfrm xmlns:a="http://schemas.openxmlformats.org/drawingml/2006/main">
            <a:off x="7572375" y="4333875"/>
            <a:ext cx="2190750" cy="1333500"/>
          </a:xfrm>
          <a:prstGeom xmlns:a="http://schemas.openxmlformats.org/drawingml/2006/main" prst="roundRect">
            <a:avLst>
              <a:gd name="adj" fmla="val 11429"/>
            </a:avLst>
          </a:prstGeom>
          <a:solidFill xmlns:a="http://schemas.openxmlformats.org/drawingml/2006/main">
            <a:srgbClr val="FFF7ED"/>
          </a:solidFill>
          <a:ln xmlns:a="http://schemas.openxmlformats.org/drawingml/2006/main" w="9525">
            <a:solidFill>
              <a:srgbClr val="CBD5E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150B27FE-86C2-4B67-98F2-61EEE716FA5B}"/>
              </a:ext>
            </a:extLst>
          </p:cNvPr>
          <p:cNvSpPr>
            <a:spLocks xmlns:a="http://schemas.openxmlformats.org/drawingml/2006/main" noGrp="1"/>
          </p:cNvSpPr>
          <p:nvPr/>
        </p:nvSpPr>
        <p:spPr>
          <a:xfrm xmlns:a="http://schemas.openxmlformats.org/drawingml/2006/main">
            <a:off x="7743825" y="450532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111827"/>
                </a:solidFill>
                <a:latin typeface="Aptos"/>
                <a:ea typeface="Aptos"/>
                <a:cs typeface="Aptos"/>
              </a:defRPr>
            </a:pPr>
            <a:r>
              <a:rPr sz="1350" b="1">
                <a:solidFill>
                  <a:srgbClr val="111827"/>
                </a:solidFill>
                <a:latin typeface="Aptos"/>
                <a:ea typeface="Aptos"/>
                <a:cs typeface="Aptos"/>
              </a:rPr>
              <a:t>Act</a:t>
            </a:r>
          </a:p>
        </p:txBody>
      </p:sp>
      <p:sp>
        <p:nvSpPr>
          <p:cNvPr id="18" name="">
            <a:extLst xmlns:a="http://schemas.openxmlformats.org/drawingml/2006/main">
              <a:ext uri="{FF2B5EF4-FFF2-40B4-BE49-F238E27FC236}">
                <a16:creationId xmlns:a16="http://schemas.microsoft.com/office/drawing/2014/main" id="{E28B9005-7395-4C4A-BF57-C9C417047BA4}"/>
              </a:ext>
            </a:extLst>
          </p:cNvPr>
          <p:cNvSpPr>
            <a:spLocks xmlns:a="http://schemas.openxmlformats.org/drawingml/2006/main" noGrp="1"/>
          </p:cNvSpPr>
          <p:nvPr/>
        </p:nvSpPr>
        <p:spPr>
          <a:xfrm xmlns:a="http://schemas.openxmlformats.org/drawingml/2006/main">
            <a:off x="7743825" y="4857750"/>
            <a:ext cx="1809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13">
                <a:solidFill>
                  <a:srgbClr val="475569"/>
                </a:solidFill>
                <a:latin typeface="Aptos"/>
                <a:ea typeface="Aptos"/>
                <a:cs typeface="Aptos"/>
              </a:defRPr>
            </a:pPr>
            <a:r>
              <a:rPr sz="1013">
                <a:solidFill>
                  <a:srgbClr val="475569"/>
                </a:solidFill>
                <a:latin typeface="Aptos"/>
                <a:ea typeface="Aptos"/>
                <a:cs typeface="Aptos"/>
              </a:rPr>
              <a:t>care card,</a:t>
            </a:r>
          </a:p>
          <a:p xmlns:a="http://schemas.openxmlformats.org/drawingml/2006/main">
            <a:pPr>
              <a:defRPr sz="1013">
                <a:solidFill>
                  <a:srgbClr val="475569"/>
                </a:solidFill>
                <a:latin typeface="Aptos"/>
                <a:ea typeface="Aptos"/>
                <a:cs typeface="Aptos"/>
              </a:defRPr>
            </a:pPr>
            <a:r>
              <a:rPr sz="1013">
                <a:solidFill>
                  <a:srgbClr val="475569"/>
                </a:solidFill>
                <a:latin typeface="Aptos"/>
                <a:ea typeface="Aptos"/>
                <a:cs typeface="Aptos"/>
              </a:rPr>
              <a:t>SOS confirm</a:t>
            </a:r>
          </a:p>
        </p:txBody>
      </p:sp>
      <p:sp>
        <p:nvSpPr>
          <p:cNvPr id="19" name="">
            <a:extLst xmlns:a="http://schemas.openxmlformats.org/drawingml/2006/main">
              <a:ext uri="{FF2B5EF4-FFF2-40B4-BE49-F238E27FC236}">
                <a16:creationId xmlns:a16="http://schemas.microsoft.com/office/drawing/2014/main" id="{1900F691-A931-4E34-A44F-E3B588AAD90D}"/>
              </a:ext>
            </a:extLst>
          </p:cNvPr>
          <p:cNvSpPr>
            <a:spLocks xmlns:a="http://schemas.openxmlformats.org/drawingml/2006/main" noGrp="1"/>
          </p:cNvSpPr>
          <p:nvPr/>
        </p:nvSpPr>
        <p:spPr>
          <a:xfrm xmlns:a="http://schemas.openxmlformats.org/drawingml/2006/main">
            <a:off x="9286875" y="4505325"/>
            <a:ext cx="285750" cy="285750"/>
          </a:xfrm>
          <a:prstGeom xmlns:a="http://schemas.openxmlformats.org/drawingml/2006/main" prst="ellipse">
            <a:avLst/>
          </a:prstGeom>
          <a:solidFill xmlns:a="http://schemas.openxmlformats.org/drawingml/2006/main">
            <a:srgbClr val="F59E0B"/>
          </a:solidFill>
          <a:ln xmlns:a="http://schemas.openxmlformats.org/drawingml/2006/main" w="0">
            <a:solidFill>
              <a:srgbClr val="F59E0B"/>
            </a:solidFill>
            <a:prstDash val="solid"/>
          </a:ln>
        </p:spPr>
      </p:sp>
      <p:sp>
        <p:nvSpPr>
          <p:cNvPr id="20" name="">
            <a:extLst xmlns:a="http://schemas.openxmlformats.org/drawingml/2006/main">
              <a:ext uri="{FF2B5EF4-FFF2-40B4-BE49-F238E27FC236}">
                <a16:creationId xmlns:a16="http://schemas.microsoft.com/office/drawing/2014/main" id="{7860BBEC-91C5-4FF8-81FF-66BFE56EE1A7}"/>
              </a:ext>
            </a:extLst>
          </p:cNvPr>
          <p:cNvSpPr>
            <a:spLocks xmlns:a="http://schemas.openxmlformats.org/drawingml/2006/main" noGrp="1"/>
          </p:cNvSpPr>
          <p:nvPr/>
        </p:nvSpPr>
        <p:spPr>
          <a:xfrm xmlns:a="http://schemas.openxmlformats.org/drawingml/2006/main">
            <a:off x="609600" y="64389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94A3B8"/>
                </a:solidFill>
                <a:latin typeface="Aptos"/>
                <a:ea typeface="Aptos"/>
                <a:cs typeface="Aptos"/>
              </a:defRPr>
            </a:pPr>
            <a:r>
              <a:rPr sz="825">
                <a:solidFill>
                  <a:srgbClr val="94A3B8"/>
                </a:solidFill>
                <a:latin typeface="Aptos"/>
                <a:ea typeface="Aptos"/>
                <a:cs typeface="Aptos"/>
              </a:rPr>
              <a:t>EmoScope | 5-minute oral presentation | 1/10</a:t>
            </a:r>
          </a:p>
        </p:txBody>
      </p:sp>
    </p:spTree>
    <p:extLst>
      <p:ext uri="{BB962C8B-B14F-4D97-AF65-F5344CB8AC3E}">
        <p14:creationId xmlns:p14="http://schemas.microsoft.com/office/powerpoint/2010/main" val="150795028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507FB20-8390-4EE0-A2A8-5F121B0941EC}"/>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111827"/>
                </a:solidFill>
                <a:latin typeface="Aptos Display"/>
                <a:ea typeface="Aptos Display"/>
                <a:cs typeface="Aptos Display"/>
              </a:defRPr>
            </a:pPr>
            <a:r>
              <a:rPr sz="2625" b="1">
                <a:solidFill>
                  <a:srgbClr val="111827"/>
                </a:solidFill>
                <a:latin typeface="Aptos Display"/>
                <a:ea typeface="Aptos Display"/>
                <a:cs typeface="Aptos Display"/>
              </a:rPr>
              <a:t>Why self-report is not enough</a:t>
            </a:r>
          </a:p>
        </p:txBody>
      </p:sp>
      <p:sp>
        <p:nvSpPr>
          <p:cNvPr id="2" name="">
            <a:extLst xmlns:a="http://schemas.openxmlformats.org/drawingml/2006/main">
              <a:ext uri="{FF2B5EF4-FFF2-40B4-BE49-F238E27FC236}">
                <a16:creationId xmlns:a16="http://schemas.microsoft.com/office/drawing/2014/main" id="{E7052D89-0E12-45D4-8FC7-6C83108C6FBF}"/>
              </a:ext>
            </a:extLst>
          </p:cNvPr>
          <p:cNvSpPr>
            <a:spLocks xmlns:a="http://schemas.openxmlformats.org/drawingml/2006/main" noGrp="1"/>
          </p:cNvSpPr>
          <p:nvPr/>
        </p:nvSpPr>
        <p:spPr>
          <a:xfrm xmlns:a="http://schemas.openxmlformats.org/drawingml/2006/main">
            <a:off x="628650" y="914400"/>
            <a:ext cx="885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64748B"/>
                </a:solidFill>
                <a:latin typeface="Aptos"/>
                <a:ea typeface="Aptos"/>
                <a:cs typeface="Aptos"/>
              </a:defRPr>
            </a:pPr>
            <a:r>
              <a:rPr sz="1200">
                <a:solidFill>
                  <a:srgbClr val="64748B"/>
                </a:solidFill>
                <a:latin typeface="Aptos"/>
                <a:ea typeface="Aptos"/>
                <a:cs typeface="Aptos"/>
              </a:rPr>
              <a:t>Mood diaries miss important moments when recording requires too much effort.</a:t>
            </a:r>
          </a:p>
        </p:txBody>
      </p:sp>
      <p:sp>
        <p:nvSpPr>
          <p:cNvPr id="3" name="">
            <a:extLst xmlns:a="http://schemas.openxmlformats.org/drawingml/2006/main">
              <a:ext uri="{FF2B5EF4-FFF2-40B4-BE49-F238E27FC236}">
                <a16:creationId xmlns:a16="http://schemas.microsoft.com/office/drawing/2014/main" id="{03C5EC15-B866-4383-876D-F7385E0A9495}"/>
              </a:ext>
            </a:extLst>
          </p:cNvPr>
          <p:cNvSpPr>
            <a:spLocks xmlns:a="http://schemas.openxmlformats.org/drawingml/2006/main" noGrp="1"/>
          </p:cNvSpPr>
          <p:nvPr/>
        </p:nvSpPr>
        <p:spPr>
          <a:xfrm xmlns:a="http://schemas.openxmlformats.org/drawingml/2006/main">
            <a:off x="742950" y="1600200"/>
            <a:ext cx="3238500" cy="160020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 name="">
            <a:extLst xmlns:a="http://schemas.openxmlformats.org/drawingml/2006/main">
              <a:ext uri="{FF2B5EF4-FFF2-40B4-BE49-F238E27FC236}">
                <a16:creationId xmlns:a16="http://schemas.microsoft.com/office/drawing/2014/main" id="{904D7F1B-155D-4080-A4C9-98139E2DE25C}"/>
              </a:ext>
            </a:extLst>
          </p:cNvPr>
          <p:cNvSpPr>
            <a:spLocks xmlns:a="http://schemas.openxmlformats.org/drawingml/2006/main" noGrp="1"/>
          </p:cNvSpPr>
          <p:nvPr/>
        </p:nvSpPr>
        <p:spPr>
          <a:xfrm xmlns:a="http://schemas.openxmlformats.org/drawingml/2006/main">
            <a:off x="742950" y="1600200"/>
            <a:ext cx="66675" cy="1600200"/>
          </a:xfrm>
          <a:prstGeom xmlns:a="http://schemas.openxmlformats.org/drawingml/2006/main" prst="rect">
            <a:avLst/>
          </a:prstGeom>
          <a:solidFill xmlns:a="http://schemas.openxmlformats.org/drawingml/2006/main">
            <a:srgbClr val="EF4444"/>
          </a:solidFill>
          <a:ln xmlns:a="http://schemas.openxmlformats.org/drawingml/2006/main" w="0">
            <a:solidFill>
              <a:srgbClr val="EF4444"/>
            </a:solidFill>
            <a:prstDash val="solid"/>
          </a:ln>
        </p:spPr>
      </p:sp>
      <p:sp>
        <p:nvSpPr>
          <p:cNvPr id="5" name="">
            <a:extLst xmlns:a="http://schemas.openxmlformats.org/drawingml/2006/main">
              <a:ext uri="{FF2B5EF4-FFF2-40B4-BE49-F238E27FC236}">
                <a16:creationId xmlns:a16="http://schemas.microsoft.com/office/drawing/2014/main" id="{368E49F6-785B-4504-97A6-AC9F84CF445E}"/>
              </a:ext>
            </a:extLst>
          </p:cNvPr>
          <p:cNvSpPr>
            <a:spLocks xmlns:a="http://schemas.openxmlformats.org/drawingml/2006/main" noGrp="1"/>
          </p:cNvSpPr>
          <p:nvPr/>
        </p:nvSpPr>
        <p:spPr>
          <a:xfrm xmlns:a="http://schemas.openxmlformats.org/drawingml/2006/main">
            <a:off x="971550" y="1771650"/>
            <a:ext cx="2781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1">
                <a:solidFill>
                  <a:srgbClr val="111827"/>
                </a:solidFill>
                <a:latin typeface="Aptos"/>
                <a:ea typeface="Aptos"/>
                <a:cs typeface="Aptos"/>
              </a:defRPr>
            </a:pPr>
            <a:r>
              <a:rPr sz="1425" b="1">
                <a:solidFill>
                  <a:srgbClr val="111827"/>
                </a:solidFill>
                <a:latin typeface="Aptos"/>
                <a:ea typeface="Aptos"/>
                <a:cs typeface="Aptos"/>
              </a:rPr>
              <a:t>Recall bias</a:t>
            </a:r>
          </a:p>
        </p:txBody>
      </p:sp>
      <p:sp>
        <p:nvSpPr>
          <p:cNvPr id="6" name="">
            <a:extLst xmlns:a="http://schemas.openxmlformats.org/drawingml/2006/main">
              <a:ext uri="{FF2B5EF4-FFF2-40B4-BE49-F238E27FC236}">
                <a16:creationId xmlns:a16="http://schemas.microsoft.com/office/drawing/2014/main" id="{8F32A169-9E20-4150-83E9-2E01D4708B93}"/>
              </a:ext>
            </a:extLst>
          </p:cNvPr>
          <p:cNvSpPr>
            <a:spLocks xmlns:a="http://schemas.openxmlformats.org/drawingml/2006/main" noGrp="1"/>
          </p:cNvSpPr>
          <p:nvPr/>
        </p:nvSpPr>
        <p:spPr>
          <a:xfrm xmlns:a="http://schemas.openxmlformats.org/drawingml/2006/main">
            <a:off x="971550" y="2114550"/>
            <a:ext cx="27813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40">
                <a:solidFill>
                  <a:srgbClr val="475569"/>
                </a:solidFill>
                <a:latin typeface="Aptos"/>
                <a:ea typeface="Aptos"/>
                <a:cs typeface="Aptos"/>
              </a:defRPr>
            </a:pPr>
            <a:r>
              <a:rPr sz="1140">
                <a:solidFill>
                  <a:srgbClr val="475569"/>
                </a:solidFill>
                <a:latin typeface="Aptos"/>
                <a:ea typeface="Aptos"/>
                <a:cs typeface="Aptos"/>
              </a:rPr>
              <a:t>Users reconstruct past feelings after the emotional moment has already changed.</a:t>
            </a:r>
          </a:p>
        </p:txBody>
      </p:sp>
      <p:sp>
        <p:nvSpPr>
          <p:cNvPr id="7" name="">
            <a:extLst xmlns:a="http://schemas.openxmlformats.org/drawingml/2006/main">
              <a:ext uri="{FF2B5EF4-FFF2-40B4-BE49-F238E27FC236}">
                <a16:creationId xmlns:a16="http://schemas.microsoft.com/office/drawing/2014/main" id="{FF87C4E9-52DD-40DC-8AC5-AE481E42BE3C}"/>
              </a:ext>
            </a:extLst>
          </p:cNvPr>
          <p:cNvSpPr>
            <a:spLocks xmlns:a="http://schemas.openxmlformats.org/drawingml/2006/main" noGrp="1"/>
          </p:cNvSpPr>
          <p:nvPr/>
        </p:nvSpPr>
        <p:spPr>
          <a:xfrm xmlns:a="http://schemas.openxmlformats.org/drawingml/2006/main">
            <a:off x="4476750" y="1600200"/>
            <a:ext cx="3238500" cy="160020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3670DA87-382D-4E88-9424-97A8823DE3AD}"/>
              </a:ext>
            </a:extLst>
          </p:cNvPr>
          <p:cNvSpPr>
            <a:spLocks xmlns:a="http://schemas.openxmlformats.org/drawingml/2006/main" noGrp="1"/>
          </p:cNvSpPr>
          <p:nvPr/>
        </p:nvSpPr>
        <p:spPr>
          <a:xfrm xmlns:a="http://schemas.openxmlformats.org/drawingml/2006/main">
            <a:off x="4476750" y="1600200"/>
            <a:ext cx="66675" cy="1600200"/>
          </a:xfrm>
          <a:prstGeom xmlns:a="http://schemas.openxmlformats.org/drawingml/2006/main" prst="rect">
            <a:avLst/>
          </a:prstGeom>
          <a:solidFill xmlns:a="http://schemas.openxmlformats.org/drawingml/2006/main">
            <a:srgbClr val="F59E0B"/>
          </a:solidFill>
          <a:ln xmlns:a="http://schemas.openxmlformats.org/drawingml/2006/main" w="0">
            <a:solidFill>
              <a:srgbClr val="F59E0B"/>
            </a:solidFill>
            <a:prstDash val="solid"/>
          </a:ln>
        </p:spPr>
      </p:sp>
      <p:sp>
        <p:nvSpPr>
          <p:cNvPr id="9" name="">
            <a:extLst xmlns:a="http://schemas.openxmlformats.org/drawingml/2006/main">
              <a:ext uri="{FF2B5EF4-FFF2-40B4-BE49-F238E27FC236}">
                <a16:creationId xmlns:a16="http://schemas.microsoft.com/office/drawing/2014/main" id="{7CA01509-0FCB-4508-969A-D37419C13841}"/>
              </a:ext>
            </a:extLst>
          </p:cNvPr>
          <p:cNvSpPr>
            <a:spLocks xmlns:a="http://schemas.openxmlformats.org/drawingml/2006/main" noGrp="1"/>
          </p:cNvSpPr>
          <p:nvPr/>
        </p:nvSpPr>
        <p:spPr>
          <a:xfrm xmlns:a="http://schemas.openxmlformats.org/drawingml/2006/main">
            <a:off x="4705350" y="1771650"/>
            <a:ext cx="2781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1">
                <a:solidFill>
                  <a:srgbClr val="111827"/>
                </a:solidFill>
                <a:latin typeface="Aptos"/>
                <a:ea typeface="Aptos"/>
                <a:cs typeface="Aptos"/>
              </a:defRPr>
            </a:pPr>
            <a:r>
              <a:rPr sz="1425" b="1">
                <a:solidFill>
                  <a:srgbClr val="111827"/>
                </a:solidFill>
                <a:latin typeface="Aptos"/>
                <a:ea typeface="Aptos"/>
                <a:cs typeface="Aptos"/>
              </a:rPr>
              <a:t>Compliance decay</a:t>
            </a:r>
          </a:p>
        </p:txBody>
      </p:sp>
      <p:sp>
        <p:nvSpPr>
          <p:cNvPr id="10" name="">
            <a:extLst xmlns:a="http://schemas.openxmlformats.org/drawingml/2006/main">
              <a:ext uri="{FF2B5EF4-FFF2-40B4-BE49-F238E27FC236}">
                <a16:creationId xmlns:a16="http://schemas.microsoft.com/office/drawing/2014/main" id="{45009D52-097A-4814-9697-BB89FC8F6544}"/>
              </a:ext>
            </a:extLst>
          </p:cNvPr>
          <p:cNvSpPr>
            <a:spLocks xmlns:a="http://schemas.openxmlformats.org/drawingml/2006/main" noGrp="1"/>
          </p:cNvSpPr>
          <p:nvPr/>
        </p:nvSpPr>
        <p:spPr>
          <a:xfrm xmlns:a="http://schemas.openxmlformats.org/drawingml/2006/main">
            <a:off x="4705350" y="2114550"/>
            <a:ext cx="27813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40">
                <a:solidFill>
                  <a:srgbClr val="475569"/>
                </a:solidFill>
                <a:latin typeface="Aptos"/>
                <a:ea typeface="Aptos"/>
                <a:cs typeface="Aptos"/>
              </a:defRPr>
            </a:pPr>
            <a:r>
              <a:rPr sz="1140">
                <a:solidFill>
                  <a:srgbClr val="475569"/>
                </a:solidFill>
                <a:latin typeface="Aptos"/>
                <a:ea typeface="Aptos"/>
                <a:cs typeface="Aptos"/>
              </a:rPr>
              <a:t>Manual logging is easy to understand but hard to sustain every day.</a:t>
            </a:r>
          </a:p>
        </p:txBody>
      </p:sp>
      <p:sp>
        <p:nvSpPr>
          <p:cNvPr id="11" name="">
            <a:extLst xmlns:a="http://schemas.openxmlformats.org/drawingml/2006/main">
              <a:ext uri="{FF2B5EF4-FFF2-40B4-BE49-F238E27FC236}">
                <a16:creationId xmlns:a16="http://schemas.microsoft.com/office/drawing/2014/main" id="{8392F23A-7C8C-4994-BF3D-EA14FFEF09A4}"/>
              </a:ext>
            </a:extLst>
          </p:cNvPr>
          <p:cNvSpPr>
            <a:spLocks xmlns:a="http://schemas.openxmlformats.org/drawingml/2006/main" noGrp="1"/>
          </p:cNvSpPr>
          <p:nvPr/>
        </p:nvSpPr>
        <p:spPr>
          <a:xfrm xmlns:a="http://schemas.openxmlformats.org/drawingml/2006/main">
            <a:off x="8210550" y="1600200"/>
            <a:ext cx="3238500" cy="160020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4990CDB3-46D5-4132-8384-F17162E10E3A}"/>
              </a:ext>
            </a:extLst>
          </p:cNvPr>
          <p:cNvSpPr>
            <a:spLocks xmlns:a="http://schemas.openxmlformats.org/drawingml/2006/main" noGrp="1"/>
          </p:cNvSpPr>
          <p:nvPr/>
        </p:nvSpPr>
        <p:spPr>
          <a:xfrm xmlns:a="http://schemas.openxmlformats.org/drawingml/2006/main">
            <a:off x="8210550" y="1600200"/>
            <a:ext cx="66675" cy="1600200"/>
          </a:xfrm>
          <a:prstGeom xmlns:a="http://schemas.openxmlformats.org/drawingml/2006/main" prst="rect">
            <a:avLst/>
          </a:prstGeom>
          <a:solidFill xmlns:a="http://schemas.openxmlformats.org/drawingml/2006/main">
            <a:srgbClr val="6366F1"/>
          </a:solidFill>
          <a:ln xmlns:a="http://schemas.openxmlformats.org/drawingml/2006/main" w="0">
            <a:solidFill>
              <a:srgbClr val="6366F1"/>
            </a:solidFill>
            <a:prstDash val="solid"/>
          </a:ln>
        </p:spPr>
      </p:sp>
      <p:sp>
        <p:nvSpPr>
          <p:cNvPr id="13" name="">
            <a:extLst xmlns:a="http://schemas.openxmlformats.org/drawingml/2006/main">
              <a:ext uri="{FF2B5EF4-FFF2-40B4-BE49-F238E27FC236}">
                <a16:creationId xmlns:a16="http://schemas.microsoft.com/office/drawing/2014/main" id="{FD5F29B8-41BB-456B-8E83-3A55EB2A5D4C}"/>
              </a:ext>
            </a:extLst>
          </p:cNvPr>
          <p:cNvSpPr>
            <a:spLocks xmlns:a="http://schemas.openxmlformats.org/drawingml/2006/main" noGrp="1"/>
          </p:cNvSpPr>
          <p:nvPr/>
        </p:nvSpPr>
        <p:spPr>
          <a:xfrm xmlns:a="http://schemas.openxmlformats.org/drawingml/2006/main">
            <a:off x="8439150" y="1771650"/>
            <a:ext cx="2781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1">
                <a:solidFill>
                  <a:srgbClr val="111827"/>
                </a:solidFill>
                <a:latin typeface="Aptos"/>
                <a:ea typeface="Aptos"/>
                <a:cs typeface="Aptos"/>
              </a:defRPr>
            </a:pPr>
            <a:r>
              <a:rPr sz="1425" b="1">
                <a:solidFill>
                  <a:srgbClr val="111827"/>
                </a:solidFill>
                <a:latin typeface="Aptos"/>
                <a:ea typeface="Aptos"/>
                <a:cs typeface="Aptos"/>
              </a:rPr>
              <a:t>Missing high-need data</a:t>
            </a:r>
          </a:p>
        </p:txBody>
      </p:sp>
      <p:sp>
        <p:nvSpPr>
          <p:cNvPr id="14" name="">
            <a:extLst xmlns:a="http://schemas.openxmlformats.org/drawingml/2006/main">
              <a:ext uri="{FF2B5EF4-FFF2-40B4-BE49-F238E27FC236}">
                <a16:creationId xmlns:a16="http://schemas.microsoft.com/office/drawing/2014/main" id="{2581BB0B-1530-4E6F-A6B5-B12A23AA58EA}"/>
              </a:ext>
            </a:extLst>
          </p:cNvPr>
          <p:cNvSpPr>
            <a:spLocks xmlns:a="http://schemas.openxmlformats.org/drawingml/2006/main" noGrp="1"/>
          </p:cNvSpPr>
          <p:nvPr/>
        </p:nvSpPr>
        <p:spPr>
          <a:xfrm xmlns:a="http://schemas.openxmlformats.org/drawingml/2006/main">
            <a:off x="8439150" y="2114550"/>
            <a:ext cx="27813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40">
                <a:solidFill>
                  <a:srgbClr val="475569"/>
                </a:solidFill>
                <a:latin typeface="Aptos"/>
                <a:ea typeface="Aptos"/>
                <a:cs typeface="Aptos"/>
              </a:defRPr>
            </a:pPr>
            <a:r>
              <a:rPr sz="1140">
                <a:solidFill>
                  <a:srgbClr val="475569"/>
                </a:solidFill>
                <a:latin typeface="Aptos"/>
                <a:ea typeface="Aptos"/>
                <a:cs typeface="Aptos"/>
              </a:rPr>
              <a:t>Stress and fatigue can reduce the willingness to open an app and write.</a:t>
            </a:r>
          </a:p>
        </p:txBody>
      </p:sp>
      <p:sp>
        <p:nvSpPr>
          <p:cNvPr id="15" name="">
            <a:extLst xmlns:a="http://schemas.openxmlformats.org/drawingml/2006/main">
              <a:ext uri="{FF2B5EF4-FFF2-40B4-BE49-F238E27FC236}">
                <a16:creationId xmlns:a16="http://schemas.microsoft.com/office/drawing/2014/main" id="{BE0F6268-C708-4495-81B0-ACA56A575A25}"/>
              </a:ext>
            </a:extLst>
          </p:cNvPr>
          <p:cNvSpPr>
            <a:spLocks xmlns:a="http://schemas.openxmlformats.org/drawingml/2006/main" noGrp="1"/>
          </p:cNvSpPr>
          <p:nvPr/>
        </p:nvSpPr>
        <p:spPr>
          <a:xfrm xmlns:a="http://schemas.openxmlformats.org/drawingml/2006/main">
            <a:off x="876300" y="400050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1">
                <a:solidFill>
                  <a:srgbClr val="4338CA"/>
                </a:solidFill>
                <a:latin typeface="Aptos"/>
                <a:ea typeface="Aptos"/>
                <a:cs typeface="Aptos"/>
              </a:defRPr>
            </a:pPr>
            <a:r>
              <a:rPr sz="1425" b="1">
                <a:solidFill>
                  <a:srgbClr val="4338CA"/>
                </a:solidFill>
                <a:latin typeface="Aptos"/>
                <a:ea typeface="Aptos"/>
                <a:cs typeface="Aptos"/>
              </a:rPr>
              <a:t>Design implication</a:t>
            </a:r>
          </a:p>
        </p:txBody>
      </p:sp>
      <p:sp>
        <p:nvSpPr>
          <p:cNvPr id="16" name="">
            <a:extLst xmlns:a="http://schemas.openxmlformats.org/drawingml/2006/main">
              <a:ext uri="{FF2B5EF4-FFF2-40B4-BE49-F238E27FC236}">
                <a16:creationId xmlns:a16="http://schemas.microsoft.com/office/drawing/2014/main" id="{1C50FEA9-D074-4C1C-B245-A735A40D1629}"/>
              </a:ext>
            </a:extLst>
          </p:cNvPr>
          <p:cNvSpPr>
            <a:spLocks xmlns:a="http://schemas.openxmlformats.org/drawingml/2006/main" noGrp="1"/>
          </p:cNvSpPr>
          <p:nvPr/>
        </p:nvSpPr>
        <p:spPr>
          <a:xfrm xmlns:a="http://schemas.openxmlformats.org/drawingml/2006/main">
            <a:off x="876300" y="4381500"/>
            <a:ext cx="7810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400" b="1">
                <a:solidFill>
                  <a:srgbClr val="111827"/>
                </a:solidFill>
                <a:latin typeface="Aptos Display"/>
                <a:ea typeface="Aptos Display"/>
                <a:cs typeface="Aptos Display"/>
              </a:defRPr>
            </a:pPr>
            <a:r>
              <a:rPr sz="2400" b="1">
                <a:solidFill>
                  <a:srgbClr val="111827"/>
                </a:solidFill>
                <a:latin typeface="Aptos Display"/>
                <a:ea typeface="Aptos Display"/>
                <a:cs typeface="Aptos Display"/>
              </a:rPr>
              <a:t>A wellness tool should reduce user burden while still giving the user control over interpretation and action.</a:t>
            </a:r>
          </a:p>
        </p:txBody>
      </p:sp>
      <p:sp>
        <p:nvSpPr>
          <p:cNvPr id="17" name="">
            <a:extLst xmlns:a="http://schemas.openxmlformats.org/drawingml/2006/main">
              <a:ext uri="{FF2B5EF4-FFF2-40B4-BE49-F238E27FC236}">
                <a16:creationId xmlns:a16="http://schemas.microsoft.com/office/drawing/2014/main" id="{400C4867-1E4A-4B0D-AEC3-0A2991488917}"/>
              </a:ext>
            </a:extLst>
          </p:cNvPr>
          <p:cNvSpPr>
            <a:spLocks xmlns:a="http://schemas.openxmlformats.org/drawingml/2006/main" noGrp="1"/>
          </p:cNvSpPr>
          <p:nvPr/>
        </p:nvSpPr>
        <p:spPr>
          <a:xfrm xmlns:a="http://schemas.openxmlformats.org/drawingml/2006/main">
            <a:off x="9163050" y="4019550"/>
            <a:ext cx="2000250" cy="419100"/>
          </a:xfrm>
          <a:prstGeom xmlns:a="http://schemas.openxmlformats.org/drawingml/2006/main" prst="roundRect">
            <a:avLst>
              <a:gd name="adj" fmla="val 50000"/>
            </a:avLst>
          </a:prstGeom>
          <a:solidFill xmlns:a="http://schemas.openxmlformats.org/drawingml/2006/main">
            <a:srgbClr val="F1EDFF"/>
          </a:solidFill>
          <a:ln xmlns:a="http://schemas.openxmlformats.org/drawingml/2006/main" w="9525">
            <a:solidFill>
              <a:srgbClr val="DDD6FE"/>
            </a:solidFill>
            <a:prstDash val="solid"/>
          </a:ln>
        </p:spPr>
      </p:sp>
      <p:sp>
        <p:nvSpPr>
          <p:cNvPr id="18" name="">
            <a:extLst xmlns:a="http://schemas.openxmlformats.org/drawingml/2006/main">
              <a:ext uri="{FF2B5EF4-FFF2-40B4-BE49-F238E27FC236}">
                <a16:creationId xmlns:a16="http://schemas.microsoft.com/office/drawing/2014/main" id="{30880AA3-754E-4C73-A0BC-444AF2CBEDBB}"/>
              </a:ext>
            </a:extLst>
          </p:cNvPr>
          <p:cNvSpPr>
            <a:spLocks xmlns:a="http://schemas.openxmlformats.org/drawingml/2006/main" noGrp="1"/>
          </p:cNvSpPr>
          <p:nvPr/>
        </p:nvSpPr>
        <p:spPr>
          <a:xfrm xmlns:a="http://schemas.openxmlformats.org/drawingml/2006/main">
            <a:off x="9334500" y="4124325"/>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88" b="1">
                <a:solidFill>
                  <a:srgbClr val="4338CA"/>
                </a:solidFill>
                <a:latin typeface="Aptos"/>
                <a:ea typeface="Aptos"/>
                <a:cs typeface="Aptos"/>
              </a:defRPr>
            </a:pPr>
            <a:r>
              <a:rPr sz="1088" b="1">
                <a:solidFill>
                  <a:srgbClr val="4338CA"/>
                </a:solidFill>
                <a:latin typeface="Aptos"/>
                <a:ea typeface="Aptos"/>
                <a:cs typeface="Aptos"/>
              </a:rPr>
              <a:t>Less typing</a:t>
            </a:r>
          </a:p>
        </p:txBody>
      </p:sp>
      <p:sp>
        <p:nvSpPr>
          <p:cNvPr id="19" name="">
            <a:extLst xmlns:a="http://schemas.openxmlformats.org/drawingml/2006/main">
              <a:ext uri="{FF2B5EF4-FFF2-40B4-BE49-F238E27FC236}">
                <a16:creationId xmlns:a16="http://schemas.microsoft.com/office/drawing/2014/main" id="{EFA9A65B-768B-4688-A8C4-A518C4A30D00}"/>
              </a:ext>
            </a:extLst>
          </p:cNvPr>
          <p:cNvSpPr>
            <a:spLocks xmlns:a="http://schemas.openxmlformats.org/drawingml/2006/main" noGrp="1"/>
          </p:cNvSpPr>
          <p:nvPr/>
        </p:nvSpPr>
        <p:spPr>
          <a:xfrm xmlns:a="http://schemas.openxmlformats.org/drawingml/2006/main">
            <a:off x="9163050" y="4572000"/>
            <a:ext cx="2000250" cy="419100"/>
          </a:xfrm>
          <a:prstGeom xmlns:a="http://schemas.openxmlformats.org/drawingml/2006/main" prst="roundRect">
            <a:avLst>
              <a:gd name="adj" fmla="val 50000"/>
            </a:avLst>
          </a:prstGeom>
          <a:solidFill xmlns:a="http://schemas.openxmlformats.org/drawingml/2006/main">
            <a:srgbClr val="F1EDFF"/>
          </a:solidFill>
          <a:ln xmlns:a="http://schemas.openxmlformats.org/drawingml/2006/main" w="9525">
            <a:solidFill>
              <a:srgbClr val="DDD6FE"/>
            </a:solidFill>
            <a:prstDash val="solid"/>
          </a:ln>
        </p:spPr>
      </p:sp>
      <p:sp>
        <p:nvSpPr>
          <p:cNvPr id="20" name="">
            <a:extLst xmlns:a="http://schemas.openxmlformats.org/drawingml/2006/main">
              <a:ext uri="{FF2B5EF4-FFF2-40B4-BE49-F238E27FC236}">
                <a16:creationId xmlns:a16="http://schemas.microsoft.com/office/drawing/2014/main" id="{E0104E4F-FC15-46E8-AD89-CEAD30CA8A4D}"/>
              </a:ext>
            </a:extLst>
          </p:cNvPr>
          <p:cNvSpPr>
            <a:spLocks xmlns:a="http://schemas.openxmlformats.org/drawingml/2006/main" noGrp="1"/>
          </p:cNvSpPr>
          <p:nvPr/>
        </p:nvSpPr>
        <p:spPr>
          <a:xfrm xmlns:a="http://schemas.openxmlformats.org/drawingml/2006/main">
            <a:off x="9334500" y="4676775"/>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88" b="1">
                <a:solidFill>
                  <a:srgbClr val="4338CA"/>
                </a:solidFill>
                <a:latin typeface="Aptos"/>
                <a:ea typeface="Aptos"/>
                <a:cs typeface="Aptos"/>
              </a:defRPr>
            </a:pPr>
            <a:r>
              <a:rPr sz="1088" b="1">
                <a:solidFill>
                  <a:srgbClr val="4338CA"/>
                </a:solidFill>
                <a:latin typeface="Aptos"/>
                <a:ea typeface="Aptos"/>
                <a:cs typeface="Aptos"/>
              </a:rPr>
              <a:t>More continuity</a:t>
            </a:r>
          </a:p>
        </p:txBody>
      </p:sp>
      <p:sp>
        <p:nvSpPr>
          <p:cNvPr id="21" name="">
            <a:extLst xmlns:a="http://schemas.openxmlformats.org/drawingml/2006/main">
              <a:ext uri="{FF2B5EF4-FFF2-40B4-BE49-F238E27FC236}">
                <a16:creationId xmlns:a16="http://schemas.microsoft.com/office/drawing/2014/main" id="{6B0E7F71-1F2A-4EF8-943A-6619E7A22EA7}"/>
              </a:ext>
            </a:extLst>
          </p:cNvPr>
          <p:cNvSpPr>
            <a:spLocks xmlns:a="http://schemas.openxmlformats.org/drawingml/2006/main" noGrp="1"/>
          </p:cNvSpPr>
          <p:nvPr/>
        </p:nvSpPr>
        <p:spPr>
          <a:xfrm xmlns:a="http://schemas.openxmlformats.org/drawingml/2006/main">
            <a:off x="9163050" y="5124450"/>
            <a:ext cx="2000250" cy="419100"/>
          </a:xfrm>
          <a:prstGeom xmlns:a="http://schemas.openxmlformats.org/drawingml/2006/main" prst="roundRect">
            <a:avLst>
              <a:gd name="adj" fmla="val 50000"/>
            </a:avLst>
          </a:prstGeom>
          <a:solidFill xmlns:a="http://schemas.openxmlformats.org/drawingml/2006/main">
            <a:srgbClr val="F1EDFF"/>
          </a:solidFill>
          <a:ln xmlns:a="http://schemas.openxmlformats.org/drawingml/2006/main" w="9525">
            <a:solidFill>
              <a:srgbClr val="DDD6FE"/>
            </a:solidFill>
            <a:prstDash val="solid"/>
          </a:ln>
        </p:spPr>
      </p:sp>
      <p:sp>
        <p:nvSpPr>
          <p:cNvPr id="22" name="">
            <a:extLst xmlns:a="http://schemas.openxmlformats.org/drawingml/2006/main">
              <a:ext uri="{FF2B5EF4-FFF2-40B4-BE49-F238E27FC236}">
                <a16:creationId xmlns:a16="http://schemas.microsoft.com/office/drawing/2014/main" id="{1A0A95F3-F9B8-40BF-A8AC-05B1ED4F0A75}"/>
              </a:ext>
            </a:extLst>
          </p:cNvPr>
          <p:cNvSpPr>
            <a:spLocks xmlns:a="http://schemas.openxmlformats.org/drawingml/2006/main" noGrp="1"/>
          </p:cNvSpPr>
          <p:nvPr/>
        </p:nvSpPr>
        <p:spPr>
          <a:xfrm xmlns:a="http://schemas.openxmlformats.org/drawingml/2006/main">
            <a:off x="9334500" y="5229225"/>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88" b="1">
                <a:solidFill>
                  <a:srgbClr val="4338CA"/>
                </a:solidFill>
                <a:latin typeface="Aptos"/>
                <a:ea typeface="Aptos"/>
                <a:cs typeface="Aptos"/>
              </a:defRPr>
            </a:pPr>
            <a:r>
              <a:rPr sz="1088" b="1">
                <a:solidFill>
                  <a:srgbClr val="4338CA"/>
                </a:solidFill>
                <a:latin typeface="Aptos"/>
                <a:ea typeface="Aptos"/>
                <a:cs typeface="Aptos"/>
              </a:rPr>
              <a:t>User control</a:t>
            </a:r>
          </a:p>
        </p:txBody>
      </p:sp>
      <p:sp>
        <p:nvSpPr>
          <p:cNvPr id="23" name="">
            <a:extLst xmlns:a="http://schemas.openxmlformats.org/drawingml/2006/main">
              <a:ext uri="{FF2B5EF4-FFF2-40B4-BE49-F238E27FC236}">
                <a16:creationId xmlns:a16="http://schemas.microsoft.com/office/drawing/2014/main" id="{DF581980-4109-4371-AB02-50650AF0DC54}"/>
              </a:ext>
            </a:extLst>
          </p:cNvPr>
          <p:cNvSpPr>
            <a:spLocks xmlns:a="http://schemas.openxmlformats.org/drawingml/2006/main" noGrp="1"/>
          </p:cNvSpPr>
          <p:nvPr/>
        </p:nvSpPr>
        <p:spPr>
          <a:xfrm xmlns:a="http://schemas.openxmlformats.org/drawingml/2006/main">
            <a:off x="609600" y="64389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94A3B8"/>
                </a:solidFill>
                <a:latin typeface="Aptos"/>
                <a:ea typeface="Aptos"/>
                <a:cs typeface="Aptos"/>
              </a:defRPr>
            </a:pPr>
            <a:r>
              <a:rPr sz="825">
                <a:solidFill>
                  <a:srgbClr val="94A3B8"/>
                </a:solidFill>
                <a:latin typeface="Aptos"/>
                <a:ea typeface="Aptos"/>
                <a:cs typeface="Aptos"/>
              </a:rPr>
              <a:t>EmoScope | 5-minute oral presentation | 2/10</a:t>
            </a:r>
          </a:p>
        </p:txBody>
      </p:sp>
    </p:spTree>
    <p:extLst>
      <p:ext uri="{BB962C8B-B14F-4D97-AF65-F5344CB8AC3E}">
        <p14:creationId xmlns:p14="http://schemas.microsoft.com/office/powerpoint/2010/main" val="282629469"/>
      </p:ext>
    </p:extLst>
  </p:cSld>
</p:sld>
</file>

<file path=ppt/slides/slide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84AA19D-1C51-4E02-AD9B-C9BB29536293}"/>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111827"/>
                </a:solidFill>
                <a:latin typeface="Aptos Display"/>
                <a:ea typeface="Aptos Display"/>
                <a:cs typeface="Aptos Display"/>
              </a:defRPr>
            </a:pPr>
            <a:r>
              <a:rPr sz="2625" b="1">
                <a:solidFill>
                  <a:srgbClr val="111827"/>
                </a:solidFill>
                <a:latin typeface="Aptos Display"/>
                <a:ea typeface="Aptos Display"/>
                <a:cs typeface="Aptos Display"/>
              </a:rPr>
              <a:t>Research goal and contribution</a:t>
            </a:r>
          </a:p>
        </p:txBody>
      </p:sp>
      <p:sp>
        <p:nvSpPr>
          <p:cNvPr id="2" name="">
            <a:extLst xmlns:a="http://schemas.openxmlformats.org/drawingml/2006/main">
              <a:ext uri="{FF2B5EF4-FFF2-40B4-BE49-F238E27FC236}">
                <a16:creationId xmlns:a16="http://schemas.microsoft.com/office/drawing/2014/main" id="{96A9F17B-79EE-4240-8347-84019D6D39F2}"/>
              </a:ext>
            </a:extLst>
          </p:cNvPr>
          <p:cNvSpPr>
            <a:spLocks xmlns:a="http://schemas.openxmlformats.org/drawingml/2006/main" noGrp="1"/>
          </p:cNvSpPr>
          <p:nvPr/>
        </p:nvSpPr>
        <p:spPr>
          <a:xfrm xmlns:a="http://schemas.openxmlformats.org/drawingml/2006/main">
            <a:off x="628650" y="914400"/>
            <a:ext cx="885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64748B"/>
                </a:solidFill>
                <a:latin typeface="Aptos"/>
                <a:ea typeface="Aptos"/>
                <a:cs typeface="Aptos"/>
              </a:defRPr>
            </a:pPr>
            <a:r>
              <a:rPr sz="1200">
                <a:solidFill>
                  <a:srgbClr val="64748B"/>
                </a:solidFill>
                <a:latin typeface="Aptos"/>
                <a:ea typeface="Aptos"/>
                <a:cs typeface="Aptos"/>
              </a:rPr>
              <a:t>EmoScope is positioned as a reflection prototype, not a clinical diagnostic system.</a:t>
            </a:r>
          </a:p>
        </p:txBody>
      </p:sp>
      <p:sp>
        <p:nvSpPr>
          <p:cNvPr id="3" name="">
            <a:extLst xmlns:a="http://schemas.openxmlformats.org/drawingml/2006/main">
              <a:ext uri="{FF2B5EF4-FFF2-40B4-BE49-F238E27FC236}">
                <a16:creationId xmlns:a16="http://schemas.microsoft.com/office/drawing/2014/main" id="{ED79866F-3E52-4284-AEBE-8A6A504BC2DD}"/>
              </a:ext>
            </a:extLst>
          </p:cNvPr>
          <p:cNvSpPr>
            <a:spLocks xmlns:a="http://schemas.openxmlformats.org/drawingml/2006/main" noGrp="1"/>
          </p:cNvSpPr>
          <p:nvPr/>
        </p:nvSpPr>
        <p:spPr>
          <a:xfrm xmlns:a="http://schemas.openxmlformats.org/drawingml/2006/main">
            <a:off x="876300" y="160020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1">
                <a:solidFill>
                  <a:srgbClr val="4338CA"/>
                </a:solidFill>
                <a:latin typeface="Aptos"/>
                <a:ea typeface="Aptos"/>
                <a:cs typeface="Aptos"/>
              </a:defRPr>
            </a:pPr>
            <a:r>
              <a:rPr sz="1425" b="1">
                <a:solidFill>
                  <a:srgbClr val="4338CA"/>
                </a:solidFill>
                <a:latin typeface="Aptos"/>
                <a:ea typeface="Aptos"/>
                <a:cs typeface="Aptos"/>
              </a:rPr>
              <a:t>Research question</a:t>
            </a:r>
          </a:p>
        </p:txBody>
      </p:sp>
      <p:sp>
        <p:nvSpPr>
          <p:cNvPr id="4" name="">
            <a:extLst xmlns:a="http://schemas.openxmlformats.org/drawingml/2006/main">
              <a:ext uri="{FF2B5EF4-FFF2-40B4-BE49-F238E27FC236}">
                <a16:creationId xmlns:a16="http://schemas.microsoft.com/office/drawing/2014/main" id="{C873F156-327A-4C59-B422-3E787D4131DD}"/>
              </a:ext>
            </a:extLst>
          </p:cNvPr>
          <p:cNvSpPr>
            <a:spLocks xmlns:a="http://schemas.openxmlformats.org/drawingml/2006/main" noGrp="1"/>
          </p:cNvSpPr>
          <p:nvPr/>
        </p:nvSpPr>
        <p:spPr>
          <a:xfrm xmlns:a="http://schemas.openxmlformats.org/drawingml/2006/main">
            <a:off x="876300" y="2000250"/>
            <a:ext cx="7000875"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250" b="1">
                <a:solidFill>
                  <a:srgbClr val="111827"/>
                </a:solidFill>
                <a:latin typeface="Aptos Display"/>
                <a:ea typeface="Aptos Display"/>
                <a:cs typeface="Aptos Display"/>
              </a:defRPr>
            </a:pPr>
            <a:r>
              <a:rPr sz="2250" b="1">
                <a:solidFill>
                  <a:srgbClr val="111827"/>
                </a:solidFill>
                <a:latin typeface="Aptos Display"/>
                <a:ea typeface="Aptos Display"/>
                <a:cs typeface="Aptos Display"/>
              </a:rPr>
              <a:t>Can a normal smartphone collect helpful emotional context while keeping sensitive biometric analysis mainly on the device?</a:t>
            </a:r>
          </a:p>
        </p:txBody>
      </p:sp>
      <p:sp>
        <p:nvSpPr>
          <p:cNvPr id="5" name="">
            <a:extLst xmlns:a="http://schemas.openxmlformats.org/drawingml/2006/main">
              <a:ext uri="{FF2B5EF4-FFF2-40B4-BE49-F238E27FC236}">
                <a16:creationId xmlns:a16="http://schemas.microsoft.com/office/drawing/2014/main" id="{E8DE544B-E548-49D6-B006-DE589F2841DB}"/>
              </a:ext>
            </a:extLst>
          </p:cNvPr>
          <p:cNvSpPr>
            <a:spLocks xmlns:a="http://schemas.openxmlformats.org/drawingml/2006/main" noGrp="1"/>
          </p:cNvSpPr>
          <p:nvPr/>
        </p:nvSpPr>
        <p:spPr>
          <a:xfrm xmlns:a="http://schemas.openxmlformats.org/drawingml/2006/main">
            <a:off x="876300" y="3619500"/>
            <a:ext cx="2952750" cy="1238250"/>
          </a:xfrm>
          <a:prstGeom xmlns:a="http://schemas.openxmlformats.org/drawingml/2006/main" prst="roundRect">
            <a:avLst>
              <a:gd name="adj" fmla="val 12308"/>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F5C21AC7-B971-48A9-9491-6D16480AF215}"/>
              </a:ext>
            </a:extLst>
          </p:cNvPr>
          <p:cNvSpPr>
            <a:spLocks xmlns:a="http://schemas.openxmlformats.org/drawingml/2006/main" noGrp="1"/>
          </p:cNvSpPr>
          <p:nvPr/>
        </p:nvSpPr>
        <p:spPr>
          <a:xfrm xmlns:a="http://schemas.openxmlformats.org/drawingml/2006/main">
            <a:off x="876300" y="3619500"/>
            <a:ext cx="66675" cy="1238250"/>
          </a:xfrm>
          <a:prstGeom xmlns:a="http://schemas.openxmlformats.org/drawingml/2006/main" prst="rect">
            <a:avLst/>
          </a:prstGeom>
          <a:solidFill xmlns:a="http://schemas.openxmlformats.org/drawingml/2006/main">
            <a:srgbClr val="4338CA"/>
          </a:solidFill>
          <a:ln xmlns:a="http://schemas.openxmlformats.org/drawingml/2006/main" w="0">
            <a:solidFill>
              <a:srgbClr val="4338CA"/>
            </a:solidFill>
            <a:prstDash val="solid"/>
          </a:ln>
        </p:spPr>
      </p:sp>
      <p:sp>
        <p:nvSpPr>
          <p:cNvPr id="7" name="">
            <a:extLst xmlns:a="http://schemas.openxmlformats.org/drawingml/2006/main">
              <a:ext uri="{FF2B5EF4-FFF2-40B4-BE49-F238E27FC236}">
                <a16:creationId xmlns:a16="http://schemas.microsoft.com/office/drawing/2014/main" id="{6DC0ABE6-0EBF-4F0A-BC7A-3F23145B1FC4}"/>
              </a:ext>
            </a:extLst>
          </p:cNvPr>
          <p:cNvSpPr>
            <a:spLocks xmlns:a="http://schemas.openxmlformats.org/drawingml/2006/main" noGrp="1"/>
          </p:cNvSpPr>
          <p:nvPr/>
        </p:nvSpPr>
        <p:spPr>
          <a:xfrm xmlns:a="http://schemas.openxmlformats.org/drawingml/2006/main">
            <a:off x="1104900" y="3790950"/>
            <a:ext cx="2495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1">
                <a:solidFill>
                  <a:srgbClr val="111827"/>
                </a:solidFill>
                <a:latin typeface="Aptos"/>
                <a:ea typeface="Aptos"/>
                <a:cs typeface="Aptos"/>
              </a:defRPr>
            </a:pPr>
            <a:r>
              <a:rPr sz="1425" b="1">
                <a:solidFill>
                  <a:srgbClr val="111827"/>
                </a:solidFill>
                <a:latin typeface="Aptos"/>
                <a:ea typeface="Aptos"/>
                <a:cs typeface="Aptos"/>
              </a:rPr>
              <a:t>Multimodal sensing</a:t>
            </a:r>
          </a:p>
        </p:txBody>
      </p:sp>
      <p:sp>
        <p:nvSpPr>
          <p:cNvPr id="8" name="">
            <a:extLst xmlns:a="http://schemas.openxmlformats.org/drawingml/2006/main">
              <a:ext uri="{FF2B5EF4-FFF2-40B4-BE49-F238E27FC236}">
                <a16:creationId xmlns:a16="http://schemas.microsoft.com/office/drawing/2014/main" id="{A66BBAAA-D7FE-4761-894D-2F241D94E388}"/>
              </a:ext>
            </a:extLst>
          </p:cNvPr>
          <p:cNvSpPr>
            <a:spLocks xmlns:a="http://schemas.openxmlformats.org/drawingml/2006/main" noGrp="1"/>
          </p:cNvSpPr>
          <p:nvPr/>
        </p:nvSpPr>
        <p:spPr>
          <a:xfrm xmlns:a="http://schemas.openxmlformats.org/drawingml/2006/main">
            <a:off x="1104900" y="4133850"/>
            <a:ext cx="24955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40">
                <a:solidFill>
                  <a:srgbClr val="475569"/>
                </a:solidFill>
                <a:latin typeface="Aptos"/>
                <a:ea typeface="Aptos"/>
                <a:cs typeface="Aptos"/>
              </a:defRPr>
            </a:pPr>
            <a:r>
              <a:rPr sz="1140">
                <a:solidFill>
                  <a:srgbClr val="475569"/>
                </a:solidFill>
                <a:latin typeface="Aptos"/>
                <a:ea typeface="Aptos"/>
                <a:cs typeface="Aptos"/>
              </a:rPr>
              <a:t>Face, voice, ambient context, and recent records are combined into one workflow.</a:t>
            </a:r>
          </a:p>
        </p:txBody>
      </p:sp>
      <p:sp>
        <p:nvSpPr>
          <p:cNvPr id="9" name="">
            <a:extLst xmlns:a="http://schemas.openxmlformats.org/drawingml/2006/main">
              <a:ext uri="{FF2B5EF4-FFF2-40B4-BE49-F238E27FC236}">
                <a16:creationId xmlns:a16="http://schemas.microsoft.com/office/drawing/2014/main" id="{855B1CF2-374A-4913-BF15-068DAF7C353B}"/>
              </a:ext>
            </a:extLst>
          </p:cNvPr>
          <p:cNvSpPr>
            <a:spLocks xmlns:a="http://schemas.openxmlformats.org/drawingml/2006/main" noGrp="1"/>
          </p:cNvSpPr>
          <p:nvPr/>
        </p:nvSpPr>
        <p:spPr>
          <a:xfrm xmlns:a="http://schemas.openxmlformats.org/drawingml/2006/main">
            <a:off x="4343400" y="3619500"/>
            <a:ext cx="2952750" cy="1238250"/>
          </a:xfrm>
          <a:prstGeom xmlns:a="http://schemas.openxmlformats.org/drawingml/2006/main" prst="roundRect">
            <a:avLst>
              <a:gd name="adj" fmla="val 12308"/>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E2EC564C-CB80-4950-A5BB-699109FD49CC}"/>
              </a:ext>
            </a:extLst>
          </p:cNvPr>
          <p:cNvSpPr>
            <a:spLocks xmlns:a="http://schemas.openxmlformats.org/drawingml/2006/main" noGrp="1"/>
          </p:cNvSpPr>
          <p:nvPr/>
        </p:nvSpPr>
        <p:spPr>
          <a:xfrm xmlns:a="http://schemas.openxmlformats.org/drawingml/2006/main">
            <a:off x="4343400" y="3619500"/>
            <a:ext cx="66675" cy="1238250"/>
          </a:xfrm>
          <a:prstGeom xmlns:a="http://schemas.openxmlformats.org/drawingml/2006/main" prst="rect">
            <a:avLst/>
          </a:prstGeom>
          <a:solidFill xmlns:a="http://schemas.openxmlformats.org/drawingml/2006/main">
            <a:srgbClr val="10B981"/>
          </a:solidFill>
          <a:ln xmlns:a="http://schemas.openxmlformats.org/drawingml/2006/main" w="0">
            <a:solidFill>
              <a:srgbClr val="10B981"/>
            </a:solidFill>
            <a:prstDash val="solid"/>
          </a:ln>
        </p:spPr>
      </p:sp>
      <p:sp>
        <p:nvSpPr>
          <p:cNvPr id="11" name="">
            <a:extLst xmlns:a="http://schemas.openxmlformats.org/drawingml/2006/main">
              <a:ext uri="{FF2B5EF4-FFF2-40B4-BE49-F238E27FC236}">
                <a16:creationId xmlns:a16="http://schemas.microsoft.com/office/drawing/2014/main" id="{A3F2D655-EF33-4BA4-AF84-C45D4E6062D6}"/>
              </a:ext>
            </a:extLst>
          </p:cNvPr>
          <p:cNvSpPr>
            <a:spLocks xmlns:a="http://schemas.openxmlformats.org/drawingml/2006/main" noGrp="1"/>
          </p:cNvSpPr>
          <p:nvPr/>
        </p:nvSpPr>
        <p:spPr>
          <a:xfrm xmlns:a="http://schemas.openxmlformats.org/drawingml/2006/main">
            <a:off x="4572000" y="3790950"/>
            <a:ext cx="2495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1">
                <a:solidFill>
                  <a:srgbClr val="111827"/>
                </a:solidFill>
                <a:latin typeface="Aptos"/>
                <a:ea typeface="Aptos"/>
                <a:cs typeface="Aptos"/>
              </a:defRPr>
            </a:pPr>
            <a:r>
              <a:rPr sz="1425" b="1">
                <a:solidFill>
                  <a:srgbClr val="111827"/>
                </a:solidFill>
                <a:latin typeface="Aptos"/>
                <a:ea typeface="Aptos"/>
                <a:cs typeface="Aptos"/>
              </a:rPr>
              <a:t>Local memory</a:t>
            </a:r>
          </a:p>
        </p:txBody>
      </p:sp>
      <p:sp>
        <p:nvSpPr>
          <p:cNvPr id="12" name="">
            <a:extLst xmlns:a="http://schemas.openxmlformats.org/drawingml/2006/main">
              <a:ext uri="{FF2B5EF4-FFF2-40B4-BE49-F238E27FC236}">
                <a16:creationId xmlns:a16="http://schemas.microsoft.com/office/drawing/2014/main" id="{83945F5E-25AA-46FD-BE27-59E20DE997CD}"/>
              </a:ext>
            </a:extLst>
          </p:cNvPr>
          <p:cNvSpPr>
            <a:spLocks xmlns:a="http://schemas.openxmlformats.org/drawingml/2006/main" noGrp="1"/>
          </p:cNvSpPr>
          <p:nvPr/>
        </p:nvSpPr>
        <p:spPr>
          <a:xfrm xmlns:a="http://schemas.openxmlformats.org/drawingml/2006/main">
            <a:off x="4572000" y="4133850"/>
            <a:ext cx="24955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40">
                <a:solidFill>
                  <a:srgbClr val="475569"/>
                </a:solidFill>
                <a:latin typeface="Aptos"/>
                <a:ea typeface="Aptos"/>
                <a:cs typeface="Aptos"/>
              </a:defRPr>
            </a:pPr>
            <a:r>
              <a:rPr sz="1140">
                <a:solidFill>
                  <a:srgbClr val="475569"/>
                </a:solidFill>
                <a:latin typeface="Aptos"/>
                <a:ea typeface="Aptos"/>
                <a:cs typeface="Aptos"/>
              </a:rPr>
              <a:t>Thirty-day records support longer-term emotional reflection.</a:t>
            </a:r>
          </a:p>
        </p:txBody>
      </p:sp>
      <p:sp>
        <p:nvSpPr>
          <p:cNvPr id="13" name="">
            <a:extLst xmlns:a="http://schemas.openxmlformats.org/drawingml/2006/main">
              <a:ext uri="{FF2B5EF4-FFF2-40B4-BE49-F238E27FC236}">
                <a16:creationId xmlns:a16="http://schemas.microsoft.com/office/drawing/2014/main" id="{6ACCF370-DD52-4F22-A02B-066F2601A2F1}"/>
              </a:ext>
            </a:extLst>
          </p:cNvPr>
          <p:cNvSpPr>
            <a:spLocks xmlns:a="http://schemas.openxmlformats.org/drawingml/2006/main" noGrp="1"/>
          </p:cNvSpPr>
          <p:nvPr/>
        </p:nvSpPr>
        <p:spPr>
          <a:xfrm xmlns:a="http://schemas.openxmlformats.org/drawingml/2006/main">
            <a:off x="7810500" y="3619500"/>
            <a:ext cx="2952750" cy="1238250"/>
          </a:xfrm>
          <a:prstGeom xmlns:a="http://schemas.openxmlformats.org/drawingml/2006/main" prst="roundRect">
            <a:avLst>
              <a:gd name="adj" fmla="val 12308"/>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F4C3F754-0AA9-49EB-9D06-2CBF0D8676B2}"/>
              </a:ext>
            </a:extLst>
          </p:cNvPr>
          <p:cNvSpPr>
            <a:spLocks xmlns:a="http://schemas.openxmlformats.org/drawingml/2006/main" noGrp="1"/>
          </p:cNvSpPr>
          <p:nvPr/>
        </p:nvSpPr>
        <p:spPr>
          <a:xfrm xmlns:a="http://schemas.openxmlformats.org/drawingml/2006/main">
            <a:off x="7810500" y="3619500"/>
            <a:ext cx="66675" cy="1238250"/>
          </a:xfrm>
          <a:prstGeom xmlns:a="http://schemas.openxmlformats.org/drawingml/2006/main" prst="rect">
            <a:avLst/>
          </a:prstGeom>
          <a:solidFill xmlns:a="http://schemas.openxmlformats.org/drawingml/2006/main">
            <a:srgbClr val="F59E0B"/>
          </a:solidFill>
          <a:ln xmlns:a="http://schemas.openxmlformats.org/drawingml/2006/main" w="0">
            <a:solidFill>
              <a:srgbClr val="F59E0B"/>
            </a:solidFill>
            <a:prstDash val="solid"/>
          </a:ln>
        </p:spPr>
      </p:sp>
      <p:sp>
        <p:nvSpPr>
          <p:cNvPr id="15" name="">
            <a:extLst xmlns:a="http://schemas.openxmlformats.org/drawingml/2006/main">
              <a:ext uri="{FF2B5EF4-FFF2-40B4-BE49-F238E27FC236}">
                <a16:creationId xmlns:a16="http://schemas.microsoft.com/office/drawing/2014/main" id="{FE244D74-EDEA-437A-930B-B3E784AFBF31}"/>
              </a:ext>
            </a:extLst>
          </p:cNvPr>
          <p:cNvSpPr>
            <a:spLocks xmlns:a="http://schemas.openxmlformats.org/drawingml/2006/main" noGrp="1"/>
          </p:cNvSpPr>
          <p:nvPr/>
        </p:nvSpPr>
        <p:spPr>
          <a:xfrm xmlns:a="http://schemas.openxmlformats.org/drawingml/2006/main">
            <a:off x="8039100" y="3790950"/>
            <a:ext cx="2495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1">
                <a:solidFill>
                  <a:srgbClr val="111827"/>
                </a:solidFill>
                <a:latin typeface="Aptos"/>
                <a:ea typeface="Aptos"/>
                <a:cs typeface="Aptos"/>
              </a:defRPr>
            </a:pPr>
            <a:r>
              <a:rPr sz="1425" b="1">
                <a:solidFill>
                  <a:srgbClr val="111827"/>
                </a:solidFill>
                <a:latin typeface="Aptos"/>
                <a:ea typeface="Aptos"/>
                <a:cs typeface="Aptos"/>
              </a:rPr>
              <a:t>User-confirmed safety</a:t>
            </a:r>
          </a:p>
        </p:txBody>
      </p:sp>
      <p:sp>
        <p:nvSpPr>
          <p:cNvPr id="16" name="">
            <a:extLst xmlns:a="http://schemas.openxmlformats.org/drawingml/2006/main">
              <a:ext uri="{FF2B5EF4-FFF2-40B4-BE49-F238E27FC236}">
                <a16:creationId xmlns:a16="http://schemas.microsoft.com/office/drawing/2014/main" id="{F4912A3F-07D8-4E45-982E-32FE4C9A4106}"/>
              </a:ext>
            </a:extLst>
          </p:cNvPr>
          <p:cNvSpPr>
            <a:spLocks xmlns:a="http://schemas.openxmlformats.org/drawingml/2006/main" noGrp="1"/>
          </p:cNvSpPr>
          <p:nvPr/>
        </p:nvSpPr>
        <p:spPr>
          <a:xfrm xmlns:a="http://schemas.openxmlformats.org/drawingml/2006/main">
            <a:off x="8039100" y="4133850"/>
            <a:ext cx="24955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40">
                <a:solidFill>
                  <a:srgbClr val="475569"/>
                </a:solidFill>
                <a:latin typeface="Aptos"/>
                <a:ea typeface="Aptos"/>
                <a:cs typeface="Aptos"/>
              </a:defRPr>
            </a:pPr>
            <a:r>
              <a:rPr sz="1140">
                <a:solidFill>
                  <a:srgbClr val="475569"/>
                </a:solidFill>
                <a:latin typeface="Aptos"/>
                <a:ea typeface="Aptos"/>
                <a:cs typeface="Aptos"/>
              </a:rPr>
              <a:t>SOS support is available without automatic escalation.</a:t>
            </a:r>
          </a:p>
        </p:txBody>
      </p:sp>
      <p:sp>
        <p:nvSpPr>
          <p:cNvPr id="17" name="">
            <a:extLst xmlns:a="http://schemas.openxmlformats.org/drawingml/2006/main">
              <a:ext uri="{FF2B5EF4-FFF2-40B4-BE49-F238E27FC236}">
                <a16:creationId xmlns:a16="http://schemas.microsoft.com/office/drawing/2014/main" id="{94190863-FA10-4BF1-945A-9FA49C1B3DC0}"/>
              </a:ext>
            </a:extLst>
          </p:cNvPr>
          <p:cNvSpPr>
            <a:spLocks xmlns:a="http://schemas.openxmlformats.org/drawingml/2006/main" noGrp="1"/>
          </p:cNvSpPr>
          <p:nvPr/>
        </p:nvSpPr>
        <p:spPr>
          <a:xfrm xmlns:a="http://schemas.openxmlformats.org/drawingml/2006/main">
            <a:off x="8572500" y="1571625"/>
            <a:ext cx="2190750" cy="1352550"/>
          </a:xfrm>
          <a:prstGeom xmlns:a="http://schemas.openxmlformats.org/drawingml/2006/main" prst="roundRect">
            <a:avLst>
              <a:gd name="adj" fmla="val 11268"/>
            </a:avLst>
          </a:prstGeom>
          <a:solidFill xmlns:a="http://schemas.openxmlformats.org/drawingml/2006/main">
            <a:srgbClr val="EEF2FF"/>
          </a:solidFill>
          <a:ln xmlns:a="http://schemas.openxmlformats.org/drawingml/2006/main" w="9525">
            <a:solidFill>
              <a:srgbClr val="C7D2FE"/>
            </a:solidFill>
            <a:prstDash val="solid"/>
          </a:ln>
        </p:spPr>
      </p:sp>
      <p:sp>
        <p:nvSpPr>
          <p:cNvPr id="18" name="">
            <a:extLst xmlns:a="http://schemas.openxmlformats.org/drawingml/2006/main">
              <a:ext uri="{FF2B5EF4-FFF2-40B4-BE49-F238E27FC236}">
                <a16:creationId xmlns:a16="http://schemas.microsoft.com/office/drawing/2014/main" id="{D61C17BB-CD32-433E-9A15-548B4E7AC7DF}"/>
              </a:ext>
            </a:extLst>
          </p:cNvPr>
          <p:cNvSpPr>
            <a:spLocks xmlns:a="http://schemas.openxmlformats.org/drawingml/2006/main" noGrp="1"/>
          </p:cNvSpPr>
          <p:nvPr/>
        </p:nvSpPr>
        <p:spPr>
          <a:xfrm xmlns:a="http://schemas.openxmlformats.org/drawingml/2006/main">
            <a:off x="8877300" y="1885950"/>
            <a:ext cx="1619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950" b="1">
                <a:solidFill>
                  <a:srgbClr val="4338CA"/>
                </a:solidFill>
                <a:latin typeface="Aptos"/>
                <a:ea typeface="Aptos"/>
                <a:cs typeface="Aptos"/>
              </a:defRPr>
            </a:pPr>
            <a:r>
              <a:rPr sz="1950" b="1">
                <a:solidFill>
                  <a:srgbClr val="4338CA"/>
                </a:solidFill>
                <a:latin typeface="Aptos"/>
                <a:ea typeface="Aptos"/>
                <a:cs typeface="Aptos"/>
              </a:rPr>
              <a:t>Reflection,</a:t>
            </a:r>
          </a:p>
          <a:p xmlns:a="http://schemas.openxmlformats.org/drawingml/2006/main">
            <a:pPr>
              <a:defRPr sz="1950" b="1">
                <a:solidFill>
                  <a:srgbClr val="4338CA"/>
                </a:solidFill>
                <a:latin typeface="Aptos"/>
                <a:ea typeface="Aptos"/>
                <a:cs typeface="Aptos"/>
              </a:defRPr>
            </a:pPr>
            <a:r>
              <a:rPr sz="1950" b="1">
                <a:solidFill>
                  <a:srgbClr val="4338CA"/>
                </a:solidFill>
                <a:latin typeface="Aptos"/>
                <a:ea typeface="Aptos"/>
                <a:cs typeface="Aptos"/>
              </a:rPr>
              <a:t>not diagnosis</a:t>
            </a:r>
          </a:p>
        </p:txBody>
      </p:sp>
      <p:sp>
        <p:nvSpPr>
          <p:cNvPr id="19" name="">
            <a:extLst xmlns:a="http://schemas.openxmlformats.org/drawingml/2006/main">
              <a:ext uri="{FF2B5EF4-FFF2-40B4-BE49-F238E27FC236}">
                <a16:creationId xmlns:a16="http://schemas.microsoft.com/office/drawing/2014/main" id="{0734CB77-6778-46C1-A409-FFA19140B1A2}"/>
              </a:ext>
            </a:extLst>
          </p:cNvPr>
          <p:cNvSpPr>
            <a:spLocks xmlns:a="http://schemas.openxmlformats.org/drawingml/2006/main" noGrp="1"/>
          </p:cNvSpPr>
          <p:nvPr/>
        </p:nvSpPr>
        <p:spPr>
          <a:xfrm xmlns:a="http://schemas.openxmlformats.org/drawingml/2006/main">
            <a:off x="609600" y="64389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94A3B8"/>
                </a:solidFill>
                <a:latin typeface="Aptos"/>
                <a:ea typeface="Aptos"/>
                <a:cs typeface="Aptos"/>
              </a:defRPr>
            </a:pPr>
            <a:r>
              <a:rPr sz="825">
                <a:solidFill>
                  <a:srgbClr val="94A3B8"/>
                </a:solidFill>
                <a:latin typeface="Aptos"/>
                <a:ea typeface="Aptos"/>
                <a:cs typeface="Aptos"/>
              </a:rPr>
              <a:t>EmoScope | 5-minute oral presentation | 3/10</a:t>
            </a:r>
          </a:p>
        </p:txBody>
      </p:sp>
    </p:spTree>
    <p:extLst>
      <p:ext uri="{BB962C8B-B14F-4D97-AF65-F5344CB8AC3E}">
        <p14:creationId xmlns:p14="http://schemas.microsoft.com/office/powerpoint/2010/main" val="213203108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A336233-1831-430E-8C26-634F6AC5C69F}"/>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111827"/>
                </a:solidFill>
                <a:latin typeface="Aptos Display"/>
                <a:ea typeface="Aptos Display"/>
                <a:cs typeface="Aptos Display"/>
              </a:defRPr>
            </a:pPr>
            <a:r>
              <a:rPr sz="2625" b="1">
                <a:solidFill>
                  <a:srgbClr val="111827"/>
                </a:solidFill>
                <a:latin typeface="Aptos Display"/>
                <a:ea typeface="Aptos Display"/>
                <a:cs typeface="Aptos Display"/>
              </a:rPr>
              <a:t>System architecture</a:t>
            </a:r>
          </a:p>
        </p:txBody>
      </p:sp>
      <p:sp>
        <p:nvSpPr>
          <p:cNvPr id="2" name="">
            <a:extLst xmlns:a="http://schemas.openxmlformats.org/drawingml/2006/main">
              <a:ext uri="{FF2B5EF4-FFF2-40B4-BE49-F238E27FC236}">
                <a16:creationId xmlns:a16="http://schemas.microsoft.com/office/drawing/2014/main" id="{87E5F8B5-3584-47F8-ACF7-F1D3181FFC8E}"/>
              </a:ext>
            </a:extLst>
          </p:cNvPr>
          <p:cNvSpPr>
            <a:spLocks xmlns:a="http://schemas.openxmlformats.org/drawingml/2006/main" noGrp="1"/>
          </p:cNvSpPr>
          <p:nvPr/>
        </p:nvSpPr>
        <p:spPr>
          <a:xfrm xmlns:a="http://schemas.openxmlformats.org/drawingml/2006/main">
            <a:off x="628650" y="914400"/>
            <a:ext cx="885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64748B"/>
                </a:solidFill>
                <a:latin typeface="Aptos"/>
                <a:ea typeface="Aptos"/>
                <a:cs typeface="Aptos"/>
              </a:defRPr>
            </a:pPr>
            <a:r>
              <a:rPr sz="1200">
                <a:solidFill>
                  <a:srgbClr val="64748B"/>
                </a:solidFill>
                <a:latin typeface="Aptos"/>
                <a:ea typeface="Aptos"/>
                <a:cs typeface="Aptos"/>
              </a:rPr>
              <a:t>Continuous sensing feeds cautious interpretation and user-facing support.</a:t>
            </a:r>
          </a:p>
        </p:txBody>
      </p:sp>
      <p:sp>
        <p:nvSpPr>
          <p:cNvPr id="3" name="">
            <a:extLst xmlns:a="http://schemas.openxmlformats.org/drawingml/2006/main">
              <a:ext uri="{FF2B5EF4-FFF2-40B4-BE49-F238E27FC236}">
                <a16:creationId xmlns:a16="http://schemas.microsoft.com/office/drawing/2014/main" id="{0AD266AB-41C7-472A-AFFD-0865A6C0A74B}"/>
              </a:ext>
            </a:extLst>
          </p:cNvPr>
          <p:cNvSpPr>
            <a:spLocks xmlns:a="http://schemas.openxmlformats.org/drawingml/2006/main" noGrp="1"/>
          </p:cNvSpPr>
          <p:nvPr/>
        </p:nvSpPr>
        <p:spPr>
          <a:xfrm xmlns:a="http://schemas.openxmlformats.org/drawingml/2006/main">
            <a:off x="666750" y="2076450"/>
            <a:ext cx="2190750" cy="1333500"/>
          </a:xfrm>
          <a:prstGeom xmlns:a="http://schemas.openxmlformats.org/drawingml/2006/main" prst="roundRect">
            <a:avLst>
              <a:gd name="adj" fmla="val 11429"/>
            </a:avLst>
          </a:prstGeom>
          <a:solidFill xmlns:a="http://schemas.openxmlformats.org/drawingml/2006/main">
            <a:srgbClr val="ECF4FF"/>
          </a:solidFill>
          <a:ln xmlns:a="http://schemas.openxmlformats.org/drawingml/2006/main" w="9525">
            <a:solidFill>
              <a:srgbClr val="CBD5E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 name="">
            <a:extLst xmlns:a="http://schemas.openxmlformats.org/drawingml/2006/main">
              <a:ext uri="{FF2B5EF4-FFF2-40B4-BE49-F238E27FC236}">
                <a16:creationId xmlns:a16="http://schemas.microsoft.com/office/drawing/2014/main" id="{6776D677-5CB0-4D72-BAF9-B56496DCF559}"/>
              </a:ext>
            </a:extLst>
          </p:cNvPr>
          <p:cNvSpPr>
            <a:spLocks xmlns:a="http://schemas.openxmlformats.org/drawingml/2006/main" noGrp="1"/>
          </p:cNvSpPr>
          <p:nvPr/>
        </p:nvSpPr>
        <p:spPr>
          <a:xfrm xmlns:a="http://schemas.openxmlformats.org/drawingml/2006/main">
            <a:off x="838200" y="22479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111827"/>
                </a:solidFill>
                <a:latin typeface="Aptos"/>
                <a:ea typeface="Aptos"/>
                <a:cs typeface="Aptos"/>
              </a:defRPr>
            </a:pPr>
            <a:r>
              <a:rPr sz="1350" b="1">
                <a:solidFill>
                  <a:srgbClr val="111827"/>
                </a:solidFill>
                <a:latin typeface="Aptos"/>
                <a:ea typeface="Aptos"/>
                <a:cs typeface="Aptos"/>
              </a:rPr>
              <a:t>Input layer</a:t>
            </a:r>
          </a:p>
        </p:txBody>
      </p:sp>
      <p:sp>
        <p:nvSpPr>
          <p:cNvPr id="5" name="">
            <a:extLst xmlns:a="http://schemas.openxmlformats.org/drawingml/2006/main">
              <a:ext uri="{FF2B5EF4-FFF2-40B4-BE49-F238E27FC236}">
                <a16:creationId xmlns:a16="http://schemas.microsoft.com/office/drawing/2014/main" id="{2754B344-FEDD-4CB9-94E7-1656DEE260CC}"/>
              </a:ext>
            </a:extLst>
          </p:cNvPr>
          <p:cNvSpPr>
            <a:spLocks xmlns:a="http://schemas.openxmlformats.org/drawingml/2006/main" noGrp="1"/>
          </p:cNvSpPr>
          <p:nvPr/>
        </p:nvSpPr>
        <p:spPr>
          <a:xfrm xmlns:a="http://schemas.openxmlformats.org/drawingml/2006/main">
            <a:off x="838200" y="2600325"/>
            <a:ext cx="1809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13">
                <a:solidFill>
                  <a:srgbClr val="475569"/>
                </a:solidFill>
                <a:latin typeface="Aptos"/>
                <a:ea typeface="Aptos"/>
                <a:cs typeface="Aptos"/>
              </a:defRPr>
            </a:pPr>
            <a:r>
              <a:rPr sz="1013">
                <a:solidFill>
                  <a:srgbClr val="475569"/>
                </a:solidFill>
                <a:latin typeface="Aptos"/>
                <a:ea typeface="Aptos"/>
                <a:cs typeface="Aptos"/>
              </a:rPr>
              <a:t>Camera frames</a:t>
            </a:r>
          </a:p>
          <a:p xmlns:a="http://schemas.openxmlformats.org/drawingml/2006/main">
            <a:pPr>
              <a:defRPr sz="1013">
                <a:solidFill>
                  <a:srgbClr val="475569"/>
                </a:solidFill>
                <a:latin typeface="Aptos"/>
                <a:ea typeface="Aptos"/>
                <a:cs typeface="Aptos"/>
              </a:defRPr>
            </a:pPr>
            <a:r>
              <a:rPr sz="1013">
                <a:solidFill>
                  <a:srgbClr val="475569"/>
                </a:solidFill>
                <a:latin typeface="Aptos"/>
                <a:ea typeface="Aptos"/>
                <a:cs typeface="Aptos"/>
              </a:rPr>
              <a:t>Voice transcript</a:t>
            </a:r>
          </a:p>
          <a:p xmlns:a="http://schemas.openxmlformats.org/drawingml/2006/main">
            <a:pPr>
              <a:defRPr sz="1013">
                <a:solidFill>
                  <a:srgbClr val="475569"/>
                </a:solidFill>
                <a:latin typeface="Aptos"/>
                <a:ea typeface="Aptos"/>
                <a:cs typeface="Aptos"/>
              </a:defRPr>
            </a:pPr>
            <a:r>
              <a:rPr sz="1013">
                <a:solidFill>
                  <a:srgbClr val="475569"/>
                </a:solidFill>
                <a:latin typeface="Aptos"/>
                <a:ea typeface="Aptos"/>
                <a:cs typeface="Aptos"/>
              </a:rPr>
              <a:t>Ambient light</a:t>
            </a:r>
          </a:p>
          <a:p xmlns:a="http://schemas.openxmlformats.org/drawingml/2006/main">
            <a:pPr>
              <a:defRPr sz="1013">
                <a:solidFill>
                  <a:srgbClr val="475569"/>
                </a:solidFill>
                <a:latin typeface="Aptos"/>
                <a:ea typeface="Aptos"/>
                <a:cs typeface="Aptos"/>
              </a:defRPr>
            </a:pPr>
            <a:r>
              <a:rPr sz="1013">
                <a:solidFill>
                  <a:srgbClr val="475569"/>
                </a:solidFill>
                <a:latin typeface="Aptos"/>
                <a:ea typeface="Aptos"/>
                <a:cs typeface="Aptos"/>
              </a:rPr>
              <a:t>User records</a:t>
            </a:r>
          </a:p>
        </p:txBody>
      </p:sp>
      <p:sp>
        <p:nvSpPr>
          <p:cNvPr id="6" name="">
            <a:extLst xmlns:a="http://schemas.openxmlformats.org/drawingml/2006/main">
              <a:ext uri="{FF2B5EF4-FFF2-40B4-BE49-F238E27FC236}">
                <a16:creationId xmlns:a16="http://schemas.microsoft.com/office/drawing/2014/main" id="{846E16AA-8EB1-474D-929F-CBDA60F51135}"/>
              </a:ext>
            </a:extLst>
          </p:cNvPr>
          <p:cNvSpPr>
            <a:spLocks xmlns:a="http://schemas.openxmlformats.org/drawingml/2006/main" noGrp="1"/>
          </p:cNvSpPr>
          <p:nvPr/>
        </p:nvSpPr>
        <p:spPr>
          <a:xfrm xmlns:a="http://schemas.openxmlformats.org/drawingml/2006/main">
            <a:off x="2381250" y="2247900"/>
            <a:ext cx="285750" cy="285750"/>
          </a:xfrm>
          <a:prstGeom xmlns:a="http://schemas.openxmlformats.org/drawingml/2006/main" prst="ellipse">
            <a:avLst/>
          </a:prstGeom>
          <a:solidFill xmlns:a="http://schemas.openxmlformats.org/drawingml/2006/main">
            <a:srgbClr val="3B82F6"/>
          </a:solidFill>
          <a:ln xmlns:a="http://schemas.openxmlformats.org/drawingml/2006/main" w="0">
            <a:solidFill>
              <a:srgbClr val="3B82F6"/>
            </a:solidFill>
            <a:prstDash val="solid"/>
          </a:ln>
        </p:spPr>
      </p:sp>
      <p:sp>
        <p:nvSpPr>
          <p:cNvPr id="7" name="">
            <a:extLst xmlns:a="http://schemas.openxmlformats.org/drawingml/2006/main">
              <a:ext uri="{FF2B5EF4-FFF2-40B4-BE49-F238E27FC236}">
                <a16:creationId xmlns:a16="http://schemas.microsoft.com/office/drawing/2014/main" id="{722C953B-207F-4465-B332-588E739823C1}"/>
              </a:ext>
            </a:extLst>
          </p:cNvPr>
          <p:cNvSpPr>
            <a:spLocks xmlns:a="http://schemas.openxmlformats.org/drawingml/2006/main" noGrp="1"/>
          </p:cNvSpPr>
          <p:nvPr/>
        </p:nvSpPr>
        <p:spPr>
          <a:xfrm xmlns:a="http://schemas.openxmlformats.org/drawingml/2006/main">
            <a:off x="3000375" y="2476500"/>
            <a:ext cx="4000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64748B"/>
                </a:solidFill>
                <a:latin typeface="Aptos"/>
                <a:ea typeface="Aptos"/>
                <a:cs typeface="Aptos"/>
              </a:defRPr>
            </a:pPr>
            <a:r>
              <a:rPr sz="3000" b="1">
                <a:solidFill>
                  <a:srgbClr val="64748B"/>
                </a:solidFill>
                <a:latin typeface="Aptos"/>
                <a:ea typeface="Aptos"/>
                <a:cs typeface="Aptos"/>
              </a:rPr>
              <a:t>→</a:t>
            </a:r>
          </a:p>
        </p:txBody>
      </p:sp>
      <p:sp>
        <p:nvSpPr>
          <p:cNvPr id="8" name="">
            <a:extLst xmlns:a="http://schemas.openxmlformats.org/drawingml/2006/main">
              <a:ext uri="{FF2B5EF4-FFF2-40B4-BE49-F238E27FC236}">
                <a16:creationId xmlns:a16="http://schemas.microsoft.com/office/drawing/2014/main" id="{A5D8EE6A-2B22-4D28-9018-3B2EE0E17F47}"/>
              </a:ext>
            </a:extLst>
          </p:cNvPr>
          <p:cNvSpPr>
            <a:spLocks xmlns:a="http://schemas.openxmlformats.org/drawingml/2006/main" noGrp="1"/>
          </p:cNvSpPr>
          <p:nvPr/>
        </p:nvSpPr>
        <p:spPr>
          <a:xfrm xmlns:a="http://schemas.openxmlformats.org/drawingml/2006/main">
            <a:off x="3476625" y="2076450"/>
            <a:ext cx="2190750" cy="1333500"/>
          </a:xfrm>
          <a:prstGeom xmlns:a="http://schemas.openxmlformats.org/drawingml/2006/main" prst="roundRect">
            <a:avLst>
              <a:gd name="adj" fmla="val 11429"/>
            </a:avLst>
          </a:prstGeom>
          <a:solidFill xmlns:a="http://schemas.openxmlformats.org/drawingml/2006/main">
            <a:srgbClr val="ECFDF5"/>
          </a:solidFill>
          <a:ln xmlns:a="http://schemas.openxmlformats.org/drawingml/2006/main" w="9525">
            <a:solidFill>
              <a:srgbClr val="CBD5E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9FFD4D6B-30FF-4DD4-8FA5-D2C93794BD92}"/>
              </a:ext>
            </a:extLst>
          </p:cNvPr>
          <p:cNvSpPr>
            <a:spLocks xmlns:a="http://schemas.openxmlformats.org/drawingml/2006/main" noGrp="1"/>
          </p:cNvSpPr>
          <p:nvPr/>
        </p:nvSpPr>
        <p:spPr>
          <a:xfrm xmlns:a="http://schemas.openxmlformats.org/drawingml/2006/main">
            <a:off x="3648075" y="22479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111827"/>
                </a:solidFill>
                <a:latin typeface="Aptos"/>
                <a:ea typeface="Aptos"/>
                <a:cs typeface="Aptos"/>
              </a:defRPr>
            </a:pPr>
            <a:r>
              <a:rPr sz="1350" b="1">
                <a:solidFill>
                  <a:srgbClr val="111827"/>
                </a:solidFill>
                <a:latin typeface="Aptos"/>
                <a:ea typeface="Aptos"/>
                <a:cs typeface="Aptos"/>
              </a:rPr>
              <a:t>On-device AI</a:t>
            </a:r>
          </a:p>
        </p:txBody>
      </p:sp>
      <p:sp>
        <p:nvSpPr>
          <p:cNvPr id="10" name="">
            <a:extLst xmlns:a="http://schemas.openxmlformats.org/drawingml/2006/main">
              <a:ext uri="{FF2B5EF4-FFF2-40B4-BE49-F238E27FC236}">
                <a16:creationId xmlns:a16="http://schemas.microsoft.com/office/drawing/2014/main" id="{50FFEE53-55FE-4A96-84EA-D97114287DCF}"/>
              </a:ext>
            </a:extLst>
          </p:cNvPr>
          <p:cNvSpPr>
            <a:spLocks xmlns:a="http://schemas.openxmlformats.org/drawingml/2006/main" noGrp="1"/>
          </p:cNvSpPr>
          <p:nvPr/>
        </p:nvSpPr>
        <p:spPr>
          <a:xfrm xmlns:a="http://schemas.openxmlformats.org/drawingml/2006/main">
            <a:off x="3648075" y="2600325"/>
            <a:ext cx="1809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13">
                <a:solidFill>
                  <a:srgbClr val="475569"/>
                </a:solidFill>
                <a:latin typeface="Aptos"/>
                <a:ea typeface="Aptos"/>
                <a:cs typeface="Aptos"/>
              </a:defRPr>
            </a:pPr>
            <a:r>
              <a:rPr sz="1013">
                <a:solidFill>
                  <a:srgbClr val="475569"/>
                </a:solidFill>
                <a:latin typeface="Aptos"/>
                <a:ea typeface="Aptos"/>
                <a:cs typeface="Aptos"/>
              </a:rPr>
              <a:t>52 blendshapes</a:t>
            </a:r>
          </a:p>
          <a:p xmlns:a="http://schemas.openxmlformats.org/drawingml/2006/main">
            <a:pPr>
              <a:defRPr sz="1013">
                <a:solidFill>
                  <a:srgbClr val="475569"/>
                </a:solidFill>
                <a:latin typeface="Aptos"/>
                <a:ea typeface="Aptos"/>
                <a:cs typeface="Aptos"/>
              </a:defRPr>
            </a:pPr>
            <a:r>
              <a:rPr sz="1013">
                <a:solidFill>
                  <a:srgbClr val="475569"/>
                </a:solidFill>
                <a:latin typeface="Aptos"/>
                <a:ea typeface="Aptos"/>
                <a:cs typeface="Aptos"/>
              </a:rPr>
              <a:t>EWMA smoothing</a:t>
            </a:r>
          </a:p>
          <a:p xmlns:a="http://schemas.openxmlformats.org/drawingml/2006/main">
            <a:pPr>
              <a:defRPr sz="1013">
                <a:solidFill>
                  <a:srgbClr val="475569"/>
                </a:solidFill>
                <a:latin typeface="Aptos"/>
                <a:ea typeface="Aptos"/>
                <a:cs typeface="Aptos"/>
              </a:defRPr>
            </a:pPr>
            <a:r>
              <a:rPr sz="1013">
                <a:solidFill>
                  <a:srgbClr val="475569"/>
                </a:solidFill>
                <a:latin typeface="Aptos"/>
                <a:ea typeface="Aptos"/>
                <a:cs typeface="Aptos"/>
              </a:rPr>
              <a:t>10 emotions</a:t>
            </a:r>
          </a:p>
          <a:p xmlns:a="http://schemas.openxmlformats.org/drawingml/2006/main">
            <a:pPr>
              <a:defRPr sz="1013">
                <a:solidFill>
                  <a:srgbClr val="475569"/>
                </a:solidFill>
                <a:latin typeface="Aptos"/>
                <a:ea typeface="Aptos"/>
                <a:cs typeface="Aptos"/>
              </a:defRPr>
            </a:pPr>
            <a:r>
              <a:rPr sz="1013">
                <a:solidFill>
                  <a:srgbClr val="475569"/>
                </a:solidFill>
                <a:latin typeface="Aptos"/>
                <a:ea typeface="Aptos"/>
                <a:cs typeface="Aptos"/>
              </a:rPr>
              <a:t>0-100 score</a:t>
            </a:r>
          </a:p>
        </p:txBody>
      </p:sp>
      <p:sp>
        <p:nvSpPr>
          <p:cNvPr id="11" name="">
            <a:extLst xmlns:a="http://schemas.openxmlformats.org/drawingml/2006/main">
              <a:ext uri="{FF2B5EF4-FFF2-40B4-BE49-F238E27FC236}">
                <a16:creationId xmlns:a16="http://schemas.microsoft.com/office/drawing/2014/main" id="{1ED8A22A-16C7-412F-B9B8-695B822AD93F}"/>
              </a:ext>
            </a:extLst>
          </p:cNvPr>
          <p:cNvSpPr>
            <a:spLocks xmlns:a="http://schemas.openxmlformats.org/drawingml/2006/main" noGrp="1"/>
          </p:cNvSpPr>
          <p:nvPr/>
        </p:nvSpPr>
        <p:spPr>
          <a:xfrm xmlns:a="http://schemas.openxmlformats.org/drawingml/2006/main">
            <a:off x="5191125" y="2247900"/>
            <a:ext cx="285750" cy="28575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2" name="">
            <a:extLst xmlns:a="http://schemas.openxmlformats.org/drawingml/2006/main">
              <a:ext uri="{FF2B5EF4-FFF2-40B4-BE49-F238E27FC236}">
                <a16:creationId xmlns:a16="http://schemas.microsoft.com/office/drawing/2014/main" id="{09745719-332D-47AE-8E27-C1AE75345E06}"/>
              </a:ext>
            </a:extLst>
          </p:cNvPr>
          <p:cNvSpPr>
            <a:spLocks xmlns:a="http://schemas.openxmlformats.org/drawingml/2006/main" noGrp="1"/>
          </p:cNvSpPr>
          <p:nvPr/>
        </p:nvSpPr>
        <p:spPr>
          <a:xfrm xmlns:a="http://schemas.openxmlformats.org/drawingml/2006/main">
            <a:off x="5810250" y="2476500"/>
            <a:ext cx="4000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64748B"/>
                </a:solidFill>
                <a:latin typeface="Aptos"/>
                <a:ea typeface="Aptos"/>
                <a:cs typeface="Aptos"/>
              </a:defRPr>
            </a:pPr>
            <a:r>
              <a:rPr sz="3000" b="1">
                <a:solidFill>
                  <a:srgbClr val="64748B"/>
                </a:solidFill>
                <a:latin typeface="Aptos"/>
                <a:ea typeface="Aptos"/>
                <a:cs typeface="Aptos"/>
              </a:rPr>
              <a:t>→</a:t>
            </a:r>
          </a:p>
        </p:txBody>
      </p:sp>
      <p:sp>
        <p:nvSpPr>
          <p:cNvPr id="13" name="">
            <a:extLst xmlns:a="http://schemas.openxmlformats.org/drawingml/2006/main">
              <a:ext uri="{FF2B5EF4-FFF2-40B4-BE49-F238E27FC236}">
                <a16:creationId xmlns:a16="http://schemas.microsoft.com/office/drawing/2014/main" id="{AC003ECF-A85C-4C43-BE78-66D3DD029345}"/>
              </a:ext>
            </a:extLst>
          </p:cNvPr>
          <p:cNvSpPr>
            <a:spLocks xmlns:a="http://schemas.openxmlformats.org/drawingml/2006/main" noGrp="1"/>
          </p:cNvSpPr>
          <p:nvPr/>
        </p:nvSpPr>
        <p:spPr>
          <a:xfrm xmlns:a="http://schemas.openxmlformats.org/drawingml/2006/main">
            <a:off x="6286500" y="2076450"/>
            <a:ext cx="2190750" cy="1333500"/>
          </a:xfrm>
          <a:prstGeom xmlns:a="http://schemas.openxmlformats.org/drawingml/2006/main" prst="roundRect">
            <a:avLst>
              <a:gd name="adj" fmla="val 11429"/>
            </a:avLst>
          </a:prstGeom>
          <a:solidFill xmlns:a="http://schemas.openxmlformats.org/drawingml/2006/main">
            <a:srgbClr val="F5F3FF"/>
          </a:solidFill>
          <a:ln xmlns:a="http://schemas.openxmlformats.org/drawingml/2006/main" w="9525">
            <a:solidFill>
              <a:srgbClr val="CBD5E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30B38B8E-DDD4-47DB-83E0-D4C96B7EB029}"/>
              </a:ext>
            </a:extLst>
          </p:cNvPr>
          <p:cNvSpPr>
            <a:spLocks xmlns:a="http://schemas.openxmlformats.org/drawingml/2006/main" noGrp="1"/>
          </p:cNvSpPr>
          <p:nvPr/>
        </p:nvSpPr>
        <p:spPr>
          <a:xfrm xmlns:a="http://schemas.openxmlformats.org/drawingml/2006/main">
            <a:off x="6457950" y="22479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111827"/>
                </a:solidFill>
                <a:latin typeface="Aptos"/>
                <a:ea typeface="Aptos"/>
                <a:cs typeface="Aptos"/>
              </a:defRPr>
            </a:pPr>
            <a:r>
              <a:rPr sz="1350" b="1">
                <a:solidFill>
                  <a:srgbClr val="111827"/>
                </a:solidFill>
                <a:latin typeface="Aptos"/>
                <a:ea typeface="Aptos"/>
                <a:cs typeface="Aptos"/>
              </a:rPr>
              <a:t>Memory layer</a:t>
            </a:r>
          </a:p>
        </p:txBody>
      </p:sp>
      <p:sp>
        <p:nvSpPr>
          <p:cNvPr id="15" name="">
            <a:extLst xmlns:a="http://schemas.openxmlformats.org/drawingml/2006/main">
              <a:ext uri="{FF2B5EF4-FFF2-40B4-BE49-F238E27FC236}">
                <a16:creationId xmlns:a16="http://schemas.microsoft.com/office/drawing/2014/main" id="{2B031E01-CACB-4E5E-81F4-E49A1D055F63}"/>
              </a:ext>
            </a:extLst>
          </p:cNvPr>
          <p:cNvSpPr>
            <a:spLocks xmlns:a="http://schemas.openxmlformats.org/drawingml/2006/main" noGrp="1"/>
          </p:cNvSpPr>
          <p:nvPr/>
        </p:nvSpPr>
        <p:spPr>
          <a:xfrm xmlns:a="http://schemas.openxmlformats.org/drawingml/2006/main">
            <a:off x="6457950" y="2600325"/>
            <a:ext cx="1809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13">
                <a:solidFill>
                  <a:srgbClr val="475569"/>
                </a:solidFill>
                <a:latin typeface="Aptos"/>
                <a:ea typeface="Aptos"/>
                <a:cs typeface="Aptos"/>
              </a:defRPr>
            </a:pPr>
            <a:r>
              <a:rPr sz="1013">
                <a:solidFill>
                  <a:srgbClr val="475569"/>
                </a:solidFill>
                <a:latin typeface="Aptos"/>
                <a:ea typeface="Aptos"/>
                <a:cs typeface="Aptos"/>
              </a:rPr>
              <a:t>SQLite records</a:t>
            </a:r>
          </a:p>
          <a:p xmlns:a="http://schemas.openxmlformats.org/drawingml/2006/main">
            <a:pPr>
              <a:defRPr sz="1013">
                <a:solidFill>
                  <a:srgbClr val="475569"/>
                </a:solidFill>
                <a:latin typeface="Aptos"/>
                <a:ea typeface="Aptos"/>
                <a:cs typeface="Aptos"/>
              </a:defRPr>
            </a:pPr>
            <a:r>
              <a:rPr sz="1013">
                <a:solidFill>
                  <a:srgbClr val="475569"/>
                </a:solidFill>
                <a:latin typeface="Aptos"/>
                <a:ea typeface="Aptos"/>
                <a:cs typeface="Aptos"/>
              </a:rPr>
              <a:t>30-day trends</a:t>
            </a:r>
          </a:p>
          <a:p xmlns:a="http://schemas.openxmlformats.org/drawingml/2006/main">
            <a:pPr>
              <a:defRPr sz="1013">
                <a:solidFill>
                  <a:srgbClr val="475569"/>
                </a:solidFill>
                <a:latin typeface="Aptos"/>
                <a:ea typeface="Aptos"/>
                <a:cs typeface="Aptos"/>
              </a:defRPr>
            </a:pPr>
            <a:r>
              <a:rPr sz="1013">
                <a:solidFill>
                  <a:srgbClr val="475569"/>
                </a:solidFill>
                <a:latin typeface="Aptos"/>
                <a:ea typeface="Aptos"/>
                <a:cs typeface="Aptos"/>
              </a:rPr>
              <a:t>Keyword ranking</a:t>
            </a:r>
          </a:p>
          <a:p xmlns:a="http://schemas.openxmlformats.org/drawingml/2006/main">
            <a:pPr>
              <a:defRPr sz="1013">
                <a:solidFill>
                  <a:srgbClr val="475569"/>
                </a:solidFill>
                <a:latin typeface="Aptos"/>
                <a:ea typeface="Aptos"/>
                <a:cs typeface="Aptos"/>
              </a:defRPr>
            </a:pPr>
            <a:r>
              <a:rPr sz="1013">
                <a:solidFill>
                  <a:srgbClr val="475569"/>
                </a:solidFill>
                <a:latin typeface="Aptos"/>
                <a:ea typeface="Aptos"/>
                <a:cs typeface="Aptos"/>
              </a:rPr>
              <a:t>JSON export</a:t>
            </a:r>
          </a:p>
        </p:txBody>
      </p:sp>
      <p:sp>
        <p:nvSpPr>
          <p:cNvPr id="16" name="">
            <a:extLst xmlns:a="http://schemas.openxmlformats.org/drawingml/2006/main">
              <a:ext uri="{FF2B5EF4-FFF2-40B4-BE49-F238E27FC236}">
                <a16:creationId xmlns:a16="http://schemas.microsoft.com/office/drawing/2014/main" id="{7DCFF3C2-00E8-4F29-BE56-19ECCF3F2DDB}"/>
              </a:ext>
            </a:extLst>
          </p:cNvPr>
          <p:cNvSpPr>
            <a:spLocks xmlns:a="http://schemas.openxmlformats.org/drawingml/2006/main" noGrp="1"/>
          </p:cNvSpPr>
          <p:nvPr/>
        </p:nvSpPr>
        <p:spPr>
          <a:xfrm xmlns:a="http://schemas.openxmlformats.org/drawingml/2006/main">
            <a:off x="8001000" y="2247900"/>
            <a:ext cx="285750" cy="28575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7" name="">
            <a:extLst xmlns:a="http://schemas.openxmlformats.org/drawingml/2006/main">
              <a:ext uri="{FF2B5EF4-FFF2-40B4-BE49-F238E27FC236}">
                <a16:creationId xmlns:a16="http://schemas.microsoft.com/office/drawing/2014/main" id="{80230EEB-B93B-4A5F-AFD5-56944518DF09}"/>
              </a:ext>
            </a:extLst>
          </p:cNvPr>
          <p:cNvSpPr>
            <a:spLocks xmlns:a="http://schemas.openxmlformats.org/drawingml/2006/main" noGrp="1"/>
          </p:cNvSpPr>
          <p:nvPr/>
        </p:nvSpPr>
        <p:spPr>
          <a:xfrm xmlns:a="http://schemas.openxmlformats.org/drawingml/2006/main">
            <a:off x="8620125" y="2476500"/>
            <a:ext cx="4000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64748B"/>
                </a:solidFill>
                <a:latin typeface="Aptos"/>
                <a:ea typeface="Aptos"/>
                <a:cs typeface="Aptos"/>
              </a:defRPr>
            </a:pPr>
            <a:r>
              <a:rPr sz="3000" b="1">
                <a:solidFill>
                  <a:srgbClr val="64748B"/>
                </a:solidFill>
                <a:latin typeface="Aptos"/>
                <a:ea typeface="Aptos"/>
                <a:cs typeface="Aptos"/>
              </a:rPr>
              <a:t>→</a:t>
            </a:r>
          </a:p>
        </p:txBody>
      </p:sp>
      <p:sp>
        <p:nvSpPr>
          <p:cNvPr id="18" name="">
            <a:extLst xmlns:a="http://schemas.openxmlformats.org/drawingml/2006/main">
              <a:ext uri="{FF2B5EF4-FFF2-40B4-BE49-F238E27FC236}">
                <a16:creationId xmlns:a16="http://schemas.microsoft.com/office/drawing/2014/main" id="{946D426C-905A-44D9-8763-0732CE50B746}"/>
              </a:ext>
            </a:extLst>
          </p:cNvPr>
          <p:cNvSpPr>
            <a:spLocks xmlns:a="http://schemas.openxmlformats.org/drawingml/2006/main" noGrp="1"/>
          </p:cNvSpPr>
          <p:nvPr/>
        </p:nvSpPr>
        <p:spPr>
          <a:xfrm xmlns:a="http://schemas.openxmlformats.org/drawingml/2006/main">
            <a:off x="9096375" y="2076450"/>
            <a:ext cx="2190750" cy="1333500"/>
          </a:xfrm>
          <a:prstGeom xmlns:a="http://schemas.openxmlformats.org/drawingml/2006/main" prst="roundRect">
            <a:avLst>
              <a:gd name="adj" fmla="val 11429"/>
            </a:avLst>
          </a:prstGeom>
          <a:solidFill xmlns:a="http://schemas.openxmlformats.org/drawingml/2006/main">
            <a:srgbClr val="FFF7ED"/>
          </a:solidFill>
          <a:ln xmlns:a="http://schemas.openxmlformats.org/drawingml/2006/main" w="9525">
            <a:solidFill>
              <a:srgbClr val="CBD5E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9" name="">
            <a:extLst xmlns:a="http://schemas.openxmlformats.org/drawingml/2006/main">
              <a:ext uri="{FF2B5EF4-FFF2-40B4-BE49-F238E27FC236}">
                <a16:creationId xmlns:a16="http://schemas.microsoft.com/office/drawing/2014/main" id="{D814EE2D-7CFF-42D3-B429-6E755FFF5819}"/>
              </a:ext>
            </a:extLst>
          </p:cNvPr>
          <p:cNvSpPr>
            <a:spLocks xmlns:a="http://schemas.openxmlformats.org/drawingml/2006/main" noGrp="1"/>
          </p:cNvSpPr>
          <p:nvPr/>
        </p:nvSpPr>
        <p:spPr>
          <a:xfrm xmlns:a="http://schemas.openxmlformats.org/drawingml/2006/main">
            <a:off x="9267825" y="22479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111827"/>
                </a:solidFill>
                <a:latin typeface="Aptos"/>
                <a:ea typeface="Aptos"/>
                <a:cs typeface="Aptos"/>
              </a:defRPr>
            </a:pPr>
            <a:r>
              <a:rPr sz="1350" b="1">
                <a:solidFill>
                  <a:srgbClr val="111827"/>
                </a:solidFill>
                <a:latin typeface="Aptos"/>
                <a:ea typeface="Aptos"/>
                <a:cs typeface="Aptos"/>
              </a:rPr>
              <a:t>Feedback layer</a:t>
            </a:r>
          </a:p>
        </p:txBody>
      </p:sp>
      <p:sp>
        <p:nvSpPr>
          <p:cNvPr id="20" name="">
            <a:extLst xmlns:a="http://schemas.openxmlformats.org/drawingml/2006/main">
              <a:ext uri="{FF2B5EF4-FFF2-40B4-BE49-F238E27FC236}">
                <a16:creationId xmlns:a16="http://schemas.microsoft.com/office/drawing/2014/main" id="{8E62E716-437C-43A5-8360-AA3A0010E530}"/>
              </a:ext>
            </a:extLst>
          </p:cNvPr>
          <p:cNvSpPr>
            <a:spLocks xmlns:a="http://schemas.openxmlformats.org/drawingml/2006/main" noGrp="1"/>
          </p:cNvSpPr>
          <p:nvPr/>
        </p:nvSpPr>
        <p:spPr>
          <a:xfrm xmlns:a="http://schemas.openxmlformats.org/drawingml/2006/main">
            <a:off x="9267825" y="2600325"/>
            <a:ext cx="1809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13">
                <a:solidFill>
                  <a:srgbClr val="475569"/>
                </a:solidFill>
                <a:latin typeface="Aptos"/>
                <a:ea typeface="Aptos"/>
                <a:cs typeface="Aptos"/>
              </a:defRPr>
            </a:pPr>
            <a:r>
              <a:rPr sz="1013">
                <a:solidFill>
                  <a:srgbClr val="475569"/>
                </a:solidFill>
                <a:latin typeface="Aptos"/>
                <a:ea typeface="Aptos"/>
                <a:cs typeface="Aptos"/>
              </a:rPr>
              <a:t>Care card</a:t>
            </a:r>
          </a:p>
          <a:p xmlns:a="http://schemas.openxmlformats.org/drawingml/2006/main">
            <a:pPr>
              <a:defRPr sz="1013">
                <a:solidFill>
                  <a:srgbClr val="475569"/>
                </a:solidFill>
                <a:latin typeface="Aptos"/>
                <a:ea typeface="Aptos"/>
                <a:cs typeface="Aptos"/>
              </a:defRPr>
            </a:pPr>
            <a:r>
              <a:rPr sz="1013">
                <a:solidFill>
                  <a:srgbClr val="475569"/>
                </a:solidFill>
                <a:latin typeface="Aptos"/>
                <a:ea typeface="Aptos"/>
                <a:cs typeface="Aptos"/>
              </a:rPr>
              <a:t>LLM response</a:t>
            </a:r>
          </a:p>
          <a:p xmlns:a="http://schemas.openxmlformats.org/drawingml/2006/main">
            <a:pPr>
              <a:defRPr sz="1013">
                <a:solidFill>
                  <a:srgbClr val="475569"/>
                </a:solidFill>
                <a:latin typeface="Aptos"/>
                <a:ea typeface="Aptos"/>
                <a:cs typeface="Aptos"/>
              </a:defRPr>
            </a:pPr>
            <a:r>
              <a:rPr sz="1013">
                <a:solidFill>
                  <a:srgbClr val="475569"/>
                </a:solidFill>
                <a:latin typeface="Aptos"/>
                <a:ea typeface="Aptos"/>
                <a:cs typeface="Aptos"/>
              </a:rPr>
              <a:t>Weekly report</a:t>
            </a:r>
          </a:p>
          <a:p xmlns:a="http://schemas.openxmlformats.org/drawingml/2006/main">
            <a:pPr>
              <a:defRPr sz="1013">
                <a:solidFill>
                  <a:srgbClr val="475569"/>
                </a:solidFill>
                <a:latin typeface="Aptos"/>
                <a:ea typeface="Aptos"/>
                <a:cs typeface="Aptos"/>
              </a:defRPr>
            </a:pPr>
            <a:r>
              <a:rPr sz="1013">
                <a:solidFill>
                  <a:srgbClr val="475569"/>
                </a:solidFill>
                <a:latin typeface="Aptos"/>
                <a:ea typeface="Aptos"/>
                <a:cs typeface="Aptos"/>
              </a:rPr>
              <a:t>SOS support</a:t>
            </a:r>
          </a:p>
        </p:txBody>
      </p:sp>
      <p:sp>
        <p:nvSpPr>
          <p:cNvPr id="21" name="">
            <a:extLst xmlns:a="http://schemas.openxmlformats.org/drawingml/2006/main">
              <a:ext uri="{FF2B5EF4-FFF2-40B4-BE49-F238E27FC236}">
                <a16:creationId xmlns:a16="http://schemas.microsoft.com/office/drawing/2014/main" id="{E52C4B7C-90BD-48B4-9613-F2763BA579A2}"/>
              </a:ext>
            </a:extLst>
          </p:cNvPr>
          <p:cNvSpPr>
            <a:spLocks xmlns:a="http://schemas.openxmlformats.org/drawingml/2006/main" noGrp="1"/>
          </p:cNvSpPr>
          <p:nvPr/>
        </p:nvSpPr>
        <p:spPr>
          <a:xfrm xmlns:a="http://schemas.openxmlformats.org/drawingml/2006/main">
            <a:off x="10810875" y="2247900"/>
            <a:ext cx="285750" cy="285750"/>
          </a:xfrm>
          <a:prstGeom xmlns:a="http://schemas.openxmlformats.org/drawingml/2006/main" prst="ellipse">
            <a:avLst/>
          </a:prstGeom>
          <a:solidFill xmlns:a="http://schemas.openxmlformats.org/drawingml/2006/main">
            <a:srgbClr val="F59E0B"/>
          </a:solidFill>
          <a:ln xmlns:a="http://schemas.openxmlformats.org/drawingml/2006/main" w="0">
            <a:solidFill>
              <a:srgbClr val="F59E0B"/>
            </a:solidFill>
            <a:prstDash val="solid"/>
          </a:ln>
        </p:spPr>
      </p:sp>
      <p:sp>
        <p:nvSpPr>
          <p:cNvPr id="22" name="">
            <a:extLst xmlns:a="http://schemas.openxmlformats.org/drawingml/2006/main">
              <a:ext uri="{FF2B5EF4-FFF2-40B4-BE49-F238E27FC236}">
                <a16:creationId xmlns:a16="http://schemas.microsoft.com/office/drawing/2014/main" id="{3E7D865D-D810-443B-95E3-FFE471BEB4DF}"/>
              </a:ext>
            </a:extLst>
          </p:cNvPr>
          <p:cNvSpPr>
            <a:spLocks xmlns:a="http://schemas.openxmlformats.org/drawingml/2006/main" noGrp="1"/>
          </p:cNvSpPr>
          <p:nvPr/>
        </p:nvSpPr>
        <p:spPr>
          <a:xfrm xmlns:a="http://schemas.openxmlformats.org/drawingml/2006/main">
            <a:off x="1524000" y="4381500"/>
            <a:ext cx="9048750" cy="99060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3" name="">
            <a:extLst xmlns:a="http://schemas.openxmlformats.org/drawingml/2006/main">
              <a:ext uri="{FF2B5EF4-FFF2-40B4-BE49-F238E27FC236}">
                <a16:creationId xmlns:a16="http://schemas.microsoft.com/office/drawing/2014/main" id="{42888AA7-0444-4CE2-921E-3CCC0B97A442}"/>
              </a:ext>
            </a:extLst>
          </p:cNvPr>
          <p:cNvSpPr>
            <a:spLocks xmlns:a="http://schemas.openxmlformats.org/drawingml/2006/main" noGrp="1"/>
          </p:cNvSpPr>
          <p:nvPr/>
        </p:nvSpPr>
        <p:spPr>
          <a:xfrm xmlns:a="http://schemas.openxmlformats.org/drawingml/2006/main">
            <a:off x="1524000" y="4381500"/>
            <a:ext cx="66675" cy="990600"/>
          </a:xfrm>
          <a:prstGeom xmlns:a="http://schemas.openxmlformats.org/drawingml/2006/main" prst="rect">
            <a:avLst/>
          </a:prstGeom>
          <a:solidFill xmlns:a="http://schemas.openxmlformats.org/drawingml/2006/main">
            <a:srgbClr val="4338CA"/>
          </a:solidFill>
          <a:ln xmlns:a="http://schemas.openxmlformats.org/drawingml/2006/main" w="0">
            <a:solidFill>
              <a:srgbClr val="4338CA"/>
            </a:solidFill>
            <a:prstDash val="solid"/>
          </a:ln>
        </p:spPr>
      </p:sp>
      <p:sp>
        <p:nvSpPr>
          <p:cNvPr id="24" name="">
            <a:extLst xmlns:a="http://schemas.openxmlformats.org/drawingml/2006/main">
              <a:ext uri="{FF2B5EF4-FFF2-40B4-BE49-F238E27FC236}">
                <a16:creationId xmlns:a16="http://schemas.microsoft.com/office/drawing/2014/main" id="{580237B7-D12A-4C0D-AD55-2991BB6601AD}"/>
              </a:ext>
            </a:extLst>
          </p:cNvPr>
          <p:cNvSpPr>
            <a:spLocks xmlns:a="http://schemas.openxmlformats.org/drawingml/2006/main" noGrp="1"/>
          </p:cNvSpPr>
          <p:nvPr/>
        </p:nvSpPr>
        <p:spPr>
          <a:xfrm xmlns:a="http://schemas.openxmlformats.org/drawingml/2006/main">
            <a:off x="1752600" y="4552950"/>
            <a:ext cx="8591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1">
                <a:solidFill>
                  <a:srgbClr val="111827"/>
                </a:solidFill>
                <a:latin typeface="Aptos"/>
                <a:ea typeface="Aptos"/>
                <a:cs typeface="Aptos"/>
              </a:defRPr>
            </a:pPr>
            <a:r>
              <a:rPr sz="1425" b="1">
                <a:solidFill>
                  <a:srgbClr val="111827"/>
                </a:solidFill>
                <a:latin typeface="Aptos"/>
                <a:ea typeface="Aptos"/>
                <a:cs typeface="Aptos"/>
              </a:rPr>
              <a:t>Design rule</a:t>
            </a:r>
          </a:p>
        </p:txBody>
      </p:sp>
      <p:sp>
        <p:nvSpPr>
          <p:cNvPr id="25" name="">
            <a:extLst xmlns:a="http://schemas.openxmlformats.org/drawingml/2006/main">
              <a:ext uri="{FF2B5EF4-FFF2-40B4-BE49-F238E27FC236}">
                <a16:creationId xmlns:a16="http://schemas.microsoft.com/office/drawing/2014/main" id="{9AB6F41E-18F2-4EB0-AB15-91B92B631530}"/>
              </a:ext>
            </a:extLst>
          </p:cNvPr>
          <p:cNvSpPr>
            <a:spLocks xmlns:a="http://schemas.openxmlformats.org/drawingml/2006/main" noGrp="1"/>
          </p:cNvSpPr>
          <p:nvPr/>
        </p:nvSpPr>
        <p:spPr>
          <a:xfrm xmlns:a="http://schemas.openxmlformats.org/drawingml/2006/main">
            <a:off x="1752600" y="4895850"/>
            <a:ext cx="8591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40">
                <a:solidFill>
                  <a:srgbClr val="475569"/>
                </a:solidFill>
                <a:latin typeface="Aptos"/>
                <a:ea typeface="Aptos"/>
                <a:cs typeface="Aptos"/>
              </a:defRPr>
            </a:pPr>
            <a:r>
              <a:rPr sz="1140">
                <a:solidFill>
                  <a:srgbClr val="475569"/>
                </a:solidFill>
                <a:latin typeface="Aptos"/>
                <a:ea typeface="Aptos"/>
                <a:cs typeface="Aptos"/>
              </a:rPr>
              <a:t>Sensing can be continuous, but interpretation must remain cautious and emergency action must remain user-confirmed.</a:t>
            </a:r>
          </a:p>
        </p:txBody>
      </p:sp>
      <p:sp>
        <p:nvSpPr>
          <p:cNvPr id="26" name="">
            <a:extLst xmlns:a="http://schemas.openxmlformats.org/drawingml/2006/main">
              <a:ext uri="{FF2B5EF4-FFF2-40B4-BE49-F238E27FC236}">
                <a16:creationId xmlns:a16="http://schemas.microsoft.com/office/drawing/2014/main" id="{BB1B65F1-89DB-4DE3-9F5A-833490A26371}"/>
              </a:ext>
            </a:extLst>
          </p:cNvPr>
          <p:cNvSpPr>
            <a:spLocks xmlns:a="http://schemas.openxmlformats.org/drawingml/2006/main" noGrp="1"/>
          </p:cNvSpPr>
          <p:nvPr/>
        </p:nvSpPr>
        <p:spPr>
          <a:xfrm xmlns:a="http://schemas.openxmlformats.org/drawingml/2006/main">
            <a:off x="609600" y="64389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94A3B8"/>
                </a:solidFill>
                <a:latin typeface="Aptos"/>
                <a:ea typeface="Aptos"/>
                <a:cs typeface="Aptos"/>
              </a:defRPr>
            </a:pPr>
            <a:r>
              <a:rPr sz="825">
                <a:solidFill>
                  <a:srgbClr val="94A3B8"/>
                </a:solidFill>
                <a:latin typeface="Aptos"/>
                <a:ea typeface="Aptos"/>
                <a:cs typeface="Aptos"/>
              </a:rPr>
              <a:t>EmoScope | 5-minute oral presentation | 4/10</a:t>
            </a:r>
          </a:p>
        </p:txBody>
      </p:sp>
    </p:spTree>
    <p:extLst>
      <p:ext uri="{BB962C8B-B14F-4D97-AF65-F5344CB8AC3E}">
        <p14:creationId xmlns:p14="http://schemas.microsoft.com/office/powerpoint/2010/main" val="2048538922"/>
      </p:ext>
    </p:extLst>
  </p:cSld>
</p:sld>
</file>

<file path=ppt/slides/slide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0B6CB3F-3711-49CB-9A41-3C83257E7D34}"/>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111827"/>
                </a:solidFill>
                <a:latin typeface="Aptos Display"/>
                <a:ea typeface="Aptos Display"/>
                <a:cs typeface="Aptos Display"/>
              </a:defRPr>
            </a:pPr>
            <a:r>
              <a:rPr sz="2625" b="1">
                <a:solidFill>
                  <a:srgbClr val="111827"/>
                </a:solidFill>
                <a:latin typeface="Aptos Display"/>
                <a:ea typeface="Aptos Display"/>
                <a:cs typeface="Aptos Display"/>
              </a:rPr>
              <a:t>Emotion scoring model</a:t>
            </a:r>
          </a:p>
        </p:txBody>
      </p:sp>
      <p:sp>
        <p:nvSpPr>
          <p:cNvPr id="2" name="">
            <a:extLst xmlns:a="http://schemas.openxmlformats.org/drawingml/2006/main">
              <a:ext uri="{FF2B5EF4-FFF2-40B4-BE49-F238E27FC236}">
                <a16:creationId xmlns:a16="http://schemas.microsoft.com/office/drawing/2014/main" id="{B634858F-D1DD-4F25-B33D-6ADB08044EAB}"/>
              </a:ext>
            </a:extLst>
          </p:cNvPr>
          <p:cNvSpPr>
            <a:spLocks xmlns:a="http://schemas.openxmlformats.org/drawingml/2006/main" noGrp="1"/>
          </p:cNvSpPr>
          <p:nvPr/>
        </p:nvSpPr>
        <p:spPr>
          <a:xfrm xmlns:a="http://schemas.openxmlformats.org/drawingml/2006/main">
            <a:off x="628650" y="914400"/>
            <a:ext cx="885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64748B"/>
                </a:solidFill>
                <a:latin typeface="Aptos"/>
                <a:ea typeface="Aptos"/>
                <a:cs typeface="Aptos"/>
              </a:defRPr>
            </a:pPr>
            <a:r>
              <a:rPr sz="1200">
                <a:solidFill>
                  <a:srgbClr val="64748B"/>
                </a:solidFill>
                <a:latin typeface="Aptos"/>
                <a:ea typeface="Aptos"/>
                <a:cs typeface="Aptos"/>
              </a:rPr>
              <a:t>Blendshape signals are smoothed and converted into a reflective wellness index.</a:t>
            </a:r>
          </a:p>
        </p:txBody>
      </p:sp>
      <p:sp>
        <p:nvSpPr>
          <p:cNvPr id="3" name="">
            <a:extLst xmlns:a="http://schemas.openxmlformats.org/drawingml/2006/main">
              <a:ext uri="{FF2B5EF4-FFF2-40B4-BE49-F238E27FC236}">
                <a16:creationId xmlns:a16="http://schemas.microsoft.com/office/drawing/2014/main" id="{71CA805A-87F9-4304-8F53-FB5E1FA2DA0C}"/>
              </a:ext>
            </a:extLst>
          </p:cNvPr>
          <p:cNvSpPr>
            <a:spLocks xmlns:a="http://schemas.openxmlformats.org/drawingml/2006/main" noGrp="1"/>
          </p:cNvSpPr>
          <p:nvPr/>
        </p:nvSpPr>
        <p:spPr>
          <a:xfrm xmlns:a="http://schemas.openxmlformats.org/drawingml/2006/main">
            <a:off x="857250" y="16192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34155"/>
                </a:solidFill>
                <a:latin typeface="Aptos"/>
                <a:ea typeface="Aptos"/>
                <a:cs typeface="Aptos"/>
              </a:defRPr>
            </a:pPr>
            <a:r>
              <a:rPr sz="1125">
                <a:solidFill>
                  <a:srgbClr val="334155"/>
                </a:solidFill>
                <a:latin typeface="Aptos"/>
                <a:ea typeface="Aptos"/>
                <a:cs typeface="Aptos"/>
              </a:rPr>
              <a:t>Joy</a:t>
            </a:r>
          </a:p>
        </p:txBody>
      </p:sp>
      <p:sp>
        <p:nvSpPr>
          <p:cNvPr id="4" name="">
            <a:extLst xmlns:a="http://schemas.openxmlformats.org/drawingml/2006/main">
              <a:ext uri="{FF2B5EF4-FFF2-40B4-BE49-F238E27FC236}">
                <a16:creationId xmlns:a16="http://schemas.microsoft.com/office/drawing/2014/main" id="{B5D6C5A0-26EF-489F-A6EF-FEAA540A5AD1}"/>
              </a:ext>
            </a:extLst>
          </p:cNvPr>
          <p:cNvSpPr>
            <a:spLocks xmlns:a="http://schemas.openxmlformats.org/drawingml/2006/main" noGrp="1"/>
          </p:cNvSpPr>
          <p:nvPr/>
        </p:nvSpPr>
        <p:spPr>
          <a:xfrm xmlns:a="http://schemas.openxmlformats.org/drawingml/2006/main">
            <a:off x="2209800" y="1600200"/>
            <a:ext cx="4000500" cy="266700"/>
          </a:xfrm>
          <a:prstGeom xmlns:a="http://schemas.openxmlformats.org/drawingml/2006/main" prst="roundRect">
            <a:avLst>
              <a:gd name="adj" fmla="val 50000"/>
            </a:avLst>
          </a:prstGeom>
          <a:solidFill xmlns:a="http://schemas.openxmlformats.org/drawingml/2006/main">
            <a:srgbClr val="E8EEF6"/>
          </a:solidFill>
          <a:ln xmlns:a="http://schemas.openxmlformats.org/drawingml/2006/main" w="0">
            <a:solidFill>
              <a:srgbClr val="E8EEF6"/>
            </a:solidFill>
            <a:prstDash val="solid"/>
          </a:ln>
        </p:spPr>
      </p:sp>
      <p:sp>
        <p:nvSpPr>
          <p:cNvPr id="5" name="">
            <a:extLst xmlns:a="http://schemas.openxmlformats.org/drawingml/2006/main">
              <a:ext uri="{FF2B5EF4-FFF2-40B4-BE49-F238E27FC236}">
                <a16:creationId xmlns:a16="http://schemas.microsoft.com/office/drawing/2014/main" id="{91AA7219-9D00-40B9-AAC3-DD6BD05E8BFF}"/>
              </a:ext>
            </a:extLst>
          </p:cNvPr>
          <p:cNvSpPr>
            <a:spLocks xmlns:a="http://schemas.openxmlformats.org/drawingml/2006/main" noGrp="1"/>
          </p:cNvSpPr>
          <p:nvPr/>
        </p:nvSpPr>
        <p:spPr>
          <a:xfrm xmlns:a="http://schemas.openxmlformats.org/drawingml/2006/main">
            <a:off x="2209800" y="1600200"/>
            <a:ext cx="3800475" cy="266700"/>
          </a:xfrm>
          <a:prstGeom xmlns:a="http://schemas.openxmlformats.org/drawingml/2006/main" prst="roundRect">
            <a:avLst>
              <a:gd name="adj" fmla="val 50000"/>
            </a:avLst>
          </a:prstGeom>
          <a:solidFill xmlns:a="http://schemas.openxmlformats.org/drawingml/2006/main">
            <a:srgbClr val="2F9B68"/>
          </a:solidFill>
          <a:ln xmlns:a="http://schemas.openxmlformats.org/drawingml/2006/main" w="0">
            <a:solidFill>
              <a:srgbClr val="2F9B68"/>
            </a:solidFill>
            <a:prstDash val="solid"/>
          </a:ln>
        </p:spPr>
      </p:sp>
      <p:sp>
        <p:nvSpPr>
          <p:cNvPr id="6" name="">
            <a:extLst xmlns:a="http://schemas.openxmlformats.org/drawingml/2006/main">
              <a:ext uri="{FF2B5EF4-FFF2-40B4-BE49-F238E27FC236}">
                <a16:creationId xmlns:a16="http://schemas.microsoft.com/office/drawing/2014/main" id="{AA74130B-1F99-427B-A694-721EEEC9A0AA}"/>
              </a:ext>
            </a:extLst>
          </p:cNvPr>
          <p:cNvSpPr>
            <a:spLocks xmlns:a="http://schemas.openxmlformats.org/drawingml/2006/main" noGrp="1"/>
          </p:cNvSpPr>
          <p:nvPr/>
        </p:nvSpPr>
        <p:spPr>
          <a:xfrm xmlns:a="http://schemas.openxmlformats.org/drawingml/2006/main">
            <a:off x="6362700" y="160020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111827"/>
                </a:solidFill>
                <a:latin typeface="Aptos"/>
                <a:ea typeface="Aptos"/>
                <a:cs typeface="Aptos"/>
              </a:defRPr>
            </a:pPr>
            <a:r>
              <a:rPr sz="1125" b="1">
                <a:solidFill>
                  <a:srgbClr val="111827"/>
                </a:solidFill>
                <a:latin typeface="Aptos"/>
                <a:ea typeface="Aptos"/>
                <a:cs typeface="Aptos"/>
              </a:rPr>
              <a:t>95</a:t>
            </a:r>
          </a:p>
        </p:txBody>
      </p:sp>
      <p:sp>
        <p:nvSpPr>
          <p:cNvPr id="7" name="">
            <a:extLst xmlns:a="http://schemas.openxmlformats.org/drawingml/2006/main">
              <a:ext uri="{FF2B5EF4-FFF2-40B4-BE49-F238E27FC236}">
                <a16:creationId xmlns:a16="http://schemas.microsoft.com/office/drawing/2014/main" id="{245EA0C2-68FD-4617-82BC-84971BF4C55A}"/>
              </a:ext>
            </a:extLst>
          </p:cNvPr>
          <p:cNvSpPr>
            <a:spLocks xmlns:a="http://schemas.openxmlformats.org/drawingml/2006/main" noGrp="1"/>
          </p:cNvSpPr>
          <p:nvPr/>
        </p:nvSpPr>
        <p:spPr>
          <a:xfrm xmlns:a="http://schemas.openxmlformats.org/drawingml/2006/main">
            <a:off x="857250" y="20574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34155"/>
                </a:solidFill>
                <a:latin typeface="Aptos"/>
                <a:ea typeface="Aptos"/>
                <a:cs typeface="Aptos"/>
              </a:defRPr>
            </a:pPr>
            <a:r>
              <a:rPr sz="1125">
                <a:solidFill>
                  <a:srgbClr val="334155"/>
                </a:solidFill>
                <a:latin typeface="Aptos"/>
                <a:ea typeface="Aptos"/>
                <a:cs typeface="Aptos"/>
              </a:rPr>
              <a:t>Calm</a:t>
            </a:r>
          </a:p>
        </p:txBody>
      </p:sp>
      <p:sp>
        <p:nvSpPr>
          <p:cNvPr id="8" name="">
            <a:extLst xmlns:a="http://schemas.openxmlformats.org/drawingml/2006/main">
              <a:ext uri="{FF2B5EF4-FFF2-40B4-BE49-F238E27FC236}">
                <a16:creationId xmlns:a16="http://schemas.microsoft.com/office/drawing/2014/main" id="{3046694B-2B27-466C-9178-0E81DEE3E690}"/>
              </a:ext>
            </a:extLst>
          </p:cNvPr>
          <p:cNvSpPr>
            <a:spLocks xmlns:a="http://schemas.openxmlformats.org/drawingml/2006/main" noGrp="1"/>
          </p:cNvSpPr>
          <p:nvPr/>
        </p:nvSpPr>
        <p:spPr>
          <a:xfrm xmlns:a="http://schemas.openxmlformats.org/drawingml/2006/main">
            <a:off x="2209800" y="2038350"/>
            <a:ext cx="4000500" cy="266700"/>
          </a:xfrm>
          <a:prstGeom xmlns:a="http://schemas.openxmlformats.org/drawingml/2006/main" prst="roundRect">
            <a:avLst>
              <a:gd name="adj" fmla="val 50000"/>
            </a:avLst>
          </a:prstGeom>
          <a:solidFill xmlns:a="http://schemas.openxmlformats.org/drawingml/2006/main">
            <a:srgbClr val="E8EEF6"/>
          </a:solidFill>
          <a:ln xmlns:a="http://schemas.openxmlformats.org/drawingml/2006/main" w="0">
            <a:solidFill>
              <a:srgbClr val="E8EEF6"/>
            </a:solidFill>
            <a:prstDash val="solid"/>
          </a:ln>
        </p:spPr>
      </p:sp>
      <p:sp>
        <p:nvSpPr>
          <p:cNvPr id="9" name="">
            <a:extLst xmlns:a="http://schemas.openxmlformats.org/drawingml/2006/main">
              <a:ext uri="{FF2B5EF4-FFF2-40B4-BE49-F238E27FC236}">
                <a16:creationId xmlns:a16="http://schemas.microsoft.com/office/drawing/2014/main" id="{41328A2C-F12F-46F7-BBE8-845627960D1F}"/>
              </a:ext>
            </a:extLst>
          </p:cNvPr>
          <p:cNvSpPr>
            <a:spLocks xmlns:a="http://schemas.openxmlformats.org/drawingml/2006/main" noGrp="1"/>
          </p:cNvSpPr>
          <p:nvPr/>
        </p:nvSpPr>
        <p:spPr>
          <a:xfrm xmlns:a="http://schemas.openxmlformats.org/drawingml/2006/main">
            <a:off x="2209800" y="2038350"/>
            <a:ext cx="2880360" cy="266700"/>
          </a:xfrm>
          <a:prstGeom xmlns:a="http://schemas.openxmlformats.org/drawingml/2006/main" prst="roundRect">
            <a:avLst>
              <a:gd name="adj" fmla="val 50000"/>
            </a:avLst>
          </a:prstGeom>
          <a:solidFill xmlns:a="http://schemas.openxmlformats.org/drawingml/2006/main">
            <a:srgbClr val="3D8BD4"/>
          </a:solidFill>
          <a:ln xmlns:a="http://schemas.openxmlformats.org/drawingml/2006/main" w="0">
            <a:solidFill>
              <a:srgbClr val="3D8BD4"/>
            </a:solidFill>
            <a:prstDash val="solid"/>
          </a:ln>
        </p:spPr>
      </p:sp>
      <p:sp>
        <p:nvSpPr>
          <p:cNvPr id="10" name="">
            <a:extLst xmlns:a="http://schemas.openxmlformats.org/drawingml/2006/main">
              <a:ext uri="{FF2B5EF4-FFF2-40B4-BE49-F238E27FC236}">
                <a16:creationId xmlns:a16="http://schemas.microsoft.com/office/drawing/2014/main" id="{6F3B1EE7-E238-4D3D-95DB-8C7A1C4C3741}"/>
              </a:ext>
            </a:extLst>
          </p:cNvPr>
          <p:cNvSpPr>
            <a:spLocks xmlns:a="http://schemas.openxmlformats.org/drawingml/2006/main" noGrp="1"/>
          </p:cNvSpPr>
          <p:nvPr/>
        </p:nvSpPr>
        <p:spPr>
          <a:xfrm xmlns:a="http://schemas.openxmlformats.org/drawingml/2006/main">
            <a:off x="6362700" y="203835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111827"/>
                </a:solidFill>
                <a:latin typeface="Aptos"/>
                <a:ea typeface="Aptos"/>
                <a:cs typeface="Aptos"/>
              </a:defRPr>
            </a:pPr>
            <a:r>
              <a:rPr sz="1125" b="1">
                <a:solidFill>
                  <a:srgbClr val="111827"/>
                </a:solidFill>
                <a:latin typeface="Aptos"/>
                <a:ea typeface="Aptos"/>
                <a:cs typeface="Aptos"/>
              </a:rPr>
              <a:t>72</a:t>
            </a:r>
          </a:p>
        </p:txBody>
      </p:sp>
      <p:sp>
        <p:nvSpPr>
          <p:cNvPr id="11" name="">
            <a:extLst xmlns:a="http://schemas.openxmlformats.org/drawingml/2006/main">
              <a:ext uri="{FF2B5EF4-FFF2-40B4-BE49-F238E27FC236}">
                <a16:creationId xmlns:a16="http://schemas.microsoft.com/office/drawing/2014/main" id="{A33FFB90-8488-474A-8E70-63B5709AAF09}"/>
              </a:ext>
            </a:extLst>
          </p:cNvPr>
          <p:cNvSpPr>
            <a:spLocks xmlns:a="http://schemas.openxmlformats.org/drawingml/2006/main" noGrp="1"/>
          </p:cNvSpPr>
          <p:nvPr/>
        </p:nvSpPr>
        <p:spPr>
          <a:xfrm xmlns:a="http://schemas.openxmlformats.org/drawingml/2006/main">
            <a:off x="857250" y="24955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34155"/>
                </a:solidFill>
                <a:latin typeface="Aptos"/>
                <a:ea typeface="Aptos"/>
                <a:cs typeface="Aptos"/>
              </a:defRPr>
            </a:pPr>
            <a:r>
              <a:rPr sz="1125">
                <a:solidFill>
                  <a:srgbClr val="334155"/>
                </a:solidFill>
                <a:latin typeface="Aptos"/>
                <a:ea typeface="Aptos"/>
                <a:cs typeface="Aptos"/>
              </a:rPr>
              <a:t>Surprise</a:t>
            </a:r>
          </a:p>
        </p:txBody>
      </p:sp>
      <p:sp>
        <p:nvSpPr>
          <p:cNvPr id="12" name="">
            <a:extLst xmlns:a="http://schemas.openxmlformats.org/drawingml/2006/main">
              <a:ext uri="{FF2B5EF4-FFF2-40B4-BE49-F238E27FC236}">
                <a16:creationId xmlns:a16="http://schemas.microsoft.com/office/drawing/2014/main" id="{5F3A2B7F-2ECA-4D9C-8A18-C81D76F3FD11}"/>
              </a:ext>
            </a:extLst>
          </p:cNvPr>
          <p:cNvSpPr>
            <a:spLocks xmlns:a="http://schemas.openxmlformats.org/drawingml/2006/main" noGrp="1"/>
          </p:cNvSpPr>
          <p:nvPr/>
        </p:nvSpPr>
        <p:spPr>
          <a:xfrm xmlns:a="http://schemas.openxmlformats.org/drawingml/2006/main">
            <a:off x="2209800" y="2476500"/>
            <a:ext cx="4000500" cy="266700"/>
          </a:xfrm>
          <a:prstGeom xmlns:a="http://schemas.openxmlformats.org/drawingml/2006/main" prst="roundRect">
            <a:avLst>
              <a:gd name="adj" fmla="val 50000"/>
            </a:avLst>
          </a:prstGeom>
          <a:solidFill xmlns:a="http://schemas.openxmlformats.org/drawingml/2006/main">
            <a:srgbClr val="E8EEF6"/>
          </a:solidFill>
          <a:ln xmlns:a="http://schemas.openxmlformats.org/drawingml/2006/main" w="0">
            <a:solidFill>
              <a:srgbClr val="E8EEF6"/>
            </a:solidFill>
            <a:prstDash val="solid"/>
          </a:ln>
        </p:spPr>
      </p:sp>
      <p:sp>
        <p:nvSpPr>
          <p:cNvPr id="13" name="">
            <a:extLst xmlns:a="http://schemas.openxmlformats.org/drawingml/2006/main">
              <a:ext uri="{FF2B5EF4-FFF2-40B4-BE49-F238E27FC236}">
                <a16:creationId xmlns:a16="http://schemas.microsoft.com/office/drawing/2014/main" id="{587AEFBD-F160-4C4A-9404-868319C52BC1}"/>
              </a:ext>
            </a:extLst>
          </p:cNvPr>
          <p:cNvSpPr>
            <a:spLocks xmlns:a="http://schemas.openxmlformats.org/drawingml/2006/main" noGrp="1"/>
          </p:cNvSpPr>
          <p:nvPr/>
        </p:nvSpPr>
        <p:spPr>
          <a:xfrm xmlns:a="http://schemas.openxmlformats.org/drawingml/2006/main">
            <a:off x="2209800" y="2476500"/>
            <a:ext cx="2000250" cy="266700"/>
          </a:xfrm>
          <a:prstGeom xmlns:a="http://schemas.openxmlformats.org/drawingml/2006/main" prst="roundRect">
            <a:avLst>
              <a:gd name="adj" fmla="val 50000"/>
            </a:avLst>
          </a:prstGeom>
          <a:solidFill xmlns:a="http://schemas.openxmlformats.org/drawingml/2006/main">
            <a:srgbClr val="818CF8"/>
          </a:solidFill>
          <a:ln xmlns:a="http://schemas.openxmlformats.org/drawingml/2006/main" w="0">
            <a:solidFill>
              <a:srgbClr val="818CF8"/>
            </a:solidFill>
            <a:prstDash val="solid"/>
          </a:ln>
        </p:spPr>
      </p:sp>
      <p:sp>
        <p:nvSpPr>
          <p:cNvPr id="14" name="">
            <a:extLst xmlns:a="http://schemas.openxmlformats.org/drawingml/2006/main">
              <a:ext uri="{FF2B5EF4-FFF2-40B4-BE49-F238E27FC236}">
                <a16:creationId xmlns:a16="http://schemas.microsoft.com/office/drawing/2014/main" id="{2646191F-79EE-4C6B-830B-78AB56A7D64D}"/>
              </a:ext>
            </a:extLst>
          </p:cNvPr>
          <p:cNvSpPr>
            <a:spLocks xmlns:a="http://schemas.openxmlformats.org/drawingml/2006/main" noGrp="1"/>
          </p:cNvSpPr>
          <p:nvPr/>
        </p:nvSpPr>
        <p:spPr>
          <a:xfrm xmlns:a="http://schemas.openxmlformats.org/drawingml/2006/main">
            <a:off x="6362700" y="247650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111827"/>
                </a:solidFill>
                <a:latin typeface="Aptos"/>
                <a:ea typeface="Aptos"/>
                <a:cs typeface="Aptos"/>
              </a:defRPr>
            </a:pPr>
            <a:r>
              <a:rPr sz="1125" b="1">
                <a:solidFill>
                  <a:srgbClr val="111827"/>
                </a:solidFill>
                <a:latin typeface="Aptos"/>
                <a:ea typeface="Aptos"/>
                <a:cs typeface="Aptos"/>
              </a:rPr>
              <a:t>50</a:t>
            </a:r>
          </a:p>
        </p:txBody>
      </p:sp>
      <p:sp>
        <p:nvSpPr>
          <p:cNvPr id="15" name="">
            <a:extLst xmlns:a="http://schemas.openxmlformats.org/drawingml/2006/main">
              <a:ext uri="{FF2B5EF4-FFF2-40B4-BE49-F238E27FC236}">
                <a16:creationId xmlns:a16="http://schemas.microsoft.com/office/drawing/2014/main" id="{0CE15FF5-5757-4084-AC16-204559D96A8C}"/>
              </a:ext>
            </a:extLst>
          </p:cNvPr>
          <p:cNvSpPr>
            <a:spLocks xmlns:a="http://schemas.openxmlformats.org/drawingml/2006/main" noGrp="1"/>
          </p:cNvSpPr>
          <p:nvPr/>
        </p:nvSpPr>
        <p:spPr>
          <a:xfrm xmlns:a="http://schemas.openxmlformats.org/drawingml/2006/main">
            <a:off x="857250" y="29337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34155"/>
                </a:solidFill>
                <a:latin typeface="Aptos"/>
                <a:ea typeface="Aptos"/>
                <a:cs typeface="Aptos"/>
              </a:defRPr>
            </a:pPr>
            <a:r>
              <a:rPr sz="1125">
                <a:solidFill>
                  <a:srgbClr val="334155"/>
                </a:solidFill>
                <a:latin typeface="Aptos"/>
                <a:ea typeface="Aptos"/>
                <a:cs typeface="Aptos"/>
              </a:rPr>
              <a:t>Fatigue</a:t>
            </a:r>
          </a:p>
        </p:txBody>
      </p:sp>
      <p:sp>
        <p:nvSpPr>
          <p:cNvPr id="16" name="">
            <a:extLst xmlns:a="http://schemas.openxmlformats.org/drawingml/2006/main">
              <a:ext uri="{FF2B5EF4-FFF2-40B4-BE49-F238E27FC236}">
                <a16:creationId xmlns:a16="http://schemas.microsoft.com/office/drawing/2014/main" id="{FBDA0E9C-5EDC-4D3D-A8D3-48131DB8F7B7}"/>
              </a:ext>
            </a:extLst>
          </p:cNvPr>
          <p:cNvSpPr>
            <a:spLocks xmlns:a="http://schemas.openxmlformats.org/drawingml/2006/main" noGrp="1"/>
          </p:cNvSpPr>
          <p:nvPr/>
        </p:nvSpPr>
        <p:spPr>
          <a:xfrm xmlns:a="http://schemas.openxmlformats.org/drawingml/2006/main">
            <a:off x="2209800" y="2914650"/>
            <a:ext cx="4000500" cy="266700"/>
          </a:xfrm>
          <a:prstGeom xmlns:a="http://schemas.openxmlformats.org/drawingml/2006/main" prst="roundRect">
            <a:avLst>
              <a:gd name="adj" fmla="val 50000"/>
            </a:avLst>
          </a:prstGeom>
          <a:solidFill xmlns:a="http://schemas.openxmlformats.org/drawingml/2006/main">
            <a:srgbClr val="E8EEF6"/>
          </a:solidFill>
          <a:ln xmlns:a="http://schemas.openxmlformats.org/drawingml/2006/main" w="0">
            <a:solidFill>
              <a:srgbClr val="E8EEF6"/>
            </a:solidFill>
            <a:prstDash val="solid"/>
          </a:ln>
        </p:spPr>
      </p:sp>
      <p:sp>
        <p:nvSpPr>
          <p:cNvPr id="17" name="">
            <a:extLst xmlns:a="http://schemas.openxmlformats.org/drawingml/2006/main">
              <a:ext uri="{FF2B5EF4-FFF2-40B4-BE49-F238E27FC236}">
                <a16:creationId xmlns:a16="http://schemas.microsoft.com/office/drawing/2014/main" id="{2B915E27-FB3A-418E-800C-856D8B925003}"/>
              </a:ext>
            </a:extLst>
          </p:cNvPr>
          <p:cNvSpPr>
            <a:spLocks xmlns:a="http://schemas.openxmlformats.org/drawingml/2006/main" noGrp="1"/>
          </p:cNvSpPr>
          <p:nvPr/>
        </p:nvSpPr>
        <p:spPr>
          <a:xfrm xmlns:a="http://schemas.openxmlformats.org/drawingml/2006/main">
            <a:off x="2209800" y="2914650"/>
            <a:ext cx="1400175" cy="266700"/>
          </a:xfrm>
          <a:prstGeom xmlns:a="http://schemas.openxmlformats.org/drawingml/2006/main" prst="roundRect">
            <a:avLst>
              <a:gd name="adj" fmla="val 50000"/>
            </a:avLst>
          </a:prstGeom>
          <a:solidFill xmlns:a="http://schemas.openxmlformats.org/drawingml/2006/main">
            <a:srgbClr val="B18149"/>
          </a:solidFill>
          <a:ln xmlns:a="http://schemas.openxmlformats.org/drawingml/2006/main" w="0">
            <a:solidFill>
              <a:srgbClr val="B18149"/>
            </a:solidFill>
            <a:prstDash val="solid"/>
          </a:ln>
        </p:spPr>
      </p:sp>
      <p:sp>
        <p:nvSpPr>
          <p:cNvPr id="18" name="">
            <a:extLst xmlns:a="http://schemas.openxmlformats.org/drawingml/2006/main">
              <a:ext uri="{FF2B5EF4-FFF2-40B4-BE49-F238E27FC236}">
                <a16:creationId xmlns:a16="http://schemas.microsoft.com/office/drawing/2014/main" id="{6DA92403-A00A-45B2-B095-91525259DA3C}"/>
              </a:ext>
            </a:extLst>
          </p:cNvPr>
          <p:cNvSpPr>
            <a:spLocks xmlns:a="http://schemas.openxmlformats.org/drawingml/2006/main" noGrp="1"/>
          </p:cNvSpPr>
          <p:nvPr/>
        </p:nvSpPr>
        <p:spPr>
          <a:xfrm xmlns:a="http://schemas.openxmlformats.org/drawingml/2006/main">
            <a:off x="6362700" y="291465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111827"/>
                </a:solidFill>
                <a:latin typeface="Aptos"/>
                <a:ea typeface="Aptos"/>
                <a:cs typeface="Aptos"/>
              </a:defRPr>
            </a:pPr>
            <a:r>
              <a:rPr sz="1125" b="1">
                <a:solidFill>
                  <a:srgbClr val="111827"/>
                </a:solidFill>
                <a:latin typeface="Aptos"/>
                <a:ea typeface="Aptos"/>
                <a:cs typeface="Aptos"/>
              </a:rPr>
              <a:t>35</a:t>
            </a:r>
          </a:p>
        </p:txBody>
      </p:sp>
      <p:sp>
        <p:nvSpPr>
          <p:cNvPr id="19" name="">
            <a:extLst xmlns:a="http://schemas.openxmlformats.org/drawingml/2006/main">
              <a:ext uri="{FF2B5EF4-FFF2-40B4-BE49-F238E27FC236}">
                <a16:creationId xmlns:a16="http://schemas.microsoft.com/office/drawing/2014/main" id="{6D9E6DD0-27A9-4428-B0FC-EAAEFDFFACCA}"/>
              </a:ext>
            </a:extLst>
          </p:cNvPr>
          <p:cNvSpPr>
            <a:spLocks xmlns:a="http://schemas.openxmlformats.org/drawingml/2006/main" noGrp="1"/>
          </p:cNvSpPr>
          <p:nvPr/>
        </p:nvSpPr>
        <p:spPr>
          <a:xfrm xmlns:a="http://schemas.openxmlformats.org/drawingml/2006/main">
            <a:off x="857250" y="33718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34155"/>
                </a:solidFill>
                <a:latin typeface="Aptos"/>
                <a:ea typeface="Aptos"/>
                <a:cs typeface="Aptos"/>
              </a:defRPr>
            </a:pPr>
            <a:r>
              <a:rPr sz="1125">
                <a:solidFill>
                  <a:srgbClr val="334155"/>
                </a:solidFill>
                <a:latin typeface="Aptos"/>
                <a:ea typeface="Aptos"/>
                <a:cs typeface="Aptos"/>
              </a:rPr>
              <a:t>Anxiety</a:t>
            </a:r>
          </a:p>
        </p:txBody>
      </p:sp>
      <p:sp>
        <p:nvSpPr>
          <p:cNvPr id="20" name="">
            <a:extLst xmlns:a="http://schemas.openxmlformats.org/drawingml/2006/main">
              <a:ext uri="{FF2B5EF4-FFF2-40B4-BE49-F238E27FC236}">
                <a16:creationId xmlns:a16="http://schemas.microsoft.com/office/drawing/2014/main" id="{C5886FE4-6426-4C7C-9A67-5F6385C9D16F}"/>
              </a:ext>
            </a:extLst>
          </p:cNvPr>
          <p:cNvSpPr>
            <a:spLocks xmlns:a="http://schemas.openxmlformats.org/drawingml/2006/main" noGrp="1"/>
          </p:cNvSpPr>
          <p:nvPr/>
        </p:nvSpPr>
        <p:spPr>
          <a:xfrm xmlns:a="http://schemas.openxmlformats.org/drawingml/2006/main">
            <a:off x="2209800" y="3352800"/>
            <a:ext cx="4000500" cy="266700"/>
          </a:xfrm>
          <a:prstGeom xmlns:a="http://schemas.openxmlformats.org/drawingml/2006/main" prst="roundRect">
            <a:avLst>
              <a:gd name="adj" fmla="val 50000"/>
            </a:avLst>
          </a:prstGeom>
          <a:solidFill xmlns:a="http://schemas.openxmlformats.org/drawingml/2006/main">
            <a:srgbClr val="E8EEF6"/>
          </a:solidFill>
          <a:ln xmlns:a="http://schemas.openxmlformats.org/drawingml/2006/main" w="0">
            <a:solidFill>
              <a:srgbClr val="E8EEF6"/>
            </a:solidFill>
            <a:prstDash val="solid"/>
          </a:ln>
        </p:spPr>
      </p:sp>
      <p:sp>
        <p:nvSpPr>
          <p:cNvPr id="21" name="">
            <a:extLst xmlns:a="http://schemas.openxmlformats.org/drawingml/2006/main">
              <a:ext uri="{FF2B5EF4-FFF2-40B4-BE49-F238E27FC236}">
                <a16:creationId xmlns:a16="http://schemas.microsoft.com/office/drawing/2014/main" id="{D7405EDD-7B58-4EA2-83CD-98CA51CB45B1}"/>
              </a:ext>
            </a:extLst>
          </p:cNvPr>
          <p:cNvSpPr>
            <a:spLocks xmlns:a="http://schemas.openxmlformats.org/drawingml/2006/main" noGrp="1"/>
          </p:cNvSpPr>
          <p:nvPr/>
        </p:nvSpPr>
        <p:spPr>
          <a:xfrm xmlns:a="http://schemas.openxmlformats.org/drawingml/2006/main">
            <a:off x="2209800" y="3352800"/>
            <a:ext cx="880110" cy="266700"/>
          </a:xfrm>
          <a:prstGeom xmlns:a="http://schemas.openxmlformats.org/drawingml/2006/main" prst="roundRect">
            <a:avLst>
              <a:gd name="adj" fmla="val 50000"/>
            </a:avLst>
          </a:prstGeom>
          <a:solidFill xmlns:a="http://schemas.openxmlformats.org/drawingml/2006/main">
            <a:srgbClr val="E37D36"/>
          </a:solidFill>
          <a:ln xmlns:a="http://schemas.openxmlformats.org/drawingml/2006/main" w="0">
            <a:solidFill>
              <a:srgbClr val="E37D36"/>
            </a:solidFill>
            <a:prstDash val="solid"/>
          </a:ln>
        </p:spPr>
      </p:sp>
      <p:sp>
        <p:nvSpPr>
          <p:cNvPr id="22" name="">
            <a:extLst xmlns:a="http://schemas.openxmlformats.org/drawingml/2006/main">
              <a:ext uri="{FF2B5EF4-FFF2-40B4-BE49-F238E27FC236}">
                <a16:creationId xmlns:a16="http://schemas.microsoft.com/office/drawing/2014/main" id="{4136275F-A38B-4AF8-A7C3-614BF58BB921}"/>
              </a:ext>
            </a:extLst>
          </p:cNvPr>
          <p:cNvSpPr>
            <a:spLocks xmlns:a="http://schemas.openxmlformats.org/drawingml/2006/main" noGrp="1"/>
          </p:cNvSpPr>
          <p:nvPr/>
        </p:nvSpPr>
        <p:spPr>
          <a:xfrm xmlns:a="http://schemas.openxmlformats.org/drawingml/2006/main">
            <a:off x="6362700" y="335280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111827"/>
                </a:solidFill>
                <a:latin typeface="Aptos"/>
                <a:ea typeface="Aptos"/>
                <a:cs typeface="Aptos"/>
              </a:defRPr>
            </a:pPr>
            <a:r>
              <a:rPr sz="1125" b="1">
                <a:solidFill>
                  <a:srgbClr val="111827"/>
                </a:solidFill>
                <a:latin typeface="Aptos"/>
                <a:ea typeface="Aptos"/>
                <a:cs typeface="Aptos"/>
              </a:rPr>
              <a:t>22</a:t>
            </a:r>
          </a:p>
        </p:txBody>
      </p:sp>
      <p:sp>
        <p:nvSpPr>
          <p:cNvPr id="23" name="">
            <a:extLst xmlns:a="http://schemas.openxmlformats.org/drawingml/2006/main">
              <a:ext uri="{FF2B5EF4-FFF2-40B4-BE49-F238E27FC236}">
                <a16:creationId xmlns:a16="http://schemas.microsoft.com/office/drawing/2014/main" id="{0ED6A861-E45C-455D-A998-43D68057EDE3}"/>
              </a:ext>
            </a:extLst>
          </p:cNvPr>
          <p:cNvSpPr>
            <a:spLocks xmlns:a="http://schemas.openxmlformats.org/drawingml/2006/main" noGrp="1"/>
          </p:cNvSpPr>
          <p:nvPr/>
        </p:nvSpPr>
        <p:spPr>
          <a:xfrm xmlns:a="http://schemas.openxmlformats.org/drawingml/2006/main">
            <a:off x="857250" y="3810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34155"/>
                </a:solidFill>
                <a:latin typeface="Aptos"/>
                <a:ea typeface="Aptos"/>
                <a:cs typeface="Aptos"/>
              </a:defRPr>
            </a:pPr>
            <a:r>
              <a:rPr sz="1125">
                <a:solidFill>
                  <a:srgbClr val="334155"/>
                </a:solidFill>
                <a:latin typeface="Aptos"/>
                <a:ea typeface="Aptos"/>
                <a:cs typeface="Aptos"/>
              </a:rPr>
              <a:t>Anger</a:t>
            </a:r>
          </a:p>
        </p:txBody>
      </p:sp>
      <p:sp>
        <p:nvSpPr>
          <p:cNvPr id="24" name="">
            <a:extLst xmlns:a="http://schemas.openxmlformats.org/drawingml/2006/main">
              <a:ext uri="{FF2B5EF4-FFF2-40B4-BE49-F238E27FC236}">
                <a16:creationId xmlns:a16="http://schemas.microsoft.com/office/drawing/2014/main" id="{F12D5555-C6D6-4924-9DE4-AC96283FE6DA}"/>
              </a:ext>
            </a:extLst>
          </p:cNvPr>
          <p:cNvSpPr>
            <a:spLocks xmlns:a="http://schemas.openxmlformats.org/drawingml/2006/main" noGrp="1"/>
          </p:cNvSpPr>
          <p:nvPr/>
        </p:nvSpPr>
        <p:spPr>
          <a:xfrm xmlns:a="http://schemas.openxmlformats.org/drawingml/2006/main">
            <a:off x="2209800" y="3790950"/>
            <a:ext cx="4000500" cy="266700"/>
          </a:xfrm>
          <a:prstGeom xmlns:a="http://schemas.openxmlformats.org/drawingml/2006/main" prst="roundRect">
            <a:avLst>
              <a:gd name="adj" fmla="val 50000"/>
            </a:avLst>
          </a:prstGeom>
          <a:solidFill xmlns:a="http://schemas.openxmlformats.org/drawingml/2006/main">
            <a:srgbClr val="E8EEF6"/>
          </a:solidFill>
          <a:ln xmlns:a="http://schemas.openxmlformats.org/drawingml/2006/main" w="0">
            <a:solidFill>
              <a:srgbClr val="E8EEF6"/>
            </a:solidFill>
            <a:prstDash val="solid"/>
          </a:ln>
        </p:spPr>
      </p:sp>
      <p:sp>
        <p:nvSpPr>
          <p:cNvPr id="25" name="">
            <a:extLst xmlns:a="http://schemas.openxmlformats.org/drawingml/2006/main">
              <a:ext uri="{FF2B5EF4-FFF2-40B4-BE49-F238E27FC236}">
                <a16:creationId xmlns:a16="http://schemas.microsoft.com/office/drawing/2014/main" id="{60A8EBCC-2533-481B-9963-952E039FFF71}"/>
              </a:ext>
            </a:extLst>
          </p:cNvPr>
          <p:cNvSpPr>
            <a:spLocks xmlns:a="http://schemas.openxmlformats.org/drawingml/2006/main" noGrp="1"/>
          </p:cNvSpPr>
          <p:nvPr/>
        </p:nvSpPr>
        <p:spPr>
          <a:xfrm xmlns:a="http://schemas.openxmlformats.org/drawingml/2006/main">
            <a:off x="2209800" y="3790950"/>
            <a:ext cx="600075" cy="266700"/>
          </a:xfrm>
          <a:prstGeom xmlns:a="http://schemas.openxmlformats.org/drawingml/2006/main" prst="roundRect">
            <a:avLst>
              <a:gd name="adj" fmla="val 50000"/>
            </a:avLst>
          </a:prstGeom>
          <a:solidFill xmlns:a="http://schemas.openxmlformats.org/drawingml/2006/main">
            <a:srgbClr val="CF4446"/>
          </a:solidFill>
          <a:ln xmlns:a="http://schemas.openxmlformats.org/drawingml/2006/main" w="0">
            <a:solidFill>
              <a:srgbClr val="CF4446"/>
            </a:solidFill>
            <a:prstDash val="solid"/>
          </a:ln>
        </p:spPr>
      </p:sp>
      <p:sp>
        <p:nvSpPr>
          <p:cNvPr id="26" name="">
            <a:extLst xmlns:a="http://schemas.openxmlformats.org/drawingml/2006/main">
              <a:ext uri="{FF2B5EF4-FFF2-40B4-BE49-F238E27FC236}">
                <a16:creationId xmlns:a16="http://schemas.microsoft.com/office/drawing/2014/main" id="{5C9D5123-6B2E-437A-9A1D-4CC82EC20ADB}"/>
              </a:ext>
            </a:extLst>
          </p:cNvPr>
          <p:cNvSpPr>
            <a:spLocks xmlns:a="http://schemas.openxmlformats.org/drawingml/2006/main" noGrp="1"/>
          </p:cNvSpPr>
          <p:nvPr/>
        </p:nvSpPr>
        <p:spPr>
          <a:xfrm xmlns:a="http://schemas.openxmlformats.org/drawingml/2006/main">
            <a:off x="6362700" y="379095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111827"/>
                </a:solidFill>
                <a:latin typeface="Aptos"/>
                <a:ea typeface="Aptos"/>
                <a:cs typeface="Aptos"/>
              </a:defRPr>
            </a:pPr>
            <a:r>
              <a:rPr sz="1125" b="1">
                <a:solidFill>
                  <a:srgbClr val="111827"/>
                </a:solidFill>
                <a:latin typeface="Aptos"/>
                <a:ea typeface="Aptos"/>
                <a:cs typeface="Aptos"/>
              </a:rPr>
              <a:t>15</a:t>
            </a:r>
          </a:p>
        </p:txBody>
      </p:sp>
      <p:sp>
        <p:nvSpPr>
          <p:cNvPr id="27" name="">
            <a:extLst xmlns:a="http://schemas.openxmlformats.org/drawingml/2006/main">
              <a:ext uri="{FF2B5EF4-FFF2-40B4-BE49-F238E27FC236}">
                <a16:creationId xmlns:a16="http://schemas.microsoft.com/office/drawing/2014/main" id="{78C1E99A-732A-4A4F-A414-9607A3E7E400}"/>
              </a:ext>
            </a:extLst>
          </p:cNvPr>
          <p:cNvSpPr>
            <a:spLocks xmlns:a="http://schemas.openxmlformats.org/drawingml/2006/main" noGrp="1"/>
          </p:cNvSpPr>
          <p:nvPr/>
        </p:nvSpPr>
        <p:spPr>
          <a:xfrm xmlns:a="http://schemas.openxmlformats.org/drawingml/2006/main">
            <a:off x="857250" y="42481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34155"/>
                </a:solidFill>
                <a:latin typeface="Aptos"/>
                <a:ea typeface="Aptos"/>
                <a:cs typeface="Aptos"/>
              </a:defRPr>
            </a:pPr>
            <a:r>
              <a:rPr sz="1125">
                <a:solidFill>
                  <a:srgbClr val="334155"/>
                </a:solidFill>
                <a:latin typeface="Aptos"/>
                <a:ea typeface="Aptos"/>
                <a:cs typeface="Aptos"/>
              </a:rPr>
              <a:t>Fear</a:t>
            </a:r>
          </a:p>
        </p:txBody>
      </p:sp>
      <p:sp>
        <p:nvSpPr>
          <p:cNvPr id="28" name="">
            <a:extLst xmlns:a="http://schemas.openxmlformats.org/drawingml/2006/main">
              <a:ext uri="{FF2B5EF4-FFF2-40B4-BE49-F238E27FC236}">
                <a16:creationId xmlns:a16="http://schemas.microsoft.com/office/drawing/2014/main" id="{5AD6057B-E3C7-4FA3-8C8F-F3D4F55ABC00}"/>
              </a:ext>
            </a:extLst>
          </p:cNvPr>
          <p:cNvSpPr>
            <a:spLocks xmlns:a="http://schemas.openxmlformats.org/drawingml/2006/main" noGrp="1"/>
          </p:cNvSpPr>
          <p:nvPr/>
        </p:nvSpPr>
        <p:spPr>
          <a:xfrm xmlns:a="http://schemas.openxmlformats.org/drawingml/2006/main">
            <a:off x="2209800" y="4229100"/>
            <a:ext cx="4000500" cy="266700"/>
          </a:xfrm>
          <a:prstGeom xmlns:a="http://schemas.openxmlformats.org/drawingml/2006/main" prst="roundRect">
            <a:avLst>
              <a:gd name="adj" fmla="val 50000"/>
            </a:avLst>
          </a:prstGeom>
          <a:solidFill xmlns:a="http://schemas.openxmlformats.org/drawingml/2006/main">
            <a:srgbClr val="E8EEF6"/>
          </a:solidFill>
          <a:ln xmlns:a="http://schemas.openxmlformats.org/drawingml/2006/main" w="0">
            <a:solidFill>
              <a:srgbClr val="E8EEF6"/>
            </a:solidFill>
            <a:prstDash val="solid"/>
          </a:ln>
        </p:spPr>
      </p:sp>
      <p:sp>
        <p:nvSpPr>
          <p:cNvPr id="29" name="">
            <a:extLst xmlns:a="http://schemas.openxmlformats.org/drawingml/2006/main">
              <a:ext uri="{FF2B5EF4-FFF2-40B4-BE49-F238E27FC236}">
                <a16:creationId xmlns:a16="http://schemas.microsoft.com/office/drawing/2014/main" id="{7B2EFE03-96DD-41D0-84DD-5FB04DE28258}"/>
              </a:ext>
            </a:extLst>
          </p:cNvPr>
          <p:cNvSpPr>
            <a:spLocks xmlns:a="http://schemas.openxmlformats.org/drawingml/2006/main" noGrp="1"/>
          </p:cNvSpPr>
          <p:nvPr/>
        </p:nvSpPr>
        <p:spPr>
          <a:xfrm xmlns:a="http://schemas.openxmlformats.org/drawingml/2006/main">
            <a:off x="2209800" y="4229100"/>
            <a:ext cx="400050" cy="266700"/>
          </a:xfrm>
          <a:prstGeom xmlns:a="http://schemas.openxmlformats.org/drawingml/2006/main" prst="roundRect">
            <a:avLst>
              <a:gd name="adj" fmla="val 50000"/>
            </a:avLst>
          </a:prstGeom>
          <a:solidFill xmlns:a="http://schemas.openxmlformats.org/drawingml/2006/main">
            <a:srgbClr val="A05AAD"/>
          </a:solidFill>
          <a:ln xmlns:a="http://schemas.openxmlformats.org/drawingml/2006/main" w="0">
            <a:solidFill>
              <a:srgbClr val="A05AAD"/>
            </a:solidFill>
            <a:prstDash val="solid"/>
          </a:ln>
        </p:spPr>
      </p:sp>
      <p:sp>
        <p:nvSpPr>
          <p:cNvPr id="30" name="">
            <a:extLst xmlns:a="http://schemas.openxmlformats.org/drawingml/2006/main">
              <a:ext uri="{FF2B5EF4-FFF2-40B4-BE49-F238E27FC236}">
                <a16:creationId xmlns:a16="http://schemas.microsoft.com/office/drawing/2014/main" id="{94CEDCFE-3AE6-4C63-9586-77831F224FB8}"/>
              </a:ext>
            </a:extLst>
          </p:cNvPr>
          <p:cNvSpPr>
            <a:spLocks xmlns:a="http://schemas.openxmlformats.org/drawingml/2006/main" noGrp="1"/>
          </p:cNvSpPr>
          <p:nvPr/>
        </p:nvSpPr>
        <p:spPr>
          <a:xfrm xmlns:a="http://schemas.openxmlformats.org/drawingml/2006/main">
            <a:off x="6362700" y="422910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111827"/>
                </a:solidFill>
                <a:latin typeface="Aptos"/>
                <a:ea typeface="Aptos"/>
                <a:cs typeface="Aptos"/>
              </a:defRPr>
            </a:pPr>
            <a:r>
              <a:rPr sz="1125" b="1">
                <a:solidFill>
                  <a:srgbClr val="111827"/>
                </a:solidFill>
                <a:latin typeface="Aptos"/>
                <a:ea typeface="Aptos"/>
                <a:cs typeface="Aptos"/>
              </a:rPr>
              <a:t>10</a:t>
            </a:r>
          </a:p>
        </p:txBody>
      </p:sp>
      <p:sp>
        <p:nvSpPr>
          <p:cNvPr id="31" name="">
            <a:extLst xmlns:a="http://schemas.openxmlformats.org/drawingml/2006/main">
              <a:ext uri="{FF2B5EF4-FFF2-40B4-BE49-F238E27FC236}">
                <a16:creationId xmlns:a16="http://schemas.microsoft.com/office/drawing/2014/main" id="{049E799C-7E88-4663-8B77-74E9EDE610A8}"/>
              </a:ext>
            </a:extLst>
          </p:cNvPr>
          <p:cNvSpPr>
            <a:spLocks xmlns:a="http://schemas.openxmlformats.org/drawingml/2006/main" noGrp="1"/>
          </p:cNvSpPr>
          <p:nvPr/>
        </p:nvSpPr>
        <p:spPr>
          <a:xfrm xmlns:a="http://schemas.openxmlformats.org/drawingml/2006/main">
            <a:off x="7477125" y="1657350"/>
            <a:ext cx="3429000" cy="118110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2" name="">
            <a:extLst xmlns:a="http://schemas.openxmlformats.org/drawingml/2006/main">
              <a:ext uri="{FF2B5EF4-FFF2-40B4-BE49-F238E27FC236}">
                <a16:creationId xmlns:a16="http://schemas.microsoft.com/office/drawing/2014/main" id="{AEC2AD01-E9A3-4062-8A37-8AF4407373F4}"/>
              </a:ext>
            </a:extLst>
          </p:cNvPr>
          <p:cNvSpPr>
            <a:spLocks xmlns:a="http://schemas.openxmlformats.org/drawingml/2006/main" noGrp="1"/>
          </p:cNvSpPr>
          <p:nvPr/>
        </p:nvSpPr>
        <p:spPr>
          <a:xfrm xmlns:a="http://schemas.openxmlformats.org/drawingml/2006/main">
            <a:off x="7477125" y="1657350"/>
            <a:ext cx="66675" cy="1181100"/>
          </a:xfrm>
          <a:prstGeom xmlns:a="http://schemas.openxmlformats.org/drawingml/2006/main" prst="rect">
            <a:avLst/>
          </a:prstGeom>
          <a:solidFill xmlns:a="http://schemas.openxmlformats.org/drawingml/2006/main">
            <a:srgbClr val="4338CA"/>
          </a:solidFill>
          <a:ln xmlns:a="http://schemas.openxmlformats.org/drawingml/2006/main" w="0">
            <a:solidFill>
              <a:srgbClr val="4338CA"/>
            </a:solidFill>
            <a:prstDash val="solid"/>
          </a:ln>
        </p:spPr>
      </p:sp>
      <p:sp>
        <p:nvSpPr>
          <p:cNvPr id="33" name="">
            <a:extLst xmlns:a="http://schemas.openxmlformats.org/drawingml/2006/main">
              <a:ext uri="{FF2B5EF4-FFF2-40B4-BE49-F238E27FC236}">
                <a16:creationId xmlns:a16="http://schemas.microsoft.com/office/drawing/2014/main" id="{80FA1F71-6568-4F1B-992E-ABBEB76122A4}"/>
              </a:ext>
            </a:extLst>
          </p:cNvPr>
          <p:cNvSpPr>
            <a:spLocks xmlns:a="http://schemas.openxmlformats.org/drawingml/2006/main" noGrp="1"/>
          </p:cNvSpPr>
          <p:nvPr/>
        </p:nvSpPr>
        <p:spPr>
          <a:xfrm xmlns:a="http://schemas.openxmlformats.org/drawingml/2006/main">
            <a:off x="7705725" y="1828800"/>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1">
                <a:solidFill>
                  <a:srgbClr val="111827"/>
                </a:solidFill>
                <a:latin typeface="Aptos"/>
                <a:ea typeface="Aptos"/>
                <a:cs typeface="Aptos"/>
              </a:defRPr>
            </a:pPr>
            <a:r>
              <a:rPr sz="1425" b="1">
                <a:solidFill>
                  <a:srgbClr val="111827"/>
                </a:solidFill>
                <a:latin typeface="Aptos"/>
                <a:ea typeface="Aptos"/>
                <a:cs typeface="Aptos"/>
              </a:rPr>
              <a:t>Facial engine</a:t>
            </a:r>
          </a:p>
        </p:txBody>
      </p:sp>
      <p:sp>
        <p:nvSpPr>
          <p:cNvPr id="34" name="">
            <a:extLst xmlns:a="http://schemas.openxmlformats.org/drawingml/2006/main">
              <a:ext uri="{FF2B5EF4-FFF2-40B4-BE49-F238E27FC236}">
                <a16:creationId xmlns:a16="http://schemas.microsoft.com/office/drawing/2014/main" id="{E9F2B29D-395D-4182-9BD9-ACCF5352D0B1}"/>
              </a:ext>
            </a:extLst>
          </p:cNvPr>
          <p:cNvSpPr>
            <a:spLocks xmlns:a="http://schemas.openxmlformats.org/drawingml/2006/main" noGrp="1"/>
          </p:cNvSpPr>
          <p:nvPr/>
        </p:nvSpPr>
        <p:spPr>
          <a:xfrm xmlns:a="http://schemas.openxmlformats.org/drawingml/2006/main">
            <a:off x="7705725" y="2171700"/>
            <a:ext cx="2971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40">
                <a:solidFill>
                  <a:srgbClr val="475569"/>
                </a:solidFill>
                <a:latin typeface="Aptos"/>
                <a:ea typeface="Aptos"/>
                <a:cs typeface="Aptos"/>
              </a:defRPr>
            </a:pPr>
            <a:r>
              <a:rPr sz="1140">
                <a:solidFill>
                  <a:srgbClr val="475569"/>
                </a:solidFill>
                <a:latin typeface="Aptos"/>
                <a:ea typeface="Aptos"/>
                <a:cs typeface="Aptos"/>
              </a:rPr>
              <a:t>MediaPipe FaceLandmarker returns 52 blendshape coefficients in live-stream mode.</a:t>
            </a:r>
          </a:p>
        </p:txBody>
      </p:sp>
      <p:sp>
        <p:nvSpPr>
          <p:cNvPr id="35" name="">
            <a:extLst xmlns:a="http://schemas.openxmlformats.org/drawingml/2006/main">
              <a:ext uri="{FF2B5EF4-FFF2-40B4-BE49-F238E27FC236}">
                <a16:creationId xmlns:a16="http://schemas.microsoft.com/office/drawing/2014/main" id="{8D8FF3D3-89B8-4236-89A6-5DDB9190BCF3}"/>
              </a:ext>
            </a:extLst>
          </p:cNvPr>
          <p:cNvSpPr>
            <a:spLocks xmlns:a="http://schemas.openxmlformats.org/drawingml/2006/main" noGrp="1"/>
          </p:cNvSpPr>
          <p:nvPr/>
        </p:nvSpPr>
        <p:spPr>
          <a:xfrm xmlns:a="http://schemas.openxmlformats.org/drawingml/2006/main">
            <a:off x="7477125" y="3143250"/>
            <a:ext cx="3429000" cy="118110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6" name="">
            <a:extLst xmlns:a="http://schemas.openxmlformats.org/drawingml/2006/main">
              <a:ext uri="{FF2B5EF4-FFF2-40B4-BE49-F238E27FC236}">
                <a16:creationId xmlns:a16="http://schemas.microsoft.com/office/drawing/2014/main" id="{E51FA608-E600-4386-A7E1-4BCB37F71526}"/>
              </a:ext>
            </a:extLst>
          </p:cNvPr>
          <p:cNvSpPr>
            <a:spLocks xmlns:a="http://schemas.openxmlformats.org/drawingml/2006/main" noGrp="1"/>
          </p:cNvSpPr>
          <p:nvPr/>
        </p:nvSpPr>
        <p:spPr>
          <a:xfrm xmlns:a="http://schemas.openxmlformats.org/drawingml/2006/main">
            <a:off x="7477125" y="3143250"/>
            <a:ext cx="66675" cy="1181100"/>
          </a:xfrm>
          <a:prstGeom xmlns:a="http://schemas.openxmlformats.org/drawingml/2006/main" prst="rect">
            <a:avLst/>
          </a:prstGeom>
          <a:solidFill xmlns:a="http://schemas.openxmlformats.org/drawingml/2006/main">
            <a:srgbClr val="10B981"/>
          </a:solidFill>
          <a:ln xmlns:a="http://schemas.openxmlformats.org/drawingml/2006/main" w="0">
            <a:solidFill>
              <a:srgbClr val="10B981"/>
            </a:solidFill>
            <a:prstDash val="solid"/>
          </a:ln>
        </p:spPr>
      </p:sp>
      <p:sp>
        <p:nvSpPr>
          <p:cNvPr id="37" name="">
            <a:extLst xmlns:a="http://schemas.openxmlformats.org/drawingml/2006/main">
              <a:ext uri="{FF2B5EF4-FFF2-40B4-BE49-F238E27FC236}">
                <a16:creationId xmlns:a16="http://schemas.microsoft.com/office/drawing/2014/main" id="{45E41CAC-8A19-4C0F-B0A2-C6954DEBCAD8}"/>
              </a:ext>
            </a:extLst>
          </p:cNvPr>
          <p:cNvSpPr>
            <a:spLocks xmlns:a="http://schemas.openxmlformats.org/drawingml/2006/main" noGrp="1"/>
          </p:cNvSpPr>
          <p:nvPr/>
        </p:nvSpPr>
        <p:spPr>
          <a:xfrm xmlns:a="http://schemas.openxmlformats.org/drawingml/2006/main">
            <a:off x="7705725" y="3314700"/>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1">
                <a:solidFill>
                  <a:srgbClr val="111827"/>
                </a:solidFill>
                <a:latin typeface="Aptos"/>
                <a:ea typeface="Aptos"/>
                <a:cs typeface="Aptos"/>
              </a:defRPr>
            </a:pPr>
            <a:r>
              <a:rPr sz="1425" b="1">
                <a:solidFill>
                  <a:srgbClr val="111827"/>
                </a:solidFill>
                <a:latin typeface="Aptos"/>
                <a:ea typeface="Aptos"/>
                <a:cs typeface="Aptos"/>
              </a:rPr>
              <a:t>Smoothing</a:t>
            </a:r>
          </a:p>
        </p:txBody>
      </p:sp>
      <p:sp>
        <p:nvSpPr>
          <p:cNvPr id="38" name="">
            <a:extLst xmlns:a="http://schemas.openxmlformats.org/drawingml/2006/main">
              <a:ext uri="{FF2B5EF4-FFF2-40B4-BE49-F238E27FC236}">
                <a16:creationId xmlns:a16="http://schemas.microsoft.com/office/drawing/2014/main" id="{1C2F5141-7407-42F4-A35C-0001ACB3B51F}"/>
              </a:ext>
            </a:extLst>
          </p:cNvPr>
          <p:cNvSpPr>
            <a:spLocks xmlns:a="http://schemas.openxmlformats.org/drawingml/2006/main" noGrp="1"/>
          </p:cNvSpPr>
          <p:nvPr/>
        </p:nvSpPr>
        <p:spPr>
          <a:xfrm xmlns:a="http://schemas.openxmlformats.org/drawingml/2006/main">
            <a:off x="7705725" y="3657600"/>
            <a:ext cx="2971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40">
                <a:solidFill>
                  <a:srgbClr val="475569"/>
                </a:solidFill>
                <a:latin typeface="Aptos"/>
                <a:ea typeface="Aptos"/>
                <a:cs typeface="Aptos"/>
              </a:defRPr>
            </a:pPr>
            <a:r>
              <a:rPr sz="1140">
                <a:solidFill>
                  <a:srgbClr val="475569"/>
                </a:solidFill>
                <a:latin typeface="Aptos"/>
                <a:ea typeface="Aptos"/>
                <a:cs typeface="Aptos"/>
              </a:rPr>
              <a:t>EWMA with alpha = 0.3 reduces frame-level jitter before feedback is shown.</a:t>
            </a:r>
          </a:p>
        </p:txBody>
      </p:sp>
      <p:sp>
        <p:nvSpPr>
          <p:cNvPr id="39" name="">
            <a:extLst xmlns:a="http://schemas.openxmlformats.org/drawingml/2006/main">
              <a:ext uri="{FF2B5EF4-FFF2-40B4-BE49-F238E27FC236}">
                <a16:creationId xmlns:a16="http://schemas.microsoft.com/office/drawing/2014/main" id="{8D70232F-E81F-4337-A8B9-B0381A4372A5}"/>
              </a:ext>
            </a:extLst>
          </p:cNvPr>
          <p:cNvSpPr>
            <a:spLocks xmlns:a="http://schemas.openxmlformats.org/drawingml/2006/main" noGrp="1"/>
          </p:cNvSpPr>
          <p:nvPr/>
        </p:nvSpPr>
        <p:spPr>
          <a:xfrm xmlns:a="http://schemas.openxmlformats.org/drawingml/2006/main">
            <a:off x="7477125" y="4629150"/>
            <a:ext cx="3429000" cy="10668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0" name="">
            <a:extLst xmlns:a="http://schemas.openxmlformats.org/drawingml/2006/main">
              <a:ext uri="{FF2B5EF4-FFF2-40B4-BE49-F238E27FC236}">
                <a16:creationId xmlns:a16="http://schemas.microsoft.com/office/drawing/2014/main" id="{13DAFAA3-6E77-471D-B763-438E5D4AE561}"/>
              </a:ext>
            </a:extLst>
          </p:cNvPr>
          <p:cNvSpPr>
            <a:spLocks xmlns:a="http://schemas.openxmlformats.org/drawingml/2006/main" noGrp="1"/>
          </p:cNvSpPr>
          <p:nvPr/>
        </p:nvSpPr>
        <p:spPr>
          <a:xfrm xmlns:a="http://schemas.openxmlformats.org/drawingml/2006/main">
            <a:off x="7477125" y="4629150"/>
            <a:ext cx="66675" cy="1066800"/>
          </a:xfrm>
          <a:prstGeom xmlns:a="http://schemas.openxmlformats.org/drawingml/2006/main" prst="rect">
            <a:avLst/>
          </a:prstGeom>
          <a:solidFill xmlns:a="http://schemas.openxmlformats.org/drawingml/2006/main">
            <a:srgbClr val="F59E0B"/>
          </a:solidFill>
          <a:ln xmlns:a="http://schemas.openxmlformats.org/drawingml/2006/main" w="0">
            <a:solidFill>
              <a:srgbClr val="F59E0B"/>
            </a:solidFill>
            <a:prstDash val="solid"/>
          </a:ln>
        </p:spPr>
      </p:sp>
      <p:sp>
        <p:nvSpPr>
          <p:cNvPr id="41" name="">
            <a:extLst xmlns:a="http://schemas.openxmlformats.org/drawingml/2006/main">
              <a:ext uri="{FF2B5EF4-FFF2-40B4-BE49-F238E27FC236}">
                <a16:creationId xmlns:a16="http://schemas.microsoft.com/office/drawing/2014/main" id="{0FD08B59-766E-4FCB-BE14-2B8F5424A80F}"/>
              </a:ext>
            </a:extLst>
          </p:cNvPr>
          <p:cNvSpPr>
            <a:spLocks xmlns:a="http://schemas.openxmlformats.org/drawingml/2006/main" noGrp="1"/>
          </p:cNvSpPr>
          <p:nvPr/>
        </p:nvSpPr>
        <p:spPr>
          <a:xfrm xmlns:a="http://schemas.openxmlformats.org/drawingml/2006/main">
            <a:off x="7705725" y="4800600"/>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1">
                <a:solidFill>
                  <a:srgbClr val="111827"/>
                </a:solidFill>
                <a:latin typeface="Aptos"/>
                <a:ea typeface="Aptos"/>
                <a:cs typeface="Aptos"/>
              </a:defRPr>
            </a:pPr>
            <a:r>
              <a:rPr sz="1425" b="1">
                <a:solidFill>
                  <a:srgbClr val="111827"/>
                </a:solidFill>
                <a:latin typeface="Aptos"/>
                <a:ea typeface="Aptos"/>
                <a:cs typeface="Aptos"/>
              </a:rPr>
              <a:t>Boundary</a:t>
            </a:r>
          </a:p>
        </p:txBody>
      </p:sp>
      <p:sp>
        <p:nvSpPr>
          <p:cNvPr id="42" name="">
            <a:extLst xmlns:a="http://schemas.openxmlformats.org/drawingml/2006/main">
              <a:ext uri="{FF2B5EF4-FFF2-40B4-BE49-F238E27FC236}">
                <a16:creationId xmlns:a16="http://schemas.microsoft.com/office/drawing/2014/main" id="{251D00BE-654D-4AAF-AFE5-3FFC3E780FC3}"/>
              </a:ext>
            </a:extLst>
          </p:cNvPr>
          <p:cNvSpPr>
            <a:spLocks xmlns:a="http://schemas.openxmlformats.org/drawingml/2006/main" noGrp="1"/>
          </p:cNvSpPr>
          <p:nvPr/>
        </p:nvSpPr>
        <p:spPr>
          <a:xfrm xmlns:a="http://schemas.openxmlformats.org/drawingml/2006/main">
            <a:off x="7705725" y="5143500"/>
            <a:ext cx="29718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40">
                <a:solidFill>
                  <a:srgbClr val="475569"/>
                </a:solidFill>
                <a:latin typeface="Aptos"/>
                <a:ea typeface="Aptos"/>
                <a:cs typeface="Aptos"/>
              </a:defRPr>
            </a:pPr>
            <a:r>
              <a:rPr sz="1140">
                <a:solidFill>
                  <a:srgbClr val="475569"/>
                </a:solidFill>
                <a:latin typeface="Aptos"/>
                <a:ea typeface="Aptos"/>
                <a:cs typeface="Aptos"/>
              </a:rPr>
              <a:t>Reflection index only; not a clinical diagnostic measurement.</a:t>
            </a:r>
          </a:p>
        </p:txBody>
      </p:sp>
      <p:sp>
        <p:nvSpPr>
          <p:cNvPr id="43" name="">
            <a:extLst xmlns:a="http://schemas.openxmlformats.org/drawingml/2006/main">
              <a:ext uri="{FF2B5EF4-FFF2-40B4-BE49-F238E27FC236}">
                <a16:creationId xmlns:a16="http://schemas.microsoft.com/office/drawing/2014/main" id="{166D0FBA-048A-4B37-B007-20A50844ED97}"/>
              </a:ext>
            </a:extLst>
          </p:cNvPr>
          <p:cNvSpPr>
            <a:spLocks xmlns:a="http://schemas.openxmlformats.org/drawingml/2006/main" noGrp="1"/>
          </p:cNvSpPr>
          <p:nvPr/>
        </p:nvSpPr>
        <p:spPr>
          <a:xfrm xmlns:a="http://schemas.openxmlformats.org/drawingml/2006/main">
            <a:off x="609600" y="64389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94A3B8"/>
                </a:solidFill>
                <a:latin typeface="Aptos"/>
                <a:ea typeface="Aptos"/>
                <a:cs typeface="Aptos"/>
              </a:defRPr>
            </a:pPr>
            <a:r>
              <a:rPr sz="825">
                <a:solidFill>
                  <a:srgbClr val="94A3B8"/>
                </a:solidFill>
                <a:latin typeface="Aptos"/>
                <a:ea typeface="Aptos"/>
                <a:cs typeface="Aptos"/>
              </a:rPr>
              <a:t>EmoScope | 5-minute oral presentation | 5/10</a:t>
            </a:r>
          </a:p>
        </p:txBody>
      </p:sp>
    </p:spTree>
    <p:extLst>
      <p:ext uri="{BB962C8B-B14F-4D97-AF65-F5344CB8AC3E}">
        <p14:creationId xmlns:p14="http://schemas.microsoft.com/office/powerpoint/2010/main" val="205473638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97DAB12-BAE9-49F2-B336-E7A7C0130FFC}"/>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111827"/>
                </a:solidFill>
                <a:latin typeface="Aptos Display"/>
                <a:ea typeface="Aptos Display"/>
                <a:cs typeface="Aptos Display"/>
              </a:defRPr>
            </a:pPr>
            <a:r>
              <a:rPr sz="2625" b="1">
                <a:solidFill>
                  <a:srgbClr val="111827"/>
                </a:solidFill>
                <a:latin typeface="Aptos Display"/>
                <a:ea typeface="Aptos Display"/>
                <a:cs typeface="Aptos Display"/>
              </a:rPr>
              <a:t>User workflow</a:t>
            </a:r>
          </a:p>
        </p:txBody>
      </p:sp>
      <p:sp>
        <p:nvSpPr>
          <p:cNvPr id="2" name="">
            <a:extLst xmlns:a="http://schemas.openxmlformats.org/drawingml/2006/main">
              <a:ext uri="{FF2B5EF4-FFF2-40B4-BE49-F238E27FC236}">
                <a16:creationId xmlns:a16="http://schemas.microsoft.com/office/drawing/2014/main" id="{F263A412-B5B0-4BA7-AB4D-E6552FA1C39F}"/>
              </a:ext>
            </a:extLst>
          </p:cNvPr>
          <p:cNvSpPr>
            <a:spLocks xmlns:a="http://schemas.openxmlformats.org/drawingml/2006/main" noGrp="1"/>
          </p:cNvSpPr>
          <p:nvPr/>
        </p:nvSpPr>
        <p:spPr>
          <a:xfrm xmlns:a="http://schemas.openxmlformats.org/drawingml/2006/main">
            <a:off x="628650" y="914400"/>
            <a:ext cx="885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64748B"/>
                </a:solidFill>
                <a:latin typeface="Aptos"/>
                <a:ea typeface="Aptos"/>
                <a:cs typeface="Aptos"/>
              </a:defRPr>
            </a:pPr>
            <a:r>
              <a:rPr sz="1200">
                <a:solidFill>
                  <a:srgbClr val="64748B"/>
                </a:solidFill>
                <a:latin typeface="Aptos"/>
                <a:ea typeface="Aptos"/>
                <a:cs typeface="Aptos"/>
              </a:rPr>
              <a:t>The interface connects immediate feedback, gentle action, and long-term review.</a:t>
            </a:r>
          </a:p>
        </p:txBody>
      </p:sp>
      <p:sp>
        <p:nvSpPr>
          <p:cNvPr id="3" name="">
            <a:extLst xmlns:a="http://schemas.openxmlformats.org/drawingml/2006/main">
              <a:ext uri="{FF2B5EF4-FFF2-40B4-BE49-F238E27FC236}">
                <a16:creationId xmlns:a16="http://schemas.microsoft.com/office/drawing/2014/main" id="{F15E8D69-707E-4564-BA41-7C036EEF7359}"/>
              </a:ext>
            </a:extLst>
          </p:cNvPr>
          <p:cNvSpPr>
            <a:spLocks xmlns:a="http://schemas.openxmlformats.org/drawingml/2006/main" noGrp="1"/>
          </p:cNvSpPr>
          <p:nvPr/>
        </p:nvSpPr>
        <p:spPr>
          <a:xfrm xmlns:a="http://schemas.openxmlformats.org/drawingml/2006/main">
            <a:off x="781050" y="1314450"/>
            <a:ext cx="2533650" cy="4914900"/>
          </a:xfrm>
          <a:prstGeom xmlns:a="http://schemas.openxmlformats.org/drawingml/2006/main" prst="roundRect">
            <a:avLst>
              <a:gd name="adj" fmla="val 9023"/>
            </a:avLst>
          </a:prstGeom>
          <a:solidFill xmlns:a="http://schemas.openxmlformats.org/drawingml/2006/main">
            <a:srgbClr val="111827"/>
          </a:solidFill>
          <a:ln xmlns:a="http://schemas.openxmlformats.org/drawingml/2006/main" w="0">
            <a:solidFill>
              <a:srgbClr val="111827"/>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d4f43dc5c4da4c4d"/>
          <a:stretch xmlns:a="http://schemas.openxmlformats.org/drawingml/2006/main"/>
        </p:blipFill>
        <p:spPr>
          <a:xfrm xmlns:a="http://schemas.openxmlformats.org/drawingml/2006/main">
            <a:off x="976313" y="1390650"/>
            <a:ext cx="2143125" cy="4762500"/>
          </a:xfrm>
          <a:prstGeom xmlns:a="http://schemas.openxmlformats.org/drawingml/2006/main" prst="roundRect">
            <a:avLst>
              <a:gd name="adj" fmla="val 6400"/>
            </a:avLst>
          </a:prstGeom>
        </p:spPr>
      </p:pic>
      <p:sp>
        <p:nvSpPr>
          <p:cNvPr id="5" name="">
            <a:extLst xmlns:a="http://schemas.openxmlformats.org/drawingml/2006/main">
              <a:ext uri="{FF2B5EF4-FFF2-40B4-BE49-F238E27FC236}">
                <a16:creationId xmlns:a16="http://schemas.microsoft.com/office/drawing/2014/main" id="{484F66A9-69F1-4A5C-9E38-A30855A6F11D}"/>
              </a:ext>
            </a:extLst>
          </p:cNvPr>
          <p:cNvSpPr>
            <a:spLocks xmlns:a="http://schemas.openxmlformats.org/drawingml/2006/main" noGrp="1"/>
          </p:cNvSpPr>
          <p:nvPr/>
        </p:nvSpPr>
        <p:spPr>
          <a:xfrm xmlns:a="http://schemas.openxmlformats.org/drawingml/2006/main">
            <a:off x="3638550" y="1314450"/>
            <a:ext cx="2533650" cy="4914900"/>
          </a:xfrm>
          <a:prstGeom xmlns:a="http://schemas.openxmlformats.org/drawingml/2006/main" prst="roundRect">
            <a:avLst>
              <a:gd name="adj" fmla="val 9023"/>
            </a:avLst>
          </a:prstGeom>
          <a:solidFill xmlns:a="http://schemas.openxmlformats.org/drawingml/2006/main">
            <a:srgbClr val="111827"/>
          </a:solidFill>
          <a:ln xmlns:a="http://schemas.openxmlformats.org/drawingml/2006/main" w="0">
            <a:solidFill>
              <a:srgbClr val="111827"/>
            </a:solidFill>
            <a:prstDash val="solid"/>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c6b18764f31e4c46"/>
          <a:stretch xmlns:a="http://schemas.openxmlformats.org/drawingml/2006/main"/>
        </p:blipFill>
        <p:spPr>
          <a:xfrm xmlns:a="http://schemas.openxmlformats.org/drawingml/2006/main">
            <a:off x="3833813" y="1390650"/>
            <a:ext cx="2143125" cy="4762500"/>
          </a:xfrm>
          <a:prstGeom xmlns:a="http://schemas.openxmlformats.org/drawingml/2006/main" prst="roundRect">
            <a:avLst>
              <a:gd name="adj" fmla="val 6400"/>
            </a:avLst>
          </a:prstGeom>
        </p:spPr>
      </p:pic>
      <p:sp>
        <p:nvSpPr>
          <p:cNvPr id="7" name="">
            <a:extLst xmlns:a="http://schemas.openxmlformats.org/drawingml/2006/main">
              <a:ext uri="{FF2B5EF4-FFF2-40B4-BE49-F238E27FC236}">
                <a16:creationId xmlns:a16="http://schemas.microsoft.com/office/drawing/2014/main" id="{B3FC2B80-E7EE-4FD6-AE25-DB7CF4ADE78E}"/>
              </a:ext>
            </a:extLst>
          </p:cNvPr>
          <p:cNvSpPr>
            <a:spLocks xmlns:a="http://schemas.openxmlformats.org/drawingml/2006/main" noGrp="1"/>
          </p:cNvSpPr>
          <p:nvPr/>
        </p:nvSpPr>
        <p:spPr>
          <a:xfrm xmlns:a="http://schemas.openxmlformats.org/drawingml/2006/main">
            <a:off x="6496050" y="1314450"/>
            <a:ext cx="2533650" cy="4914900"/>
          </a:xfrm>
          <a:prstGeom xmlns:a="http://schemas.openxmlformats.org/drawingml/2006/main" prst="roundRect">
            <a:avLst>
              <a:gd name="adj" fmla="val 9023"/>
            </a:avLst>
          </a:prstGeom>
          <a:solidFill xmlns:a="http://schemas.openxmlformats.org/drawingml/2006/main">
            <a:srgbClr val="111827"/>
          </a:solidFill>
          <a:ln xmlns:a="http://schemas.openxmlformats.org/drawingml/2006/main" w="0">
            <a:solidFill>
              <a:srgbClr val="111827"/>
            </a:solid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0cd6b2fa6e2d4fcf"/>
          <a:stretch xmlns:a="http://schemas.openxmlformats.org/drawingml/2006/main"/>
        </p:blipFill>
        <p:spPr>
          <a:xfrm xmlns:a="http://schemas.openxmlformats.org/drawingml/2006/main">
            <a:off x="6691313" y="1390650"/>
            <a:ext cx="2143125" cy="4762500"/>
          </a:xfrm>
          <a:prstGeom xmlns:a="http://schemas.openxmlformats.org/drawingml/2006/main" prst="roundRect">
            <a:avLst>
              <a:gd name="adj" fmla="val 6400"/>
            </a:avLst>
          </a:prstGeom>
        </p:spPr>
      </p:pic>
      <p:sp>
        <p:nvSpPr>
          <p:cNvPr id="9" name="">
            <a:extLst xmlns:a="http://schemas.openxmlformats.org/drawingml/2006/main">
              <a:ext uri="{FF2B5EF4-FFF2-40B4-BE49-F238E27FC236}">
                <a16:creationId xmlns:a16="http://schemas.microsoft.com/office/drawing/2014/main" id="{0C879AC2-CA12-4331-828E-824D0CA7BA38}"/>
              </a:ext>
            </a:extLst>
          </p:cNvPr>
          <p:cNvSpPr>
            <a:spLocks xmlns:a="http://schemas.openxmlformats.org/drawingml/2006/main" noGrp="1"/>
          </p:cNvSpPr>
          <p:nvPr/>
        </p:nvSpPr>
        <p:spPr>
          <a:xfrm xmlns:a="http://schemas.openxmlformats.org/drawingml/2006/main">
            <a:off x="9382125" y="1638300"/>
            <a:ext cx="2000250" cy="3028950"/>
          </a:xfrm>
          <a:prstGeom xmlns:a="http://schemas.openxmlformats.org/drawingml/2006/main" prst="roundRect">
            <a:avLst>
              <a:gd name="adj" fmla="val 7619"/>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5015D6BE-E67F-452A-A7E8-9621799CC745}"/>
              </a:ext>
            </a:extLst>
          </p:cNvPr>
          <p:cNvSpPr>
            <a:spLocks xmlns:a="http://schemas.openxmlformats.org/drawingml/2006/main" noGrp="1"/>
          </p:cNvSpPr>
          <p:nvPr/>
        </p:nvSpPr>
        <p:spPr>
          <a:xfrm xmlns:a="http://schemas.openxmlformats.org/drawingml/2006/main">
            <a:off x="9382125" y="1638300"/>
            <a:ext cx="66675" cy="3028950"/>
          </a:xfrm>
          <a:prstGeom xmlns:a="http://schemas.openxmlformats.org/drawingml/2006/main" prst="rect">
            <a:avLst/>
          </a:prstGeom>
          <a:solidFill xmlns:a="http://schemas.openxmlformats.org/drawingml/2006/main">
            <a:srgbClr val="10B981"/>
          </a:solidFill>
          <a:ln xmlns:a="http://schemas.openxmlformats.org/drawingml/2006/main" w="0">
            <a:solidFill>
              <a:srgbClr val="10B981"/>
            </a:solidFill>
            <a:prstDash val="solid"/>
          </a:ln>
        </p:spPr>
      </p:sp>
      <p:sp>
        <p:nvSpPr>
          <p:cNvPr id="11" name="">
            <a:extLst xmlns:a="http://schemas.openxmlformats.org/drawingml/2006/main">
              <a:ext uri="{FF2B5EF4-FFF2-40B4-BE49-F238E27FC236}">
                <a16:creationId xmlns:a16="http://schemas.microsoft.com/office/drawing/2014/main" id="{4AAA1F17-0E3A-4AAB-BA55-1442C0FBCDAB}"/>
              </a:ext>
            </a:extLst>
          </p:cNvPr>
          <p:cNvSpPr>
            <a:spLocks xmlns:a="http://schemas.openxmlformats.org/drawingml/2006/main" noGrp="1"/>
          </p:cNvSpPr>
          <p:nvPr/>
        </p:nvSpPr>
        <p:spPr>
          <a:xfrm xmlns:a="http://schemas.openxmlformats.org/drawingml/2006/main">
            <a:off x="9610725" y="1809750"/>
            <a:ext cx="1543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1">
                <a:solidFill>
                  <a:srgbClr val="111827"/>
                </a:solidFill>
                <a:latin typeface="Aptos"/>
                <a:ea typeface="Aptos"/>
                <a:cs typeface="Aptos"/>
              </a:defRPr>
            </a:pPr>
            <a:r>
              <a:rPr sz="1425" b="1">
                <a:solidFill>
                  <a:srgbClr val="111827"/>
                </a:solidFill>
                <a:latin typeface="Aptos"/>
                <a:ea typeface="Aptos"/>
                <a:cs typeface="Aptos"/>
              </a:rPr>
              <a:t>Three loops</a:t>
            </a:r>
          </a:p>
        </p:txBody>
      </p:sp>
      <p:sp>
        <p:nvSpPr>
          <p:cNvPr id="12" name="">
            <a:extLst xmlns:a="http://schemas.openxmlformats.org/drawingml/2006/main">
              <a:ext uri="{FF2B5EF4-FFF2-40B4-BE49-F238E27FC236}">
                <a16:creationId xmlns:a16="http://schemas.microsoft.com/office/drawing/2014/main" id="{03CE2D7D-D1F5-4462-B4FA-B0320187D9A8}"/>
              </a:ext>
            </a:extLst>
          </p:cNvPr>
          <p:cNvSpPr>
            <a:spLocks xmlns:a="http://schemas.openxmlformats.org/drawingml/2006/main" noGrp="1"/>
          </p:cNvSpPr>
          <p:nvPr/>
        </p:nvSpPr>
        <p:spPr>
          <a:xfrm xmlns:a="http://schemas.openxmlformats.org/drawingml/2006/main">
            <a:off x="9610725" y="2152650"/>
            <a:ext cx="1543050" cy="2438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40">
                <a:solidFill>
                  <a:srgbClr val="475569"/>
                </a:solidFill>
                <a:latin typeface="Aptos"/>
                <a:ea typeface="Aptos"/>
                <a:cs typeface="Aptos"/>
              </a:defRPr>
            </a:pPr>
            <a:r>
              <a:rPr sz="1140">
                <a:solidFill>
                  <a:srgbClr val="475569"/>
                </a:solidFill>
                <a:latin typeface="Aptos"/>
                <a:ea typeface="Aptos"/>
                <a:cs typeface="Aptos"/>
              </a:rPr>
              <a:t>1. Immediate feedback</a:t>
            </a:r>
          </a:p>
          <a:p xmlns:a="http://schemas.openxmlformats.org/drawingml/2006/main">
            <a:r>
              <a:t/>
            </a:r>
          </a:p>
          <a:p xmlns:a="http://schemas.openxmlformats.org/drawingml/2006/main">
            <a:pPr>
              <a:defRPr sz="1140">
                <a:solidFill>
                  <a:srgbClr val="475569"/>
                </a:solidFill>
                <a:latin typeface="Aptos"/>
                <a:ea typeface="Aptos"/>
                <a:cs typeface="Aptos"/>
              </a:defRPr>
            </a:pPr>
            <a:r>
              <a:rPr sz="1140">
                <a:solidFill>
                  <a:srgbClr val="475569"/>
                </a:solidFill>
                <a:latin typeface="Aptos"/>
                <a:ea typeface="Aptos"/>
                <a:cs typeface="Aptos"/>
              </a:rPr>
              <a:t>2. Reflection and weekly reports</a:t>
            </a:r>
          </a:p>
          <a:p xmlns:a="http://schemas.openxmlformats.org/drawingml/2006/main">
            <a:r>
              <a:t/>
            </a:r>
          </a:p>
          <a:p xmlns:a="http://schemas.openxmlformats.org/drawingml/2006/main">
            <a:pPr>
              <a:defRPr sz="1140">
                <a:solidFill>
                  <a:srgbClr val="475569"/>
                </a:solidFill>
                <a:latin typeface="Aptos"/>
                <a:ea typeface="Aptos"/>
                <a:cs typeface="Aptos"/>
              </a:defRPr>
            </a:pPr>
            <a:r>
              <a:rPr sz="1140">
                <a:solidFill>
                  <a:srgbClr val="475569"/>
                </a:solidFill>
                <a:latin typeface="Aptos"/>
                <a:ea typeface="Aptos"/>
                <a:cs typeface="Aptos"/>
              </a:rPr>
              <a:t>3. Privacy and safety controls</a:t>
            </a:r>
          </a:p>
        </p:txBody>
      </p:sp>
      <p:sp>
        <p:nvSpPr>
          <p:cNvPr id="13" name="">
            <a:extLst xmlns:a="http://schemas.openxmlformats.org/drawingml/2006/main">
              <a:ext uri="{FF2B5EF4-FFF2-40B4-BE49-F238E27FC236}">
                <a16:creationId xmlns:a16="http://schemas.microsoft.com/office/drawing/2014/main" id="{D1D60EAF-B284-4D33-8357-F114735FAB26}"/>
              </a:ext>
            </a:extLst>
          </p:cNvPr>
          <p:cNvSpPr>
            <a:spLocks xmlns:a="http://schemas.openxmlformats.org/drawingml/2006/main" noGrp="1"/>
          </p:cNvSpPr>
          <p:nvPr/>
        </p:nvSpPr>
        <p:spPr>
          <a:xfrm xmlns:a="http://schemas.openxmlformats.org/drawingml/2006/main">
            <a:off x="609600" y="64389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94A3B8"/>
                </a:solidFill>
                <a:latin typeface="Aptos"/>
                <a:ea typeface="Aptos"/>
                <a:cs typeface="Aptos"/>
              </a:defRPr>
            </a:pPr>
            <a:r>
              <a:rPr sz="825">
                <a:solidFill>
                  <a:srgbClr val="94A3B8"/>
                </a:solidFill>
                <a:latin typeface="Aptos"/>
                <a:ea typeface="Aptos"/>
                <a:cs typeface="Aptos"/>
              </a:rPr>
              <a:t>EmoScope | 5-minute oral presentation | 6/10</a:t>
            </a:r>
          </a:p>
        </p:txBody>
      </p:sp>
    </p:spTree>
    <p:extLst>
      <p:ext uri="{BB962C8B-B14F-4D97-AF65-F5344CB8AC3E}">
        <p14:creationId xmlns:p14="http://schemas.microsoft.com/office/powerpoint/2010/main" val="1471110830"/>
      </p:ext>
    </p:extLst>
  </p:cSld>
</p:sld>
</file>

<file path=ppt/slides/slide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F1E89F7-38D1-4BB9-BD76-BA21D7CBE79A}"/>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111827"/>
                </a:solidFill>
                <a:latin typeface="Aptos Display"/>
                <a:ea typeface="Aptos Display"/>
                <a:cs typeface="Aptos Display"/>
              </a:defRPr>
            </a:pPr>
            <a:r>
              <a:rPr sz="2625" b="1">
                <a:solidFill>
                  <a:srgbClr val="111827"/>
                </a:solidFill>
                <a:latin typeface="Aptos Display"/>
                <a:ea typeface="Aptos Display"/>
                <a:cs typeface="Aptos Display"/>
              </a:rPr>
              <a:t>Functional evaluation</a:t>
            </a:r>
          </a:p>
        </p:txBody>
      </p:sp>
      <p:sp>
        <p:nvSpPr>
          <p:cNvPr id="2" name="">
            <a:extLst xmlns:a="http://schemas.openxmlformats.org/drawingml/2006/main">
              <a:ext uri="{FF2B5EF4-FFF2-40B4-BE49-F238E27FC236}">
                <a16:creationId xmlns:a16="http://schemas.microsoft.com/office/drawing/2014/main" id="{044C69C5-F4E7-4758-B838-50F7B57CEF43}"/>
              </a:ext>
            </a:extLst>
          </p:cNvPr>
          <p:cNvSpPr>
            <a:spLocks xmlns:a="http://schemas.openxmlformats.org/drawingml/2006/main" noGrp="1"/>
          </p:cNvSpPr>
          <p:nvPr/>
        </p:nvSpPr>
        <p:spPr>
          <a:xfrm xmlns:a="http://schemas.openxmlformats.org/drawingml/2006/main">
            <a:off x="628650" y="914400"/>
            <a:ext cx="885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64748B"/>
                </a:solidFill>
                <a:latin typeface="Aptos"/>
                <a:ea typeface="Aptos"/>
                <a:cs typeface="Aptos"/>
              </a:defRPr>
            </a:pPr>
            <a:r>
              <a:rPr sz="1200">
                <a:solidFill>
                  <a:srgbClr val="64748B"/>
                </a:solidFill>
                <a:latin typeface="Aptos"/>
                <a:ea typeface="Aptos"/>
                <a:cs typeface="Aptos"/>
              </a:rPr>
              <a:t>The prototype was evaluated for engineering feasibility.</a:t>
            </a:r>
          </a:p>
        </p:txBody>
      </p:sp>
      <p:sp>
        <p:nvSpPr>
          <p:cNvPr id="3" name="">
            <a:extLst xmlns:a="http://schemas.openxmlformats.org/drawingml/2006/main">
              <a:ext uri="{FF2B5EF4-FFF2-40B4-BE49-F238E27FC236}">
                <a16:creationId xmlns:a16="http://schemas.microsoft.com/office/drawing/2014/main" id="{10EC6DFA-F1F7-4531-8EED-FAA087736AD6}"/>
              </a:ext>
            </a:extLst>
          </p:cNvPr>
          <p:cNvSpPr>
            <a:spLocks xmlns:a="http://schemas.openxmlformats.org/drawingml/2006/main" noGrp="1"/>
          </p:cNvSpPr>
          <p:nvPr/>
        </p:nvSpPr>
        <p:spPr>
          <a:xfrm xmlns:a="http://schemas.openxmlformats.org/drawingml/2006/main">
            <a:off x="762000" y="1504950"/>
            <a:ext cx="2000250" cy="1143000"/>
          </a:xfrm>
          <a:prstGeom xmlns:a="http://schemas.openxmlformats.org/drawingml/2006/main" prst="roundRect">
            <a:avLst>
              <a:gd name="adj" fmla="val 10000"/>
            </a:avLst>
          </a:prstGeom>
          <a:solidFill xmlns:a="http://schemas.openxmlformats.org/drawingml/2006/main">
            <a:srgbClr val="F8FAFC"/>
          </a:solidFill>
          <a:ln xmlns:a="http://schemas.openxmlformats.org/drawingml/2006/main" w="9525">
            <a:solidFill>
              <a:srgbClr val="E2E8F0"/>
            </a:solidFill>
            <a:prstDash val="solid"/>
          </a:ln>
        </p:spPr>
      </p:sp>
      <p:sp>
        <p:nvSpPr>
          <p:cNvPr id="4" name="">
            <a:extLst xmlns:a="http://schemas.openxmlformats.org/drawingml/2006/main">
              <a:ext uri="{FF2B5EF4-FFF2-40B4-BE49-F238E27FC236}">
                <a16:creationId xmlns:a16="http://schemas.microsoft.com/office/drawing/2014/main" id="{706E65DE-365D-47DE-85F3-692D64B3D6D7}"/>
              </a:ext>
            </a:extLst>
          </p:cNvPr>
          <p:cNvSpPr>
            <a:spLocks xmlns:a="http://schemas.openxmlformats.org/drawingml/2006/main" noGrp="1"/>
          </p:cNvSpPr>
          <p:nvPr/>
        </p:nvSpPr>
        <p:spPr>
          <a:xfrm xmlns:a="http://schemas.openxmlformats.org/drawingml/2006/main">
            <a:off x="914400" y="1619250"/>
            <a:ext cx="16954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400" b="1">
                <a:solidFill>
                  <a:srgbClr val="3B82F6"/>
                </a:solidFill>
                <a:latin typeface="Aptos Display"/>
                <a:ea typeface="Aptos Display"/>
                <a:cs typeface="Aptos Display"/>
              </a:defRPr>
            </a:pPr>
            <a:r>
              <a:rPr sz="2400" b="1">
                <a:solidFill>
                  <a:srgbClr val="3B82F6"/>
                </a:solidFill>
                <a:latin typeface="Aptos Display"/>
                <a:ea typeface="Aptos Display"/>
                <a:cs typeface="Aptos Display"/>
              </a:rPr>
              <a:t>4 Hz</a:t>
            </a:r>
          </a:p>
        </p:txBody>
      </p:sp>
      <p:sp>
        <p:nvSpPr>
          <p:cNvPr id="5" name="">
            <a:extLst xmlns:a="http://schemas.openxmlformats.org/drawingml/2006/main">
              <a:ext uri="{FF2B5EF4-FFF2-40B4-BE49-F238E27FC236}">
                <a16:creationId xmlns:a16="http://schemas.microsoft.com/office/drawing/2014/main" id="{94D3EEB8-1C15-4CCC-8D06-EF4FEC5794EF}"/>
              </a:ext>
            </a:extLst>
          </p:cNvPr>
          <p:cNvSpPr>
            <a:spLocks xmlns:a="http://schemas.openxmlformats.org/drawingml/2006/main" noGrp="1"/>
          </p:cNvSpPr>
          <p:nvPr/>
        </p:nvSpPr>
        <p:spPr>
          <a:xfrm xmlns:a="http://schemas.openxmlformats.org/drawingml/2006/main">
            <a:off x="914400" y="2066925"/>
            <a:ext cx="1695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90">
                <a:solidFill>
                  <a:srgbClr val="475569"/>
                </a:solidFill>
                <a:latin typeface="Aptos"/>
                <a:ea typeface="Aptos"/>
                <a:cs typeface="Aptos"/>
              </a:defRPr>
            </a:pPr>
            <a:r>
              <a:rPr sz="990">
                <a:solidFill>
                  <a:srgbClr val="475569"/>
                </a:solidFill>
                <a:latin typeface="Aptos"/>
                <a:ea typeface="Aptos"/>
                <a:cs typeface="Aptos"/>
              </a:rPr>
              <a:t>stable facial inference</a:t>
            </a:r>
          </a:p>
        </p:txBody>
      </p:sp>
      <p:sp>
        <p:nvSpPr>
          <p:cNvPr id="6" name="">
            <a:extLst xmlns:a="http://schemas.openxmlformats.org/drawingml/2006/main">
              <a:ext uri="{FF2B5EF4-FFF2-40B4-BE49-F238E27FC236}">
                <a16:creationId xmlns:a16="http://schemas.microsoft.com/office/drawing/2014/main" id="{FABE7449-89EB-4DA6-BBA5-844374825EBE}"/>
              </a:ext>
            </a:extLst>
          </p:cNvPr>
          <p:cNvSpPr>
            <a:spLocks xmlns:a="http://schemas.openxmlformats.org/drawingml/2006/main" noGrp="1"/>
          </p:cNvSpPr>
          <p:nvPr/>
        </p:nvSpPr>
        <p:spPr>
          <a:xfrm xmlns:a="http://schemas.openxmlformats.org/drawingml/2006/main">
            <a:off x="3048000" y="1504950"/>
            <a:ext cx="2000250" cy="1143000"/>
          </a:xfrm>
          <a:prstGeom xmlns:a="http://schemas.openxmlformats.org/drawingml/2006/main" prst="roundRect">
            <a:avLst>
              <a:gd name="adj" fmla="val 10000"/>
            </a:avLst>
          </a:prstGeom>
          <a:solidFill xmlns:a="http://schemas.openxmlformats.org/drawingml/2006/main">
            <a:srgbClr val="F8FAFC"/>
          </a:solidFill>
          <a:ln xmlns:a="http://schemas.openxmlformats.org/drawingml/2006/main" w="9525">
            <a:solidFill>
              <a:srgbClr val="E2E8F0"/>
            </a:solidFill>
            <a:prstDash val="solid"/>
          </a:ln>
        </p:spPr>
      </p:sp>
      <p:sp>
        <p:nvSpPr>
          <p:cNvPr id="7" name="">
            <a:extLst xmlns:a="http://schemas.openxmlformats.org/drawingml/2006/main">
              <a:ext uri="{FF2B5EF4-FFF2-40B4-BE49-F238E27FC236}">
                <a16:creationId xmlns:a16="http://schemas.microsoft.com/office/drawing/2014/main" id="{542CB4C5-507D-4D94-A586-22AA4C42973D}"/>
              </a:ext>
            </a:extLst>
          </p:cNvPr>
          <p:cNvSpPr>
            <a:spLocks xmlns:a="http://schemas.openxmlformats.org/drawingml/2006/main" noGrp="1"/>
          </p:cNvSpPr>
          <p:nvPr/>
        </p:nvSpPr>
        <p:spPr>
          <a:xfrm xmlns:a="http://schemas.openxmlformats.org/drawingml/2006/main">
            <a:off x="3200400" y="1619250"/>
            <a:ext cx="16954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400" b="1">
                <a:solidFill>
                  <a:srgbClr val="10B981"/>
                </a:solidFill>
                <a:latin typeface="Aptos Display"/>
                <a:ea typeface="Aptos Display"/>
                <a:cs typeface="Aptos Display"/>
              </a:defRPr>
            </a:pPr>
            <a:r>
              <a:rPr sz="2400" b="1">
                <a:solidFill>
                  <a:srgbClr val="10B981"/>
                </a:solidFill>
                <a:latin typeface="Aptos Display"/>
                <a:ea typeface="Aptos Display"/>
                <a:cs typeface="Aptos Display"/>
              </a:rPr>
              <a:t>&gt;40</a:t>
            </a:r>
          </a:p>
        </p:txBody>
      </p:sp>
      <p:sp>
        <p:nvSpPr>
          <p:cNvPr id="8" name="">
            <a:extLst xmlns:a="http://schemas.openxmlformats.org/drawingml/2006/main">
              <a:ext uri="{FF2B5EF4-FFF2-40B4-BE49-F238E27FC236}">
                <a16:creationId xmlns:a16="http://schemas.microsoft.com/office/drawing/2014/main" id="{41A62F2E-EBE4-41CA-BA4C-DADD7B2F5208}"/>
              </a:ext>
            </a:extLst>
          </p:cNvPr>
          <p:cNvSpPr>
            <a:spLocks xmlns:a="http://schemas.openxmlformats.org/drawingml/2006/main" noGrp="1"/>
          </p:cNvSpPr>
          <p:nvPr/>
        </p:nvSpPr>
        <p:spPr>
          <a:xfrm xmlns:a="http://schemas.openxmlformats.org/drawingml/2006/main">
            <a:off x="3200400" y="2066925"/>
            <a:ext cx="1695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90">
                <a:solidFill>
                  <a:srgbClr val="475569"/>
                </a:solidFill>
                <a:latin typeface="Aptos"/>
                <a:ea typeface="Aptos"/>
                <a:cs typeface="Aptos"/>
              </a:defRPr>
            </a:pPr>
            <a:r>
              <a:rPr sz="990">
                <a:solidFill>
                  <a:srgbClr val="475569"/>
                </a:solidFill>
                <a:latin typeface="Aptos"/>
                <a:ea typeface="Aptos"/>
                <a:cs typeface="Aptos"/>
              </a:rPr>
              <a:t>score range in points</a:t>
            </a:r>
          </a:p>
        </p:txBody>
      </p:sp>
      <p:sp>
        <p:nvSpPr>
          <p:cNvPr id="9" name="">
            <a:extLst xmlns:a="http://schemas.openxmlformats.org/drawingml/2006/main">
              <a:ext uri="{FF2B5EF4-FFF2-40B4-BE49-F238E27FC236}">
                <a16:creationId xmlns:a16="http://schemas.microsoft.com/office/drawing/2014/main" id="{ABE7193E-70B7-4166-BC35-AE5AC694549D}"/>
              </a:ext>
            </a:extLst>
          </p:cNvPr>
          <p:cNvSpPr>
            <a:spLocks xmlns:a="http://schemas.openxmlformats.org/drawingml/2006/main" noGrp="1"/>
          </p:cNvSpPr>
          <p:nvPr/>
        </p:nvSpPr>
        <p:spPr>
          <a:xfrm xmlns:a="http://schemas.openxmlformats.org/drawingml/2006/main">
            <a:off x="5334000" y="1504950"/>
            <a:ext cx="2000250" cy="1143000"/>
          </a:xfrm>
          <a:prstGeom xmlns:a="http://schemas.openxmlformats.org/drawingml/2006/main" prst="roundRect">
            <a:avLst>
              <a:gd name="adj" fmla="val 10000"/>
            </a:avLst>
          </a:prstGeom>
          <a:solidFill xmlns:a="http://schemas.openxmlformats.org/drawingml/2006/main">
            <a:srgbClr val="F8FAFC"/>
          </a:solidFill>
          <a:ln xmlns:a="http://schemas.openxmlformats.org/drawingml/2006/main" w="9525">
            <a:solidFill>
              <a:srgbClr val="E2E8F0"/>
            </a:solidFill>
            <a:prstDash val="solid"/>
          </a:ln>
        </p:spPr>
      </p:sp>
      <p:sp>
        <p:nvSpPr>
          <p:cNvPr id="10" name="">
            <a:extLst xmlns:a="http://schemas.openxmlformats.org/drawingml/2006/main">
              <a:ext uri="{FF2B5EF4-FFF2-40B4-BE49-F238E27FC236}">
                <a16:creationId xmlns:a16="http://schemas.microsoft.com/office/drawing/2014/main" id="{B0D28CEA-7DAF-4488-B71F-D57F0E6DDAD3}"/>
              </a:ext>
            </a:extLst>
          </p:cNvPr>
          <p:cNvSpPr>
            <a:spLocks xmlns:a="http://schemas.openxmlformats.org/drawingml/2006/main" noGrp="1"/>
          </p:cNvSpPr>
          <p:nvPr/>
        </p:nvSpPr>
        <p:spPr>
          <a:xfrm xmlns:a="http://schemas.openxmlformats.org/drawingml/2006/main">
            <a:off x="5486400" y="1619250"/>
            <a:ext cx="16954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400" b="1">
                <a:solidFill>
                  <a:srgbClr val="F59E0B"/>
                </a:solidFill>
                <a:latin typeface="Aptos Display"/>
                <a:ea typeface="Aptos Display"/>
                <a:cs typeface="Aptos Display"/>
              </a:defRPr>
            </a:pPr>
            <a:r>
              <a:rPr sz="2400" b="1">
                <a:solidFill>
                  <a:srgbClr val="F59E0B"/>
                </a:solidFill>
                <a:latin typeface="Aptos Display"/>
                <a:ea typeface="Aptos Display"/>
                <a:cs typeface="Aptos Display"/>
              </a:rPr>
              <a:t>3-5 pp</a:t>
            </a:r>
          </a:p>
        </p:txBody>
      </p:sp>
      <p:sp>
        <p:nvSpPr>
          <p:cNvPr id="11" name="">
            <a:extLst xmlns:a="http://schemas.openxmlformats.org/drawingml/2006/main">
              <a:ext uri="{FF2B5EF4-FFF2-40B4-BE49-F238E27FC236}">
                <a16:creationId xmlns:a16="http://schemas.microsoft.com/office/drawing/2014/main" id="{2BB9107A-11F2-4FF5-B4E8-D95A6DA7CD35}"/>
              </a:ext>
            </a:extLst>
          </p:cNvPr>
          <p:cNvSpPr>
            <a:spLocks xmlns:a="http://schemas.openxmlformats.org/drawingml/2006/main" noGrp="1"/>
          </p:cNvSpPr>
          <p:nvPr/>
        </p:nvSpPr>
        <p:spPr>
          <a:xfrm xmlns:a="http://schemas.openxmlformats.org/drawingml/2006/main">
            <a:off x="5486400" y="2066925"/>
            <a:ext cx="1695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90">
                <a:solidFill>
                  <a:srgbClr val="475569"/>
                </a:solidFill>
                <a:latin typeface="Aptos"/>
                <a:ea typeface="Aptos"/>
                <a:cs typeface="Aptos"/>
              </a:defRPr>
            </a:pPr>
            <a:r>
              <a:rPr sz="990">
                <a:solidFill>
                  <a:srgbClr val="475569"/>
                </a:solidFill>
                <a:latin typeface="Aptos"/>
                <a:ea typeface="Aptos"/>
                <a:cs typeface="Aptos"/>
              </a:rPr>
              <a:t>post-EWMA jitter</a:t>
            </a:r>
          </a:p>
        </p:txBody>
      </p:sp>
      <p:sp>
        <p:nvSpPr>
          <p:cNvPr id="12" name="">
            <a:extLst xmlns:a="http://schemas.openxmlformats.org/drawingml/2006/main">
              <a:ext uri="{FF2B5EF4-FFF2-40B4-BE49-F238E27FC236}">
                <a16:creationId xmlns:a16="http://schemas.microsoft.com/office/drawing/2014/main" id="{286823B2-477A-4B5E-B6A6-B4C305184258}"/>
              </a:ext>
            </a:extLst>
          </p:cNvPr>
          <p:cNvSpPr>
            <a:spLocks xmlns:a="http://schemas.openxmlformats.org/drawingml/2006/main" noGrp="1"/>
          </p:cNvSpPr>
          <p:nvPr/>
        </p:nvSpPr>
        <p:spPr>
          <a:xfrm xmlns:a="http://schemas.openxmlformats.org/drawingml/2006/main">
            <a:off x="7620000" y="1504950"/>
            <a:ext cx="2000250" cy="1143000"/>
          </a:xfrm>
          <a:prstGeom xmlns:a="http://schemas.openxmlformats.org/drawingml/2006/main" prst="roundRect">
            <a:avLst>
              <a:gd name="adj" fmla="val 10000"/>
            </a:avLst>
          </a:prstGeom>
          <a:solidFill xmlns:a="http://schemas.openxmlformats.org/drawingml/2006/main">
            <a:srgbClr val="F8FAFC"/>
          </a:solidFill>
          <a:ln xmlns:a="http://schemas.openxmlformats.org/drawingml/2006/main" w="9525">
            <a:solidFill>
              <a:srgbClr val="E2E8F0"/>
            </a:solidFill>
            <a:prstDash val="solid"/>
          </a:ln>
        </p:spPr>
      </p:sp>
      <p:sp>
        <p:nvSpPr>
          <p:cNvPr id="13" name="">
            <a:extLst xmlns:a="http://schemas.openxmlformats.org/drawingml/2006/main">
              <a:ext uri="{FF2B5EF4-FFF2-40B4-BE49-F238E27FC236}">
                <a16:creationId xmlns:a16="http://schemas.microsoft.com/office/drawing/2014/main" id="{0734FB8B-EFB4-4C06-A655-54EE30FF77DE}"/>
              </a:ext>
            </a:extLst>
          </p:cNvPr>
          <p:cNvSpPr>
            <a:spLocks xmlns:a="http://schemas.openxmlformats.org/drawingml/2006/main" noGrp="1"/>
          </p:cNvSpPr>
          <p:nvPr/>
        </p:nvSpPr>
        <p:spPr>
          <a:xfrm xmlns:a="http://schemas.openxmlformats.org/drawingml/2006/main">
            <a:off x="7772400" y="1619250"/>
            <a:ext cx="16954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400" b="1">
                <a:solidFill>
                  <a:srgbClr val="7C3AED"/>
                </a:solidFill>
                <a:latin typeface="Aptos Display"/>
                <a:ea typeface="Aptos Display"/>
                <a:cs typeface="Aptos Display"/>
              </a:defRPr>
            </a:pPr>
            <a:r>
              <a:rPr sz="2400" b="1">
                <a:solidFill>
                  <a:srgbClr val="7C3AED"/>
                </a:solidFill>
                <a:latin typeface="Aptos Display"/>
                <a:ea typeface="Aptos Display"/>
                <a:cs typeface="Aptos Display"/>
              </a:rPr>
              <a:t>100%</a:t>
            </a:r>
          </a:p>
        </p:txBody>
      </p:sp>
      <p:sp>
        <p:nvSpPr>
          <p:cNvPr id="14" name="">
            <a:extLst xmlns:a="http://schemas.openxmlformats.org/drawingml/2006/main">
              <a:ext uri="{FF2B5EF4-FFF2-40B4-BE49-F238E27FC236}">
                <a16:creationId xmlns:a16="http://schemas.microsoft.com/office/drawing/2014/main" id="{0B1AB5A7-F54B-4A7F-B2DF-24B32032B981}"/>
              </a:ext>
            </a:extLst>
          </p:cNvPr>
          <p:cNvSpPr>
            <a:spLocks xmlns:a="http://schemas.openxmlformats.org/drawingml/2006/main" noGrp="1"/>
          </p:cNvSpPr>
          <p:nvPr/>
        </p:nvSpPr>
        <p:spPr>
          <a:xfrm xmlns:a="http://schemas.openxmlformats.org/drawingml/2006/main">
            <a:off x="7772400" y="2066925"/>
            <a:ext cx="1695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90">
                <a:solidFill>
                  <a:srgbClr val="475569"/>
                </a:solidFill>
                <a:latin typeface="Aptos"/>
                <a:ea typeface="Aptos"/>
                <a:cs typeface="Aptos"/>
              </a:defRPr>
            </a:pPr>
            <a:r>
              <a:rPr sz="990">
                <a:solidFill>
                  <a:srgbClr val="475569"/>
                </a:solidFill>
                <a:latin typeface="Aptos"/>
                <a:ea typeface="Aptos"/>
                <a:cs typeface="Aptos"/>
              </a:rPr>
              <a:t>synthetic extraction accuracy</a:t>
            </a:r>
          </a:p>
        </p:txBody>
      </p:sp>
      <p:sp>
        <p:nvSpPr>
          <p:cNvPr id="15" name="">
            <a:extLst xmlns:a="http://schemas.openxmlformats.org/drawingml/2006/main">
              <a:ext uri="{FF2B5EF4-FFF2-40B4-BE49-F238E27FC236}">
                <a16:creationId xmlns:a16="http://schemas.microsoft.com/office/drawing/2014/main" id="{274064D7-D28D-4B65-BE4F-1127F21BFC02}"/>
              </a:ext>
            </a:extLst>
          </p:cNvPr>
          <p:cNvSpPr>
            <a:spLocks xmlns:a="http://schemas.openxmlformats.org/drawingml/2006/main" noGrp="1"/>
          </p:cNvSpPr>
          <p:nvPr/>
        </p:nvSpPr>
        <p:spPr>
          <a:xfrm xmlns:a="http://schemas.openxmlformats.org/drawingml/2006/main">
            <a:off x="9906000" y="1504950"/>
            <a:ext cx="1428750" cy="1143000"/>
          </a:xfrm>
          <a:prstGeom xmlns:a="http://schemas.openxmlformats.org/drawingml/2006/main" prst="roundRect">
            <a:avLst>
              <a:gd name="adj" fmla="val 10000"/>
            </a:avLst>
          </a:prstGeom>
          <a:solidFill xmlns:a="http://schemas.openxmlformats.org/drawingml/2006/main">
            <a:srgbClr val="F8FAFC"/>
          </a:solidFill>
          <a:ln xmlns:a="http://schemas.openxmlformats.org/drawingml/2006/main" w="9525">
            <a:solidFill>
              <a:srgbClr val="E2E8F0"/>
            </a:solidFill>
            <a:prstDash val="solid"/>
          </a:ln>
        </p:spPr>
      </p:sp>
      <p:sp>
        <p:nvSpPr>
          <p:cNvPr id="16" name="">
            <a:extLst xmlns:a="http://schemas.openxmlformats.org/drawingml/2006/main">
              <a:ext uri="{FF2B5EF4-FFF2-40B4-BE49-F238E27FC236}">
                <a16:creationId xmlns:a16="http://schemas.microsoft.com/office/drawing/2014/main" id="{CDF628AF-F196-4726-989C-DA542FA4FBE2}"/>
              </a:ext>
            </a:extLst>
          </p:cNvPr>
          <p:cNvSpPr>
            <a:spLocks xmlns:a="http://schemas.openxmlformats.org/drawingml/2006/main" noGrp="1"/>
          </p:cNvSpPr>
          <p:nvPr/>
        </p:nvSpPr>
        <p:spPr>
          <a:xfrm xmlns:a="http://schemas.openxmlformats.org/drawingml/2006/main">
            <a:off x="10058400" y="1619250"/>
            <a:ext cx="1123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400" b="1">
                <a:solidFill>
                  <a:srgbClr val="EF4444"/>
                </a:solidFill>
                <a:latin typeface="Aptos Display"/>
                <a:ea typeface="Aptos Display"/>
                <a:cs typeface="Aptos Display"/>
              </a:defRPr>
            </a:pPr>
            <a:r>
              <a:rPr sz="2400" b="1">
                <a:solidFill>
                  <a:srgbClr val="EF4444"/>
                </a:solidFill>
                <a:latin typeface="Aptos Display"/>
                <a:ea typeface="Aptos Display"/>
                <a:cs typeface="Aptos Display"/>
              </a:rPr>
              <a:t>&lt;0.5s</a:t>
            </a:r>
          </a:p>
        </p:txBody>
      </p:sp>
      <p:sp>
        <p:nvSpPr>
          <p:cNvPr id="17" name="">
            <a:extLst xmlns:a="http://schemas.openxmlformats.org/drawingml/2006/main">
              <a:ext uri="{FF2B5EF4-FFF2-40B4-BE49-F238E27FC236}">
                <a16:creationId xmlns:a16="http://schemas.microsoft.com/office/drawing/2014/main" id="{B5A531AE-7250-4972-BA5E-BCB696DA669E}"/>
              </a:ext>
            </a:extLst>
          </p:cNvPr>
          <p:cNvSpPr>
            <a:spLocks xmlns:a="http://schemas.openxmlformats.org/drawingml/2006/main" noGrp="1"/>
          </p:cNvSpPr>
          <p:nvPr/>
        </p:nvSpPr>
        <p:spPr>
          <a:xfrm xmlns:a="http://schemas.openxmlformats.org/drawingml/2006/main">
            <a:off x="10058400" y="2066925"/>
            <a:ext cx="1123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90">
                <a:solidFill>
                  <a:srgbClr val="475569"/>
                </a:solidFill>
                <a:latin typeface="Aptos"/>
                <a:ea typeface="Aptos"/>
                <a:cs typeface="Aptos"/>
              </a:defRPr>
            </a:pPr>
            <a:r>
              <a:rPr sz="990">
                <a:solidFill>
                  <a:srgbClr val="475569"/>
                </a:solidFill>
                <a:latin typeface="Aptos"/>
                <a:ea typeface="Aptos"/>
                <a:cs typeface="Aptos"/>
              </a:rPr>
              <a:t>SOS prompt</a:t>
            </a:r>
          </a:p>
        </p:txBody>
      </p:sp>
      <p:sp>
        <p:nvSpPr>
          <p:cNvPr id="18" name="">
            <a:extLst xmlns:a="http://schemas.openxmlformats.org/drawingml/2006/main">
              <a:ext uri="{FF2B5EF4-FFF2-40B4-BE49-F238E27FC236}">
                <a16:creationId xmlns:a16="http://schemas.microsoft.com/office/drawing/2014/main" id="{D7D4B08E-1040-450F-9FA9-81407DD9DACD}"/>
              </a:ext>
            </a:extLst>
          </p:cNvPr>
          <p:cNvSpPr>
            <a:spLocks xmlns:a="http://schemas.openxmlformats.org/drawingml/2006/main" noGrp="1"/>
          </p:cNvSpPr>
          <p:nvPr/>
        </p:nvSpPr>
        <p:spPr>
          <a:xfrm xmlns:a="http://schemas.openxmlformats.org/drawingml/2006/main">
            <a:off x="952500" y="3524250"/>
            <a:ext cx="2952750" cy="1314450"/>
          </a:xfrm>
          <a:prstGeom xmlns:a="http://schemas.openxmlformats.org/drawingml/2006/main" prst="roundRect">
            <a:avLst>
              <a:gd name="adj" fmla="val 11594"/>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9" name="">
            <a:extLst xmlns:a="http://schemas.openxmlformats.org/drawingml/2006/main">
              <a:ext uri="{FF2B5EF4-FFF2-40B4-BE49-F238E27FC236}">
                <a16:creationId xmlns:a16="http://schemas.microsoft.com/office/drawing/2014/main" id="{AAA61F19-BD5D-4957-A8EC-D1EB9EBD8145}"/>
              </a:ext>
            </a:extLst>
          </p:cNvPr>
          <p:cNvSpPr>
            <a:spLocks xmlns:a="http://schemas.openxmlformats.org/drawingml/2006/main" noGrp="1"/>
          </p:cNvSpPr>
          <p:nvPr/>
        </p:nvSpPr>
        <p:spPr>
          <a:xfrm xmlns:a="http://schemas.openxmlformats.org/drawingml/2006/main">
            <a:off x="952500" y="3524250"/>
            <a:ext cx="66675" cy="1314450"/>
          </a:xfrm>
          <a:prstGeom xmlns:a="http://schemas.openxmlformats.org/drawingml/2006/main" prst="rect">
            <a:avLst/>
          </a:prstGeom>
          <a:solidFill xmlns:a="http://schemas.openxmlformats.org/drawingml/2006/main">
            <a:srgbClr val="4338CA"/>
          </a:solidFill>
          <a:ln xmlns:a="http://schemas.openxmlformats.org/drawingml/2006/main" w="0">
            <a:solidFill>
              <a:srgbClr val="4338CA"/>
            </a:solidFill>
            <a:prstDash val="solid"/>
          </a:ln>
        </p:spPr>
      </p:sp>
      <p:sp>
        <p:nvSpPr>
          <p:cNvPr id="20" name="">
            <a:extLst xmlns:a="http://schemas.openxmlformats.org/drawingml/2006/main">
              <a:ext uri="{FF2B5EF4-FFF2-40B4-BE49-F238E27FC236}">
                <a16:creationId xmlns:a16="http://schemas.microsoft.com/office/drawing/2014/main" id="{C158BF43-BF78-4F63-8205-F10613D93442}"/>
              </a:ext>
            </a:extLst>
          </p:cNvPr>
          <p:cNvSpPr>
            <a:spLocks xmlns:a="http://schemas.openxmlformats.org/drawingml/2006/main" noGrp="1"/>
          </p:cNvSpPr>
          <p:nvPr/>
        </p:nvSpPr>
        <p:spPr>
          <a:xfrm xmlns:a="http://schemas.openxmlformats.org/drawingml/2006/main">
            <a:off x="1181100" y="3695700"/>
            <a:ext cx="2495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1">
                <a:solidFill>
                  <a:srgbClr val="111827"/>
                </a:solidFill>
                <a:latin typeface="Aptos"/>
                <a:ea typeface="Aptos"/>
                <a:cs typeface="Aptos"/>
              </a:defRPr>
            </a:pPr>
            <a:r>
              <a:rPr sz="1425" b="1">
                <a:solidFill>
                  <a:srgbClr val="111827"/>
                </a:solidFill>
                <a:latin typeface="Aptos"/>
                <a:ea typeface="Aptos"/>
                <a:cs typeface="Aptos"/>
              </a:rPr>
              <a:t>What this proves</a:t>
            </a:r>
          </a:p>
        </p:txBody>
      </p:sp>
      <p:sp>
        <p:nvSpPr>
          <p:cNvPr id="21" name="">
            <a:extLst xmlns:a="http://schemas.openxmlformats.org/drawingml/2006/main">
              <a:ext uri="{FF2B5EF4-FFF2-40B4-BE49-F238E27FC236}">
                <a16:creationId xmlns:a16="http://schemas.microsoft.com/office/drawing/2014/main" id="{E215D628-C682-4819-A747-2BE31E5A1261}"/>
              </a:ext>
            </a:extLst>
          </p:cNvPr>
          <p:cNvSpPr>
            <a:spLocks xmlns:a="http://schemas.openxmlformats.org/drawingml/2006/main" noGrp="1"/>
          </p:cNvSpPr>
          <p:nvPr/>
        </p:nvSpPr>
        <p:spPr>
          <a:xfrm xmlns:a="http://schemas.openxmlformats.org/drawingml/2006/main">
            <a:off x="1181100" y="4038600"/>
            <a:ext cx="24955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40">
                <a:solidFill>
                  <a:srgbClr val="475569"/>
                </a:solidFill>
                <a:latin typeface="Aptos"/>
                <a:ea typeface="Aptos"/>
                <a:cs typeface="Aptos"/>
              </a:defRPr>
            </a:pPr>
            <a:r>
              <a:rPr sz="1140">
                <a:solidFill>
                  <a:srgbClr val="475569"/>
                </a:solidFill>
                <a:latin typeface="Aptos"/>
                <a:ea typeface="Aptos"/>
                <a:cs typeface="Aptos"/>
              </a:rPr>
              <a:t>The main technical modules can run together in a working Android prototype.</a:t>
            </a:r>
          </a:p>
        </p:txBody>
      </p:sp>
      <p:sp>
        <p:nvSpPr>
          <p:cNvPr id="22" name="">
            <a:extLst xmlns:a="http://schemas.openxmlformats.org/drawingml/2006/main">
              <a:ext uri="{FF2B5EF4-FFF2-40B4-BE49-F238E27FC236}">
                <a16:creationId xmlns:a16="http://schemas.microsoft.com/office/drawing/2014/main" id="{F833869C-64F9-4B82-8E99-C189220087E6}"/>
              </a:ext>
            </a:extLst>
          </p:cNvPr>
          <p:cNvSpPr>
            <a:spLocks xmlns:a="http://schemas.openxmlformats.org/drawingml/2006/main" noGrp="1"/>
          </p:cNvSpPr>
          <p:nvPr/>
        </p:nvSpPr>
        <p:spPr>
          <a:xfrm xmlns:a="http://schemas.openxmlformats.org/drawingml/2006/main">
            <a:off x="4619625" y="3524250"/>
            <a:ext cx="2952750" cy="1314450"/>
          </a:xfrm>
          <a:prstGeom xmlns:a="http://schemas.openxmlformats.org/drawingml/2006/main" prst="roundRect">
            <a:avLst>
              <a:gd name="adj" fmla="val 11594"/>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3" name="">
            <a:extLst xmlns:a="http://schemas.openxmlformats.org/drawingml/2006/main">
              <a:ext uri="{FF2B5EF4-FFF2-40B4-BE49-F238E27FC236}">
                <a16:creationId xmlns:a16="http://schemas.microsoft.com/office/drawing/2014/main" id="{87A273E1-8DFC-484A-84FE-1DDF773DFE88}"/>
              </a:ext>
            </a:extLst>
          </p:cNvPr>
          <p:cNvSpPr>
            <a:spLocks xmlns:a="http://schemas.openxmlformats.org/drawingml/2006/main" noGrp="1"/>
          </p:cNvSpPr>
          <p:nvPr/>
        </p:nvSpPr>
        <p:spPr>
          <a:xfrm xmlns:a="http://schemas.openxmlformats.org/drawingml/2006/main">
            <a:off x="4619625" y="3524250"/>
            <a:ext cx="66675" cy="1314450"/>
          </a:xfrm>
          <a:prstGeom xmlns:a="http://schemas.openxmlformats.org/drawingml/2006/main" prst="rect">
            <a:avLst/>
          </a:prstGeom>
          <a:solidFill xmlns:a="http://schemas.openxmlformats.org/drawingml/2006/main">
            <a:srgbClr val="EF4444"/>
          </a:solidFill>
          <a:ln xmlns:a="http://schemas.openxmlformats.org/drawingml/2006/main" w="0">
            <a:solidFill>
              <a:srgbClr val="EF4444"/>
            </a:solidFill>
            <a:prstDash val="solid"/>
          </a:ln>
        </p:spPr>
      </p:sp>
      <p:sp>
        <p:nvSpPr>
          <p:cNvPr id="24" name="">
            <a:extLst xmlns:a="http://schemas.openxmlformats.org/drawingml/2006/main">
              <a:ext uri="{FF2B5EF4-FFF2-40B4-BE49-F238E27FC236}">
                <a16:creationId xmlns:a16="http://schemas.microsoft.com/office/drawing/2014/main" id="{63C3AC00-7671-4E80-81FB-2D66F696DF7A}"/>
              </a:ext>
            </a:extLst>
          </p:cNvPr>
          <p:cNvSpPr>
            <a:spLocks xmlns:a="http://schemas.openxmlformats.org/drawingml/2006/main" noGrp="1"/>
          </p:cNvSpPr>
          <p:nvPr/>
        </p:nvSpPr>
        <p:spPr>
          <a:xfrm xmlns:a="http://schemas.openxmlformats.org/drawingml/2006/main">
            <a:off x="4848225" y="3695700"/>
            <a:ext cx="2495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1">
                <a:solidFill>
                  <a:srgbClr val="111827"/>
                </a:solidFill>
                <a:latin typeface="Aptos"/>
                <a:ea typeface="Aptos"/>
                <a:cs typeface="Aptos"/>
              </a:defRPr>
            </a:pPr>
            <a:r>
              <a:rPr sz="1425" b="1">
                <a:solidFill>
                  <a:srgbClr val="111827"/>
                </a:solidFill>
                <a:latin typeface="Aptos"/>
                <a:ea typeface="Aptos"/>
                <a:cs typeface="Aptos"/>
              </a:rPr>
              <a:t>What it does not prove</a:t>
            </a:r>
          </a:p>
        </p:txBody>
      </p:sp>
      <p:sp>
        <p:nvSpPr>
          <p:cNvPr id="25" name="">
            <a:extLst xmlns:a="http://schemas.openxmlformats.org/drawingml/2006/main">
              <a:ext uri="{FF2B5EF4-FFF2-40B4-BE49-F238E27FC236}">
                <a16:creationId xmlns:a16="http://schemas.microsoft.com/office/drawing/2014/main" id="{D82A1010-64C6-4815-BF8B-502111DDE9B5}"/>
              </a:ext>
            </a:extLst>
          </p:cNvPr>
          <p:cNvSpPr>
            <a:spLocks xmlns:a="http://schemas.openxmlformats.org/drawingml/2006/main" noGrp="1"/>
          </p:cNvSpPr>
          <p:nvPr/>
        </p:nvSpPr>
        <p:spPr>
          <a:xfrm xmlns:a="http://schemas.openxmlformats.org/drawingml/2006/main">
            <a:off x="4848225" y="4038600"/>
            <a:ext cx="24955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40">
                <a:solidFill>
                  <a:srgbClr val="475569"/>
                </a:solidFill>
                <a:latin typeface="Aptos"/>
                <a:ea typeface="Aptos"/>
                <a:cs typeface="Aptos"/>
              </a:defRPr>
            </a:pPr>
            <a:r>
              <a:rPr sz="1140">
                <a:solidFill>
                  <a:srgbClr val="475569"/>
                </a:solidFill>
                <a:latin typeface="Aptos"/>
                <a:ea typeface="Aptos"/>
                <a:cs typeface="Aptos"/>
              </a:rPr>
              <a:t>These tests do not establish clinical efficacy or diagnostic accuracy.</a:t>
            </a:r>
          </a:p>
        </p:txBody>
      </p:sp>
      <p:sp>
        <p:nvSpPr>
          <p:cNvPr id="26" name="">
            <a:extLst xmlns:a="http://schemas.openxmlformats.org/drawingml/2006/main">
              <a:ext uri="{FF2B5EF4-FFF2-40B4-BE49-F238E27FC236}">
                <a16:creationId xmlns:a16="http://schemas.microsoft.com/office/drawing/2014/main" id="{5488503A-31E0-45B6-AA53-3FA5413E386B}"/>
              </a:ext>
            </a:extLst>
          </p:cNvPr>
          <p:cNvSpPr>
            <a:spLocks xmlns:a="http://schemas.openxmlformats.org/drawingml/2006/main" noGrp="1"/>
          </p:cNvSpPr>
          <p:nvPr/>
        </p:nvSpPr>
        <p:spPr>
          <a:xfrm xmlns:a="http://schemas.openxmlformats.org/drawingml/2006/main">
            <a:off x="8286750" y="3524250"/>
            <a:ext cx="2952750" cy="1314450"/>
          </a:xfrm>
          <a:prstGeom xmlns:a="http://schemas.openxmlformats.org/drawingml/2006/main" prst="roundRect">
            <a:avLst>
              <a:gd name="adj" fmla="val 11594"/>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7" name="">
            <a:extLst xmlns:a="http://schemas.openxmlformats.org/drawingml/2006/main">
              <a:ext uri="{FF2B5EF4-FFF2-40B4-BE49-F238E27FC236}">
                <a16:creationId xmlns:a16="http://schemas.microsoft.com/office/drawing/2014/main" id="{A133537A-537F-4209-A383-45BF255CEC5D}"/>
              </a:ext>
            </a:extLst>
          </p:cNvPr>
          <p:cNvSpPr>
            <a:spLocks xmlns:a="http://schemas.openxmlformats.org/drawingml/2006/main" noGrp="1"/>
          </p:cNvSpPr>
          <p:nvPr/>
        </p:nvSpPr>
        <p:spPr>
          <a:xfrm xmlns:a="http://schemas.openxmlformats.org/drawingml/2006/main">
            <a:off x="8286750" y="3524250"/>
            <a:ext cx="66675" cy="1314450"/>
          </a:xfrm>
          <a:prstGeom xmlns:a="http://schemas.openxmlformats.org/drawingml/2006/main" prst="rect">
            <a:avLst/>
          </a:prstGeom>
          <a:solidFill xmlns:a="http://schemas.openxmlformats.org/drawingml/2006/main">
            <a:srgbClr val="10B981"/>
          </a:solidFill>
          <a:ln xmlns:a="http://schemas.openxmlformats.org/drawingml/2006/main" w="0">
            <a:solidFill>
              <a:srgbClr val="10B981"/>
            </a:solidFill>
            <a:prstDash val="solid"/>
          </a:ln>
        </p:spPr>
      </p:sp>
      <p:sp>
        <p:nvSpPr>
          <p:cNvPr id="28" name="">
            <a:extLst xmlns:a="http://schemas.openxmlformats.org/drawingml/2006/main">
              <a:ext uri="{FF2B5EF4-FFF2-40B4-BE49-F238E27FC236}">
                <a16:creationId xmlns:a16="http://schemas.microsoft.com/office/drawing/2014/main" id="{4FD281AD-34A6-4E47-ADDC-577FE9F4FDF1}"/>
              </a:ext>
            </a:extLst>
          </p:cNvPr>
          <p:cNvSpPr>
            <a:spLocks xmlns:a="http://schemas.openxmlformats.org/drawingml/2006/main" noGrp="1"/>
          </p:cNvSpPr>
          <p:nvPr/>
        </p:nvSpPr>
        <p:spPr>
          <a:xfrm xmlns:a="http://schemas.openxmlformats.org/drawingml/2006/main">
            <a:off x="8515350" y="3695700"/>
            <a:ext cx="2495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1">
                <a:solidFill>
                  <a:srgbClr val="111827"/>
                </a:solidFill>
                <a:latin typeface="Aptos"/>
                <a:ea typeface="Aptos"/>
                <a:cs typeface="Aptos"/>
              </a:defRPr>
            </a:pPr>
            <a:r>
              <a:rPr sz="1425" b="1">
                <a:solidFill>
                  <a:srgbClr val="111827"/>
                </a:solidFill>
                <a:latin typeface="Aptos"/>
                <a:ea typeface="Aptos"/>
                <a:cs typeface="Aptos"/>
              </a:rPr>
              <a:t>Why it matters</a:t>
            </a:r>
          </a:p>
        </p:txBody>
      </p:sp>
      <p:sp>
        <p:nvSpPr>
          <p:cNvPr id="29" name="">
            <a:extLst xmlns:a="http://schemas.openxmlformats.org/drawingml/2006/main">
              <a:ext uri="{FF2B5EF4-FFF2-40B4-BE49-F238E27FC236}">
                <a16:creationId xmlns:a16="http://schemas.microsoft.com/office/drawing/2014/main" id="{6F890A89-CE49-405A-8E9C-90F1E4D1BC93}"/>
              </a:ext>
            </a:extLst>
          </p:cNvPr>
          <p:cNvSpPr>
            <a:spLocks xmlns:a="http://schemas.openxmlformats.org/drawingml/2006/main" noGrp="1"/>
          </p:cNvSpPr>
          <p:nvPr/>
        </p:nvSpPr>
        <p:spPr>
          <a:xfrm xmlns:a="http://schemas.openxmlformats.org/drawingml/2006/main">
            <a:off x="8515350" y="4038600"/>
            <a:ext cx="24955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40">
                <a:solidFill>
                  <a:srgbClr val="475569"/>
                </a:solidFill>
                <a:latin typeface="Aptos"/>
                <a:ea typeface="Aptos"/>
                <a:cs typeface="Aptos"/>
              </a:defRPr>
            </a:pPr>
            <a:r>
              <a:rPr sz="1140">
                <a:solidFill>
                  <a:srgbClr val="475569"/>
                </a:solidFill>
                <a:latin typeface="Aptos"/>
                <a:ea typeface="Aptos"/>
                <a:cs typeface="Aptos"/>
              </a:rPr>
              <a:t>Functional stability is the first step before user studies and clinical comparison.</a:t>
            </a:r>
          </a:p>
        </p:txBody>
      </p:sp>
      <p:sp>
        <p:nvSpPr>
          <p:cNvPr id="30" name="">
            <a:extLst xmlns:a="http://schemas.openxmlformats.org/drawingml/2006/main">
              <a:ext uri="{FF2B5EF4-FFF2-40B4-BE49-F238E27FC236}">
                <a16:creationId xmlns:a16="http://schemas.microsoft.com/office/drawing/2014/main" id="{F6AAF269-F497-4BF8-B159-3EBE5D3BC287}"/>
              </a:ext>
            </a:extLst>
          </p:cNvPr>
          <p:cNvSpPr>
            <a:spLocks xmlns:a="http://schemas.openxmlformats.org/drawingml/2006/main" noGrp="1"/>
          </p:cNvSpPr>
          <p:nvPr/>
        </p:nvSpPr>
        <p:spPr>
          <a:xfrm xmlns:a="http://schemas.openxmlformats.org/drawingml/2006/main">
            <a:off x="609600" y="64389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94A3B8"/>
                </a:solidFill>
                <a:latin typeface="Aptos"/>
                <a:ea typeface="Aptos"/>
                <a:cs typeface="Aptos"/>
              </a:defRPr>
            </a:pPr>
            <a:r>
              <a:rPr sz="825">
                <a:solidFill>
                  <a:srgbClr val="94A3B8"/>
                </a:solidFill>
                <a:latin typeface="Aptos"/>
                <a:ea typeface="Aptos"/>
                <a:cs typeface="Aptos"/>
              </a:rPr>
              <a:t>EmoScope | 5-minute oral presentation | 7/10</a:t>
            </a:r>
          </a:p>
        </p:txBody>
      </p:sp>
    </p:spTree>
    <p:extLst>
      <p:ext uri="{BB962C8B-B14F-4D97-AF65-F5344CB8AC3E}">
        <p14:creationId xmlns:p14="http://schemas.microsoft.com/office/powerpoint/2010/main" val="110579195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097D0D8-A632-47F8-B70D-10D22EAC630E}"/>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111827"/>
                </a:solidFill>
                <a:latin typeface="Aptos Display"/>
                <a:ea typeface="Aptos Display"/>
                <a:cs typeface="Aptos Display"/>
              </a:defRPr>
            </a:pPr>
            <a:r>
              <a:rPr sz="2625" b="1">
                <a:solidFill>
                  <a:srgbClr val="111827"/>
                </a:solidFill>
                <a:latin typeface="Aptos Display"/>
                <a:ea typeface="Aptos Display"/>
                <a:cs typeface="Aptos Display"/>
              </a:rPr>
              <a:t>Privacy and user agency</a:t>
            </a:r>
          </a:p>
        </p:txBody>
      </p:sp>
      <p:sp>
        <p:nvSpPr>
          <p:cNvPr id="2" name="">
            <a:extLst xmlns:a="http://schemas.openxmlformats.org/drawingml/2006/main">
              <a:ext uri="{FF2B5EF4-FFF2-40B4-BE49-F238E27FC236}">
                <a16:creationId xmlns:a16="http://schemas.microsoft.com/office/drawing/2014/main" id="{1F21F15B-5974-46E4-8A80-176C12C8B2F8}"/>
              </a:ext>
            </a:extLst>
          </p:cNvPr>
          <p:cNvSpPr>
            <a:spLocks xmlns:a="http://schemas.openxmlformats.org/drawingml/2006/main" noGrp="1"/>
          </p:cNvSpPr>
          <p:nvPr/>
        </p:nvSpPr>
        <p:spPr>
          <a:xfrm xmlns:a="http://schemas.openxmlformats.org/drawingml/2006/main">
            <a:off x="628650" y="914400"/>
            <a:ext cx="885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64748B"/>
                </a:solidFill>
                <a:latin typeface="Aptos"/>
                <a:ea typeface="Aptos"/>
                <a:cs typeface="Aptos"/>
              </a:defRPr>
            </a:pPr>
            <a:r>
              <a:rPr sz="1200">
                <a:solidFill>
                  <a:srgbClr val="64748B"/>
                </a:solidFill>
                <a:latin typeface="Aptos"/>
                <a:ea typeface="Aptos"/>
                <a:cs typeface="Aptos"/>
              </a:rPr>
              <a:t>The app separates raw sensing, structured support, and final user action.</a:t>
            </a:r>
          </a:p>
        </p:txBody>
      </p:sp>
      <p:sp>
        <p:nvSpPr>
          <p:cNvPr id="3" name="">
            <a:extLst xmlns:a="http://schemas.openxmlformats.org/drawingml/2006/main">
              <a:ext uri="{FF2B5EF4-FFF2-40B4-BE49-F238E27FC236}">
                <a16:creationId xmlns:a16="http://schemas.microsoft.com/office/drawing/2014/main" id="{8E2824C2-2BFD-47E1-958B-AB399FC17B4D}"/>
              </a:ext>
            </a:extLst>
          </p:cNvPr>
          <p:cNvSpPr>
            <a:spLocks xmlns:a="http://schemas.openxmlformats.org/drawingml/2006/main" noGrp="1"/>
          </p:cNvSpPr>
          <p:nvPr/>
        </p:nvSpPr>
        <p:spPr>
          <a:xfrm xmlns:a="http://schemas.openxmlformats.org/drawingml/2006/main">
            <a:off x="1028700" y="2095500"/>
            <a:ext cx="2190750" cy="1333500"/>
          </a:xfrm>
          <a:prstGeom xmlns:a="http://schemas.openxmlformats.org/drawingml/2006/main" prst="roundRect">
            <a:avLst>
              <a:gd name="adj" fmla="val 11429"/>
            </a:avLst>
          </a:prstGeom>
          <a:solidFill xmlns:a="http://schemas.openxmlformats.org/drawingml/2006/main">
            <a:srgbClr val="ECF4FF"/>
          </a:solidFill>
          <a:ln xmlns:a="http://schemas.openxmlformats.org/drawingml/2006/main" w="9525">
            <a:solidFill>
              <a:srgbClr val="CBD5E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 name="">
            <a:extLst xmlns:a="http://schemas.openxmlformats.org/drawingml/2006/main">
              <a:ext uri="{FF2B5EF4-FFF2-40B4-BE49-F238E27FC236}">
                <a16:creationId xmlns:a16="http://schemas.microsoft.com/office/drawing/2014/main" id="{3B56E0D4-C3CA-4459-BDAE-B92009F6B277}"/>
              </a:ext>
            </a:extLst>
          </p:cNvPr>
          <p:cNvSpPr>
            <a:spLocks xmlns:a="http://schemas.openxmlformats.org/drawingml/2006/main" noGrp="1"/>
          </p:cNvSpPr>
          <p:nvPr/>
        </p:nvSpPr>
        <p:spPr>
          <a:xfrm xmlns:a="http://schemas.openxmlformats.org/drawingml/2006/main">
            <a:off x="1200150" y="226695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111827"/>
                </a:solidFill>
                <a:latin typeface="Aptos"/>
                <a:ea typeface="Aptos"/>
                <a:cs typeface="Aptos"/>
              </a:defRPr>
            </a:pPr>
            <a:r>
              <a:rPr sz="1350" b="1">
                <a:solidFill>
                  <a:srgbClr val="111827"/>
                </a:solidFill>
                <a:latin typeface="Aptos"/>
                <a:ea typeface="Aptos"/>
                <a:cs typeface="Aptos"/>
              </a:rPr>
              <a:t>Private zone</a:t>
            </a:r>
          </a:p>
        </p:txBody>
      </p:sp>
      <p:sp>
        <p:nvSpPr>
          <p:cNvPr id="5" name="">
            <a:extLst xmlns:a="http://schemas.openxmlformats.org/drawingml/2006/main">
              <a:ext uri="{FF2B5EF4-FFF2-40B4-BE49-F238E27FC236}">
                <a16:creationId xmlns:a16="http://schemas.microsoft.com/office/drawing/2014/main" id="{23915A82-931A-4A86-9B53-7252BAC3DEAA}"/>
              </a:ext>
            </a:extLst>
          </p:cNvPr>
          <p:cNvSpPr>
            <a:spLocks xmlns:a="http://schemas.openxmlformats.org/drawingml/2006/main" noGrp="1"/>
          </p:cNvSpPr>
          <p:nvPr/>
        </p:nvSpPr>
        <p:spPr>
          <a:xfrm xmlns:a="http://schemas.openxmlformats.org/drawingml/2006/main">
            <a:off x="1200150" y="2619375"/>
            <a:ext cx="1809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13">
                <a:solidFill>
                  <a:srgbClr val="475569"/>
                </a:solidFill>
                <a:latin typeface="Aptos"/>
                <a:ea typeface="Aptos"/>
                <a:cs typeface="Aptos"/>
              </a:defRPr>
            </a:pPr>
            <a:r>
              <a:rPr sz="1013">
                <a:solidFill>
                  <a:srgbClr val="475569"/>
                </a:solidFill>
                <a:latin typeface="Aptos"/>
                <a:ea typeface="Aptos"/>
                <a:cs typeface="Aptos"/>
              </a:rPr>
              <a:t>Camera frames</a:t>
            </a:r>
          </a:p>
          <a:p xmlns:a="http://schemas.openxmlformats.org/drawingml/2006/main">
            <a:pPr>
              <a:defRPr sz="1013">
                <a:solidFill>
                  <a:srgbClr val="475569"/>
                </a:solidFill>
                <a:latin typeface="Aptos"/>
                <a:ea typeface="Aptos"/>
                <a:cs typeface="Aptos"/>
              </a:defRPr>
            </a:pPr>
            <a:r>
              <a:rPr sz="1013">
                <a:solidFill>
                  <a:srgbClr val="475569"/>
                </a:solidFill>
                <a:latin typeface="Aptos"/>
                <a:ea typeface="Aptos"/>
                <a:cs typeface="Aptos"/>
              </a:rPr>
              <a:t>Blendshape inference</a:t>
            </a:r>
          </a:p>
          <a:p xmlns:a="http://schemas.openxmlformats.org/drawingml/2006/main">
            <a:pPr>
              <a:defRPr sz="1013">
                <a:solidFill>
                  <a:srgbClr val="475569"/>
                </a:solidFill>
                <a:latin typeface="Aptos"/>
                <a:ea typeface="Aptos"/>
                <a:cs typeface="Aptos"/>
              </a:defRPr>
            </a:pPr>
            <a:r>
              <a:rPr sz="1013">
                <a:solidFill>
                  <a:srgbClr val="475569"/>
                </a:solidFill>
                <a:latin typeface="Aptos"/>
                <a:ea typeface="Aptos"/>
                <a:cs typeface="Aptos"/>
              </a:rPr>
              <a:t>SQLite records</a:t>
            </a:r>
          </a:p>
          <a:p xmlns:a="http://schemas.openxmlformats.org/drawingml/2006/main">
            <a:pPr>
              <a:defRPr sz="1013">
                <a:solidFill>
                  <a:srgbClr val="475569"/>
                </a:solidFill>
                <a:latin typeface="Aptos"/>
                <a:ea typeface="Aptos"/>
                <a:cs typeface="Aptos"/>
              </a:defRPr>
            </a:pPr>
            <a:r>
              <a:rPr sz="1013">
                <a:solidFill>
                  <a:srgbClr val="475569"/>
                </a:solidFill>
                <a:latin typeface="Aptos"/>
                <a:ea typeface="Aptos"/>
                <a:cs typeface="Aptos"/>
              </a:rPr>
              <a:t>Encrypted keys</a:t>
            </a:r>
          </a:p>
        </p:txBody>
      </p:sp>
      <p:sp>
        <p:nvSpPr>
          <p:cNvPr id="6" name="">
            <a:extLst xmlns:a="http://schemas.openxmlformats.org/drawingml/2006/main">
              <a:ext uri="{FF2B5EF4-FFF2-40B4-BE49-F238E27FC236}">
                <a16:creationId xmlns:a16="http://schemas.microsoft.com/office/drawing/2014/main" id="{0D167AF9-3C2A-485F-BA7D-8A58D79D9B04}"/>
              </a:ext>
            </a:extLst>
          </p:cNvPr>
          <p:cNvSpPr>
            <a:spLocks xmlns:a="http://schemas.openxmlformats.org/drawingml/2006/main" noGrp="1"/>
          </p:cNvSpPr>
          <p:nvPr/>
        </p:nvSpPr>
        <p:spPr>
          <a:xfrm xmlns:a="http://schemas.openxmlformats.org/drawingml/2006/main">
            <a:off x="2743200" y="2266950"/>
            <a:ext cx="285750" cy="285750"/>
          </a:xfrm>
          <a:prstGeom xmlns:a="http://schemas.openxmlformats.org/drawingml/2006/main" prst="ellipse">
            <a:avLst/>
          </a:prstGeom>
          <a:solidFill xmlns:a="http://schemas.openxmlformats.org/drawingml/2006/main">
            <a:srgbClr val="3B82F6"/>
          </a:solidFill>
          <a:ln xmlns:a="http://schemas.openxmlformats.org/drawingml/2006/main" w="0">
            <a:solidFill>
              <a:srgbClr val="3B82F6"/>
            </a:solidFill>
            <a:prstDash val="solid"/>
          </a:ln>
        </p:spPr>
      </p:sp>
      <p:sp>
        <p:nvSpPr>
          <p:cNvPr id="7" name="">
            <a:extLst xmlns:a="http://schemas.openxmlformats.org/drawingml/2006/main">
              <a:ext uri="{FF2B5EF4-FFF2-40B4-BE49-F238E27FC236}">
                <a16:creationId xmlns:a16="http://schemas.microsoft.com/office/drawing/2014/main" id="{355FA3B1-7066-40F7-AB17-952BA26758EE}"/>
              </a:ext>
            </a:extLst>
          </p:cNvPr>
          <p:cNvSpPr>
            <a:spLocks xmlns:a="http://schemas.openxmlformats.org/drawingml/2006/main" noGrp="1"/>
          </p:cNvSpPr>
          <p:nvPr/>
        </p:nvSpPr>
        <p:spPr>
          <a:xfrm xmlns:a="http://schemas.openxmlformats.org/drawingml/2006/main">
            <a:off x="3352800" y="2495550"/>
            <a:ext cx="4000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64748B"/>
                </a:solidFill>
                <a:latin typeface="Aptos"/>
                <a:ea typeface="Aptos"/>
                <a:cs typeface="Aptos"/>
              </a:defRPr>
            </a:pPr>
            <a:r>
              <a:rPr sz="3000" b="1">
                <a:solidFill>
                  <a:srgbClr val="64748B"/>
                </a:solidFill>
                <a:latin typeface="Aptos"/>
                <a:ea typeface="Aptos"/>
                <a:cs typeface="Aptos"/>
              </a:rPr>
              <a:t>→</a:t>
            </a:r>
          </a:p>
        </p:txBody>
      </p:sp>
      <p:sp>
        <p:nvSpPr>
          <p:cNvPr id="8" name="">
            <a:extLst xmlns:a="http://schemas.openxmlformats.org/drawingml/2006/main">
              <a:ext uri="{FF2B5EF4-FFF2-40B4-BE49-F238E27FC236}">
                <a16:creationId xmlns:a16="http://schemas.microsoft.com/office/drawing/2014/main" id="{10B06F91-66A9-41D4-A0B4-F09EE67186EC}"/>
              </a:ext>
            </a:extLst>
          </p:cNvPr>
          <p:cNvSpPr>
            <a:spLocks xmlns:a="http://schemas.openxmlformats.org/drawingml/2006/main" noGrp="1"/>
          </p:cNvSpPr>
          <p:nvPr/>
        </p:nvSpPr>
        <p:spPr>
          <a:xfrm xmlns:a="http://schemas.openxmlformats.org/drawingml/2006/main">
            <a:off x="3857625" y="2095500"/>
            <a:ext cx="2190750" cy="1333500"/>
          </a:xfrm>
          <a:prstGeom xmlns:a="http://schemas.openxmlformats.org/drawingml/2006/main" prst="roundRect">
            <a:avLst>
              <a:gd name="adj" fmla="val 11429"/>
            </a:avLst>
          </a:prstGeom>
          <a:solidFill xmlns:a="http://schemas.openxmlformats.org/drawingml/2006/main">
            <a:srgbClr val="ECFDF5"/>
          </a:solidFill>
          <a:ln xmlns:a="http://schemas.openxmlformats.org/drawingml/2006/main" w="9525">
            <a:solidFill>
              <a:srgbClr val="CBD5E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65336FAD-1F01-473D-A8B6-C519F222537F}"/>
              </a:ext>
            </a:extLst>
          </p:cNvPr>
          <p:cNvSpPr>
            <a:spLocks xmlns:a="http://schemas.openxmlformats.org/drawingml/2006/main" noGrp="1"/>
          </p:cNvSpPr>
          <p:nvPr/>
        </p:nvSpPr>
        <p:spPr>
          <a:xfrm xmlns:a="http://schemas.openxmlformats.org/drawingml/2006/main">
            <a:off x="4029075" y="226695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111827"/>
                </a:solidFill>
                <a:latin typeface="Aptos"/>
                <a:ea typeface="Aptos"/>
                <a:cs typeface="Aptos"/>
              </a:defRPr>
            </a:pPr>
            <a:r>
              <a:rPr sz="1350" b="1">
                <a:solidFill>
                  <a:srgbClr val="111827"/>
                </a:solidFill>
                <a:latin typeface="Aptos"/>
                <a:ea typeface="Aptos"/>
                <a:cs typeface="Aptos"/>
              </a:rPr>
              <a:t>Minimal sharing</a:t>
            </a:r>
          </a:p>
        </p:txBody>
      </p:sp>
      <p:sp>
        <p:nvSpPr>
          <p:cNvPr id="10" name="">
            <a:extLst xmlns:a="http://schemas.openxmlformats.org/drawingml/2006/main">
              <a:ext uri="{FF2B5EF4-FFF2-40B4-BE49-F238E27FC236}">
                <a16:creationId xmlns:a16="http://schemas.microsoft.com/office/drawing/2014/main" id="{36BCED6E-BA4C-4768-89AC-06B4CAFDB17F}"/>
              </a:ext>
            </a:extLst>
          </p:cNvPr>
          <p:cNvSpPr>
            <a:spLocks xmlns:a="http://schemas.openxmlformats.org/drawingml/2006/main" noGrp="1"/>
          </p:cNvSpPr>
          <p:nvPr/>
        </p:nvSpPr>
        <p:spPr>
          <a:xfrm xmlns:a="http://schemas.openxmlformats.org/drawingml/2006/main">
            <a:off x="4029075" y="2619375"/>
            <a:ext cx="1809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13">
                <a:solidFill>
                  <a:srgbClr val="475569"/>
                </a:solidFill>
                <a:latin typeface="Aptos"/>
                <a:ea typeface="Aptos"/>
                <a:cs typeface="Aptos"/>
              </a:defRPr>
            </a:pPr>
            <a:r>
              <a:rPr sz="1013">
                <a:solidFill>
                  <a:srgbClr val="475569"/>
                </a:solidFill>
                <a:latin typeface="Aptos"/>
                <a:ea typeface="Aptos"/>
                <a:cs typeface="Aptos"/>
              </a:rPr>
              <a:t>Structured mood context</a:t>
            </a:r>
          </a:p>
          <a:p xmlns:a="http://schemas.openxmlformats.org/drawingml/2006/main">
            <a:pPr>
              <a:defRPr sz="1013">
                <a:solidFill>
                  <a:srgbClr val="475569"/>
                </a:solidFill>
                <a:latin typeface="Aptos"/>
                <a:ea typeface="Aptos"/>
                <a:cs typeface="Aptos"/>
              </a:defRPr>
            </a:pPr>
            <a:r>
              <a:rPr sz="1013">
                <a:solidFill>
                  <a:srgbClr val="475569"/>
                </a:solidFill>
                <a:latin typeface="Aptos"/>
                <a:ea typeface="Aptos"/>
                <a:cs typeface="Aptos"/>
              </a:rPr>
              <a:t>No raw face images</a:t>
            </a:r>
          </a:p>
          <a:p xmlns:a="http://schemas.openxmlformats.org/drawingml/2006/main">
            <a:pPr>
              <a:defRPr sz="1013">
                <a:solidFill>
                  <a:srgbClr val="475569"/>
                </a:solidFill>
                <a:latin typeface="Aptos"/>
                <a:ea typeface="Aptos"/>
                <a:cs typeface="Aptos"/>
              </a:defRPr>
            </a:pPr>
            <a:r>
              <a:rPr sz="1013">
                <a:solidFill>
                  <a:srgbClr val="475569"/>
                </a:solidFill>
                <a:latin typeface="Aptos"/>
                <a:ea typeface="Aptos"/>
                <a:cs typeface="Aptos"/>
              </a:rPr>
              <a:t>HTTPS request</a:t>
            </a:r>
          </a:p>
          <a:p xmlns:a="http://schemas.openxmlformats.org/drawingml/2006/main">
            <a:pPr>
              <a:defRPr sz="1013">
                <a:solidFill>
                  <a:srgbClr val="475569"/>
                </a:solidFill>
                <a:latin typeface="Aptos"/>
                <a:ea typeface="Aptos"/>
                <a:cs typeface="Aptos"/>
              </a:defRPr>
            </a:pPr>
            <a:r>
              <a:rPr sz="1013">
                <a:solidFill>
                  <a:srgbClr val="475569"/>
                </a:solidFill>
                <a:latin typeface="Aptos"/>
                <a:ea typeface="Aptos"/>
                <a:cs typeface="Aptos"/>
              </a:rPr>
              <a:t>Readable export</a:t>
            </a:r>
          </a:p>
        </p:txBody>
      </p:sp>
      <p:sp>
        <p:nvSpPr>
          <p:cNvPr id="11" name="">
            <a:extLst xmlns:a="http://schemas.openxmlformats.org/drawingml/2006/main">
              <a:ext uri="{FF2B5EF4-FFF2-40B4-BE49-F238E27FC236}">
                <a16:creationId xmlns:a16="http://schemas.microsoft.com/office/drawing/2014/main" id="{2E31BADA-673E-41DC-9D44-E0D07CF0BEEE}"/>
              </a:ext>
            </a:extLst>
          </p:cNvPr>
          <p:cNvSpPr>
            <a:spLocks xmlns:a="http://schemas.openxmlformats.org/drawingml/2006/main" noGrp="1"/>
          </p:cNvSpPr>
          <p:nvPr/>
        </p:nvSpPr>
        <p:spPr>
          <a:xfrm xmlns:a="http://schemas.openxmlformats.org/drawingml/2006/main">
            <a:off x="5572125" y="2266950"/>
            <a:ext cx="285750" cy="28575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2" name="">
            <a:extLst xmlns:a="http://schemas.openxmlformats.org/drawingml/2006/main">
              <a:ext uri="{FF2B5EF4-FFF2-40B4-BE49-F238E27FC236}">
                <a16:creationId xmlns:a16="http://schemas.microsoft.com/office/drawing/2014/main" id="{510EAEB8-EEE9-4245-93E9-9159D42DA074}"/>
              </a:ext>
            </a:extLst>
          </p:cNvPr>
          <p:cNvSpPr>
            <a:spLocks xmlns:a="http://schemas.openxmlformats.org/drawingml/2006/main" noGrp="1"/>
          </p:cNvSpPr>
          <p:nvPr/>
        </p:nvSpPr>
        <p:spPr>
          <a:xfrm xmlns:a="http://schemas.openxmlformats.org/drawingml/2006/main">
            <a:off x="6191250" y="2495550"/>
            <a:ext cx="4000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64748B"/>
                </a:solidFill>
                <a:latin typeface="Aptos"/>
                <a:ea typeface="Aptos"/>
                <a:cs typeface="Aptos"/>
              </a:defRPr>
            </a:pPr>
            <a:r>
              <a:rPr sz="3000" b="1">
                <a:solidFill>
                  <a:srgbClr val="64748B"/>
                </a:solidFill>
                <a:latin typeface="Aptos"/>
                <a:ea typeface="Aptos"/>
                <a:cs typeface="Aptos"/>
              </a:rPr>
              <a:t>→</a:t>
            </a:r>
          </a:p>
        </p:txBody>
      </p:sp>
      <p:sp>
        <p:nvSpPr>
          <p:cNvPr id="13" name="">
            <a:extLst xmlns:a="http://schemas.openxmlformats.org/drawingml/2006/main">
              <a:ext uri="{FF2B5EF4-FFF2-40B4-BE49-F238E27FC236}">
                <a16:creationId xmlns:a16="http://schemas.microsoft.com/office/drawing/2014/main" id="{5457E220-4163-4FCE-B8E2-A3286269989C}"/>
              </a:ext>
            </a:extLst>
          </p:cNvPr>
          <p:cNvSpPr>
            <a:spLocks xmlns:a="http://schemas.openxmlformats.org/drawingml/2006/main" noGrp="1"/>
          </p:cNvSpPr>
          <p:nvPr/>
        </p:nvSpPr>
        <p:spPr>
          <a:xfrm xmlns:a="http://schemas.openxmlformats.org/drawingml/2006/main">
            <a:off x="6696075" y="2095500"/>
            <a:ext cx="2190750" cy="1333500"/>
          </a:xfrm>
          <a:prstGeom xmlns:a="http://schemas.openxmlformats.org/drawingml/2006/main" prst="roundRect">
            <a:avLst>
              <a:gd name="adj" fmla="val 11429"/>
            </a:avLst>
          </a:prstGeom>
          <a:solidFill xmlns:a="http://schemas.openxmlformats.org/drawingml/2006/main">
            <a:srgbClr val="FFF7ED"/>
          </a:solidFill>
          <a:ln xmlns:a="http://schemas.openxmlformats.org/drawingml/2006/main" w="9525">
            <a:solidFill>
              <a:srgbClr val="CBD5E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87C4DD17-3CAE-4DFA-9A88-EC5F02DB714D}"/>
              </a:ext>
            </a:extLst>
          </p:cNvPr>
          <p:cNvSpPr>
            <a:spLocks xmlns:a="http://schemas.openxmlformats.org/drawingml/2006/main" noGrp="1"/>
          </p:cNvSpPr>
          <p:nvPr/>
        </p:nvSpPr>
        <p:spPr>
          <a:xfrm xmlns:a="http://schemas.openxmlformats.org/drawingml/2006/main">
            <a:off x="6867525" y="226695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111827"/>
                </a:solidFill>
                <a:latin typeface="Aptos"/>
                <a:ea typeface="Aptos"/>
                <a:cs typeface="Aptos"/>
              </a:defRPr>
            </a:pPr>
            <a:r>
              <a:rPr sz="1350" b="1">
                <a:solidFill>
                  <a:srgbClr val="111827"/>
                </a:solidFill>
                <a:latin typeface="Aptos"/>
                <a:ea typeface="Aptos"/>
                <a:cs typeface="Aptos"/>
              </a:rPr>
              <a:t>User agency</a:t>
            </a:r>
          </a:p>
        </p:txBody>
      </p:sp>
      <p:sp>
        <p:nvSpPr>
          <p:cNvPr id="15" name="">
            <a:extLst xmlns:a="http://schemas.openxmlformats.org/drawingml/2006/main">
              <a:ext uri="{FF2B5EF4-FFF2-40B4-BE49-F238E27FC236}">
                <a16:creationId xmlns:a16="http://schemas.microsoft.com/office/drawing/2014/main" id="{F42E7310-4DE1-47C2-AD66-4D2F6F1553A3}"/>
              </a:ext>
            </a:extLst>
          </p:cNvPr>
          <p:cNvSpPr>
            <a:spLocks xmlns:a="http://schemas.openxmlformats.org/drawingml/2006/main" noGrp="1"/>
          </p:cNvSpPr>
          <p:nvPr/>
        </p:nvSpPr>
        <p:spPr>
          <a:xfrm xmlns:a="http://schemas.openxmlformats.org/drawingml/2006/main">
            <a:off x="6867525" y="2619375"/>
            <a:ext cx="1809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13">
                <a:solidFill>
                  <a:srgbClr val="475569"/>
                </a:solidFill>
                <a:latin typeface="Aptos"/>
                <a:ea typeface="Aptos"/>
                <a:cs typeface="Aptos"/>
              </a:defRPr>
            </a:pPr>
            <a:r>
              <a:rPr sz="1013">
                <a:solidFill>
                  <a:srgbClr val="475569"/>
                </a:solidFill>
                <a:latin typeface="Aptos"/>
                <a:ea typeface="Aptos"/>
                <a:cs typeface="Aptos"/>
              </a:rPr>
              <a:t>Confirm SOS</a:t>
            </a:r>
          </a:p>
          <a:p xmlns:a="http://schemas.openxmlformats.org/drawingml/2006/main">
            <a:pPr>
              <a:defRPr sz="1013">
                <a:solidFill>
                  <a:srgbClr val="475569"/>
                </a:solidFill>
                <a:latin typeface="Aptos"/>
                <a:ea typeface="Aptos"/>
                <a:cs typeface="Aptos"/>
              </a:defRPr>
            </a:pPr>
            <a:r>
              <a:rPr sz="1013">
                <a:solidFill>
                  <a:srgbClr val="475569"/>
                </a:solidFill>
                <a:latin typeface="Aptos"/>
                <a:ea typeface="Aptos"/>
                <a:cs typeface="Aptos"/>
              </a:rPr>
              <a:t>Clear local records</a:t>
            </a:r>
          </a:p>
          <a:p xmlns:a="http://schemas.openxmlformats.org/drawingml/2006/main">
            <a:pPr>
              <a:defRPr sz="1013">
                <a:solidFill>
                  <a:srgbClr val="475569"/>
                </a:solidFill>
                <a:latin typeface="Aptos"/>
                <a:ea typeface="Aptos"/>
                <a:cs typeface="Aptos"/>
              </a:defRPr>
            </a:pPr>
            <a:r>
              <a:rPr sz="1013">
                <a:solidFill>
                  <a:srgbClr val="475569"/>
                </a:solidFill>
                <a:latin typeface="Aptos"/>
                <a:ea typeface="Aptos"/>
                <a:cs typeface="Aptos"/>
              </a:rPr>
              <a:t>Export data</a:t>
            </a:r>
          </a:p>
          <a:p xmlns:a="http://schemas.openxmlformats.org/drawingml/2006/main">
            <a:pPr>
              <a:defRPr sz="1013">
                <a:solidFill>
                  <a:srgbClr val="475569"/>
                </a:solidFill>
                <a:latin typeface="Aptos"/>
                <a:ea typeface="Aptos"/>
                <a:cs typeface="Aptos"/>
              </a:defRPr>
            </a:pPr>
            <a:r>
              <a:rPr sz="1013">
                <a:solidFill>
                  <a:srgbClr val="475569"/>
                </a:solidFill>
                <a:latin typeface="Aptos"/>
                <a:ea typeface="Aptos"/>
                <a:cs typeface="Aptos"/>
              </a:rPr>
              <a:t>Choose whether to call</a:t>
            </a:r>
          </a:p>
        </p:txBody>
      </p:sp>
      <p:sp>
        <p:nvSpPr>
          <p:cNvPr id="16" name="">
            <a:extLst xmlns:a="http://schemas.openxmlformats.org/drawingml/2006/main">
              <a:ext uri="{FF2B5EF4-FFF2-40B4-BE49-F238E27FC236}">
                <a16:creationId xmlns:a16="http://schemas.microsoft.com/office/drawing/2014/main" id="{556308C5-5098-497F-9420-A51D12B55543}"/>
              </a:ext>
            </a:extLst>
          </p:cNvPr>
          <p:cNvSpPr>
            <a:spLocks xmlns:a="http://schemas.openxmlformats.org/drawingml/2006/main" noGrp="1"/>
          </p:cNvSpPr>
          <p:nvPr/>
        </p:nvSpPr>
        <p:spPr>
          <a:xfrm xmlns:a="http://schemas.openxmlformats.org/drawingml/2006/main">
            <a:off x="8410575" y="2266950"/>
            <a:ext cx="285750" cy="285750"/>
          </a:xfrm>
          <a:prstGeom xmlns:a="http://schemas.openxmlformats.org/drawingml/2006/main" prst="ellipse">
            <a:avLst/>
          </a:prstGeom>
          <a:solidFill xmlns:a="http://schemas.openxmlformats.org/drawingml/2006/main">
            <a:srgbClr val="F59E0B"/>
          </a:solidFill>
          <a:ln xmlns:a="http://schemas.openxmlformats.org/drawingml/2006/main" w="0">
            <a:solidFill>
              <a:srgbClr val="F59E0B"/>
            </a:solidFill>
            <a:prstDash val="solid"/>
          </a:ln>
        </p:spPr>
      </p:sp>
      <p:sp>
        <p:nvSpPr>
          <p:cNvPr id="17" name="">
            <a:extLst xmlns:a="http://schemas.openxmlformats.org/drawingml/2006/main">
              <a:ext uri="{FF2B5EF4-FFF2-40B4-BE49-F238E27FC236}">
                <a16:creationId xmlns:a16="http://schemas.microsoft.com/office/drawing/2014/main" id="{4B765379-2EDE-4FB0-AEDA-4850544EE06E}"/>
              </a:ext>
            </a:extLst>
          </p:cNvPr>
          <p:cNvSpPr>
            <a:spLocks xmlns:a="http://schemas.openxmlformats.org/drawingml/2006/main" noGrp="1"/>
          </p:cNvSpPr>
          <p:nvPr/>
        </p:nvSpPr>
        <p:spPr>
          <a:xfrm xmlns:a="http://schemas.openxmlformats.org/drawingml/2006/main">
            <a:off x="9334500" y="1952625"/>
            <a:ext cx="2000250" cy="2000250"/>
          </a:xfrm>
          <a:prstGeom xmlns:a="http://schemas.openxmlformats.org/drawingml/2006/main" prst="roundRect">
            <a:avLst>
              <a:gd name="adj" fmla="val 7619"/>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8" name="">
            <a:extLst xmlns:a="http://schemas.openxmlformats.org/drawingml/2006/main">
              <a:ext uri="{FF2B5EF4-FFF2-40B4-BE49-F238E27FC236}">
                <a16:creationId xmlns:a16="http://schemas.microsoft.com/office/drawing/2014/main" id="{688D5B56-9277-41B2-9873-6FE624762C62}"/>
              </a:ext>
            </a:extLst>
          </p:cNvPr>
          <p:cNvSpPr>
            <a:spLocks xmlns:a="http://schemas.openxmlformats.org/drawingml/2006/main" noGrp="1"/>
          </p:cNvSpPr>
          <p:nvPr/>
        </p:nvSpPr>
        <p:spPr>
          <a:xfrm xmlns:a="http://schemas.openxmlformats.org/drawingml/2006/main">
            <a:off x="9334500" y="1952625"/>
            <a:ext cx="66675" cy="2000250"/>
          </a:xfrm>
          <a:prstGeom xmlns:a="http://schemas.openxmlformats.org/drawingml/2006/main" prst="rect">
            <a:avLst/>
          </a:prstGeom>
          <a:solidFill xmlns:a="http://schemas.openxmlformats.org/drawingml/2006/main">
            <a:srgbClr val="EF4444"/>
          </a:solidFill>
          <a:ln xmlns:a="http://schemas.openxmlformats.org/drawingml/2006/main" w="0">
            <a:solidFill>
              <a:srgbClr val="EF4444"/>
            </a:solidFill>
            <a:prstDash val="solid"/>
          </a:ln>
        </p:spPr>
      </p:sp>
      <p:sp>
        <p:nvSpPr>
          <p:cNvPr id="19" name="">
            <a:extLst xmlns:a="http://schemas.openxmlformats.org/drawingml/2006/main">
              <a:ext uri="{FF2B5EF4-FFF2-40B4-BE49-F238E27FC236}">
                <a16:creationId xmlns:a16="http://schemas.microsoft.com/office/drawing/2014/main" id="{5CDEF5CD-C48C-4911-B666-A38C1FD2913A}"/>
              </a:ext>
            </a:extLst>
          </p:cNvPr>
          <p:cNvSpPr>
            <a:spLocks xmlns:a="http://schemas.openxmlformats.org/drawingml/2006/main" noGrp="1"/>
          </p:cNvSpPr>
          <p:nvPr/>
        </p:nvSpPr>
        <p:spPr>
          <a:xfrm xmlns:a="http://schemas.openxmlformats.org/drawingml/2006/main">
            <a:off x="9563100" y="2124075"/>
            <a:ext cx="1543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1">
                <a:solidFill>
                  <a:srgbClr val="111827"/>
                </a:solidFill>
                <a:latin typeface="Aptos"/>
                <a:ea typeface="Aptos"/>
                <a:cs typeface="Aptos"/>
              </a:defRPr>
            </a:pPr>
            <a:r>
              <a:rPr sz="1425" b="1">
                <a:solidFill>
                  <a:srgbClr val="111827"/>
                </a:solidFill>
                <a:latin typeface="Aptos"/>
                <a:ea typeface="Aptos"/>
                <a:cs typeface="Aptos"/>
              </a:rPr>
              <a:t>Ethical stance</a:t>
            </a:r>
          </a:p>
        </p:txBody>
      </p:sp>
      <p:sp>
        <p:nvSpPr>
          <p:cNvPr id="20" name="">
            <a:extLst xmlns:a="http://schemas.openxmlformats.org/drawingml/2006/main">
              <a:ext uri="{FF2B5EF4-FFF2-40B4-BE49-F238E27FC236}">
                <a16:creationId xmlns:a16="http://schemas.microsoft.com/office/drawing/2014/main" id="{BA2DA362-19CC-4D4A-B0BA-6F2385DF3E61}"/>
              </a:ext>
            </a:extLst>
          </p:cNvPr>
          <p:cNvSpPr>
            <a:spLocks xmlns:a="http://schemas.openxmlformats.org/drawingml/2006/main" noGrp="1"/>
          </p:cNvSpPr>
          <p:nvPr/>
        </p:nvSpPr>
        <p:spPr>
          <a:xfrm xmlns:a="http://schemas.openxmlformats.org/drawingml/2006/main">
            <a:off x="9563100" y="2466975"/>
            <a:ext cx="1543050" cy="1409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40">
                <a:solidFill>
                  <a:srgbClr val="475569"/>
                </a:solidFill>
                <a:latin typeface="Aptos"/>
                <a:ea typeface="Aptos"/>
                <a:cs typeface="Aptos"/>
              </a:defRPr>
            </a:pPr>
            <a:r>
              <a:rPr sz="1140">
                <a:solidFill>
                  <a:srgbClr val="475569"/>
                </a:solidFill>
                <a:latin typeface="Aptos"/>
                <a:ea typeface="Aptos"/>
                <a:cs typeface="Aptos"/>
              </a:rPr>
              <a:t>The system may suggest support, but it should not turn uncertain emotional inference into automatic high-stakes action.</a:t>
            </a:r>
          </a:p>
        </p:txBody>
      </p:sp>
      <p:sp>
        <p:nvSpPr>
          <p:cNvPr id="21" name="">
            <a:extLst xmlns:a="http://schemas.openxmlformats.org/drawingml/2006/main">
              <a:ext uri="{FF2B5EF4-FFF2-40B4-BE49-F238E27FC236}">
                <a16:creationId xmlns:a16="http://schemas.microsoft.com/office/drawing/2014/main" id="{1086C841-F77D-4208-9D7E-E8D46B43BDF6}"/>
              </a:ext>
            </a:extLst>
          </p:cNvPr>
          <p:cNvSpPr>
            <a:spLocks xmlns:a="http://schemas.openxmlformats.org/drawingml/2006/main" noGrp="1"/>
          </p:cNvSpPr>
          <p:nvPr/>
        </p:nvSpPr>
        <p:spPr>
          <a:xfrm xmlns:a="http://schemas.openxmlformats.org/drawingml/2006/main">
            <a:off x="1390650" y="4648200"/>
            <a:ext cx="8191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250" b="1">
                <a:solidFill>
                  <a:srgbClr val="111827"/>
                </a:solidFill>
                <a:latin typeface="Aptos Display"/>
                <a:ea typeface="Aptos Display"/>
                <a:cs typeface="Aptos Display"/>
              </a:defRPr>
            </a:pPr>
            <a:r>
              <a:rPr sz="2250" b="1">
                <a:solidFill>
                  <a:srgbClr val="111827"/>
                </a:solidFill>
                <a:latin typeface="Aptos Display"/>
                <a:ea typeface="Aptos Display"/>
                <a:cs typeface="Aptos Display"/>
              </a:rPr>
              <a:t>Boundary rule: support is guided; escalation is confirmed.</a:t>
            </a:r>
          </a:p>
        </p:txBody>
      </p:sp>
      <p:sp>
        <p:nvSpPr>
          <p:cNvPr id="22" name="">
            <a:extLst xmlns:a="http://schemas.openxmlformats.org/drawingml/2006/main">
              <a:ext uri="{FF2B5EF4-FFF2-40B4-BE49-F238E27FC236}">
                <a16:creationId xmlns:a16="http://schemas.microsoft.com/office/drawing/2014/main" id="{40BCE0E2-B003-4452-ABCB-2CCEDD36CD31}"/>
              </a:ext>
            </a:extLst>
          </p:cNvPr>
          <p:cNvSpPr>
            <a:spLocks xmlns:a="http://schemas.openxmlformats.org/drawingml/2006/main" noGrp="1"/>
          </p:cNvSpPr>
          <p:nvPr/>
        </p:nvSpPr>
        <p:spPr>
          <a:xfrm xmlns:a="http://schemas.openxmlformats.org/drawingml/2006/main">
            <a:off x="609600" y="64389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94A3B8"/>
                </a:solidFill>
                <a:latin typeface="Aptos"/>
                <a:ea typeface="Aptos"/>
                <a:cs typeface="Aptos"/>
              </a:defRPr>
            </a:pPr>
            <a:r>
              <a:rPr sz="825">
                <a:solidFill>
                  <a:srgbClr val="94A3B8"/>
                </a:solidFill>
                <a:latin typeface="Aptos"/>
                <a:ea typeface="Aptos"/>
                <a:cs typeface="Aptos"/>
              </a:rPr>
              <a:t>EmoScope | 5-minute oral presentation | 8/10</a:t>
            </a:r>
          </a:p>
        </p:txBody>
      </p:sp>
    </p:spTree>
    <p:extLst>
      <p:ext uri="{BB962C8B-B14F-4D97-AF65-F5344CB8AC3E}">
        <p14:creationId xmlns:p14="http://schemas.microsoft.com/office/powerpoint/2010/main" val="250841649"/>
      </p:ext>
    </p:extLst>
  </p:cSld>
</p:sld>
</file>

<file path=ppt/slides/slide9.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52BD240-1CBA-48C1-B5E5-481A6FDAE455}"/>
              </a:ext>
            </a:extLst>
          </p:cNvPr>
          <p:cNvSpPr>
            <a:spLocks xmlns:a="http://schemas.openxmlformats.org/drawingml/2006/main" noGrp="1"/>
          </p:cNvSpPr>
          <p:nvPr/>
        </p:nvSpPr>
        <p:spPr>
          <a:xfrm xmlns:a="http://schemas.openxmlformats.org/drawingml/2006/main">
            <a:off x="609600" y="400050"/>
            <a:ext cx="857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111827"/>
                </a:solidFill>
                <a:latin typeface="Aptos Display"/>
                <a:ea typeface="Aptos Display"/>
                <a:cs typeface="Aptos Display"/>
              </a:defRPr>
            </a:pPr>
            <a:r>
              <a:rPr sz="2625" b="1">
                <a:solidFill>
                  <a:srgbClr val="111827"/>
                </a:solidFill>
                <a:latin typeface="Aptos Display"/>
                <a:ea typeface="Aptos Display"/>
                <a:cs typeface="Aptos Display"/>
              </a:rPr>
              <a:t>Limitations and future work</a:t>
            </a:r>
          </a:p>
        </p:txBody>
      </p:sp>
      <p:sp>
        <p:nvSpPr>
          <p:cNvPr id="2" name="">
            <a:extLst xmlns:a="http://schemas.openxmlformats.org/drawingml/2006/main">
              <a:ext uri="{FF2B5EF4-FFF2-40B4-BE49-F238E27FC236}">
                <a16:creationId xmlns:a16="http://schemas.microsoft.com/office/drawing/2014/main" id="{42835409-5217-47E8-898A-F1F6B058674A}"/>
              </a:ext>
            </a:extLst>
          </p:cNvPr>
          <p:cNvSpPr>
            <a:spLocks xmlns:a="http://schemas.openxmlformats.org/drawingml/2006/main" noGrp="1"/>
          </p:cNvSpPr>
          <p:nvPr/>
        </p:nvSpPr>
        <p:spPr>
          <a:xfrm xmlns:a="http://schemas.openxmlformats.org/drawingml/2006/main">
            <a:off x="628650" y="914400"/>
            <a:ext cx="885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64748B"/>
                </a:solidFill>
                <a:latin typeface="Aptos"/>
                <a:ea typeface="Aptos"/>
                <a:cs typeface="Aptos"/>
              </a:defRPr>
            </a:pPr>
            <a:r>
              <a:rPr sz="1200">
                <a:solidFill>
                  <a:srgbClr val="64748B"/>
                </a:solidFill>
                <a:latin typeface="Aptos"/>
                <a:ea typeface="Aptos"/>
                <a:cs typeface="Aptos"/>
              </a:rPr>
              <a:t>The prototype is promising, but the evidence boundary must stay clear.</a:t>
            </a:r>
          </a:p>
        </p:txBody>
      </p:sp>
      <p:sp>
        <p:nvSpPr>
          <p:cNvPr id="3" name="">
            <a:extLst xmlns:a="http://schemas.openxmlformats.org/drawingml/2006/main">
              <a:ext uri="{FF2B5EF4-FFF2-40B4-BE49-F238E27FC236}">
                <a16:creationId xmlns:a16="http://schemas.microsoft.com/office/drawing/2014/main" id="{0DFAB14B-A3FD-4639-8E5B-D87B5CE08D2D}"/>
              </a:ext>
            </a:extLst>
          </p:cNvPr>
          <p:cNvSpPr>
            <a:spLocks xmlns:a="http://schemas.openxmlformats.org/drawingml/2006/main" noGrp="1"/>
          </p:cNvSpPr>
          <p:nvPr/>
        </p:nvSpPr>
        <p:spPr>
          <a:xfrm xmlns:a="http://schemas.openxmlformats.org/drawingml/2006/main">
            <a:off x="800100" y="1524000"/>
            <a:ext cx="3143250" cy="1447800"/>
          </a:xfrm>
          <a:prstGeom xmlns:a="http://schemas.openxmlformats.org/drawingml/2006/main" prst="roundRect">
            <a:avLst>
              <a:gd name="adj" fmla="val 10526"/>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 name="">
            <a:extLst xmlns:a="http://schemas.openxmlformats.org/drawingml/2006/main">
              <a:ext uri="{FF2B5EF4-FFF2-40B4-BE49-F238E27FC236}">
                <a16:creationId xmlns:a16="http://schemas.microsoft.com/office/drawing/2014/main" id="{53D0928A-892E-4828-9017-3E35218DCF5F}"/>
              </a:ext>
            </a:extLst>
          </p:cNvPr>
          <p:cNvSpPr>
            <a:spLocks xmlns:a="http://schemas.openxmlformats.org/drawingml/2006/main" noGrp="1"/>
          </p:cNvSpPr>
          <p:nvPr/>
        </p:nvSpPr>
        <p:spPr>
          <a:xfrm xmlns:a="http://schemas.openxmlformats.org/drawingml/2006/main">
            <a:off x="800100" y="1524000"/>
            <a:ext cx="66675" cy="1447800"/>
          </a:xfrm>
          <a:prstGeom xmlns:a="http://schemas.openxmlformats.org/drawingml/2006/main" prst="rect">
            <a:avLst/>
          </a:prstGeom>
          <a:solidFill xmlns:a="http://schemas.openxmlformats.org/drawingml/2006/main">
            <a:srgbClr val="EF4444"/>
          </a:solidFill>
          <a:ln xmlns:a="http://schemas.openxmlformats.org/drawingml/2006/main" w="0">
            <a:solidFill>
              <a:srgbClr val="EF4444"/>
            </a:solidFill>
            <a:prstDash val="solid"/>
          </a:ln>
        </p:spPr>
      </p:sp>
      <p:sp>
        <p:nvSpPr>
          <p:cNvPr id="5" name="">
            <a:extLst xmlns:a="http://schemas.openxmlformats.org/drawingml/2006/main">
              <a:ext uri="{FF2B5EF4-FFF2-40B4-BE49-F238E27FC236}">
                <a16:creationId xmlns:a16="http://schemas.microsoft.com/office/drawing/2014/main" id="{C7566BA1-DA4E-4122-B379-EE4B96E816B2}"/>
              </a:ext>
            </a:extLst>
          </p:cNvPr>
          <p:cNvSpPr>
            <a:spLocks xmlns:a="http://schemas.openxmlformats.org/drawingml/2006/main" noGrp="1"/>
          </p:cNvSpPr>
          <p:nvPr/>
        </p:nvSpPr>
        <p:spPr>
          <a:xfrm xmlns:a="http://schemas.openxmlformats.org/drawingml/2006/main">
            <a:off x="1028700" y="1695450"/>
            <a:ext cx="2686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1">
                <a:solidFill>
                  <a:srgbClr val="111827"/>
                </a:solidFill>
                <a:latin typeface="Aptos"/>
                <a:ea typeface="Aptos"/>
                <a:cs typeface="Aptos"/>
              </a:defRPr>
            </a:pPr>
            <a:r>
              <a:rPr sz="1425" b="1">
                <a:solidFill>
                  <a:srgbClr val="111827"/>
                </a:solidFill>
                <a:latin typeface="Aptos"/>
                <a:ea typeface="Aptos"/>
                <a:cs typeface="Aptos"/>
              </a:rPr>
              <a:t>Current limitation</a:t>
            </a:r>
          </a:p>
        </p:txBody>
      </p:sp>
      <p:sp>
        <p:nvSpPr>
          <p:cNvPr id="6" name="">
            <a:extLst xmlns:a="http://schemas.openxmlformats.org/drawingml/2006/main">
              <a:ext uri="{FF2B5EF4-FFF2-40B4-BE49-F238E27FC236}">
                <a16:creationId xmlns:a16="http://schemas.microsoft.com/office/drawing/2014/main" id="{37142A97-9093-42D1-8E10-30702E335AEB}"/>
              </a:ext>
            </a:extLst>
          </p:cNvPr>
          <p:cNvSpPr>
            <a:spLocks xmlns:a="http://schemas.openxmlformats.org/drawingml/2006/main" noGrp="1"/>
          </p:cNvSpPr>
          <p:nvPr/>
        </p:nvSpPr>
        <p:spPr>
          <a:xfrm xmlns:a="http://schemas.openxmlformats.org/drawingml/2006/main">
            <a:off x="1028700" y="2038350"/>
            <a:ext cx="26860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40">
                <a:solidFill>
                  <a:srgbClr val="475569"/>
                </a:solidFill>
                <a:latin typeface="Aptos"/>
                <a:ea typeface="Aptos"/>
                <a:cs typeface="Aptos"/>
              </a:defRPr>
            </a:pPr>
            <a:r>
              <a:rPr sz="1140">
                <a:solidFill>
                  <a:srgbClr val="475569"/>
                </a:solidFill>
                <a:latin typeface="Aptos"/>
                <a:ea typeface="Aptos"/>
                <a:cs typeface="Aptos"/>
              </a:rPr>
              <a:t>Manual blendshape-to-emotion mapping may not generalize across faces, cultures, lighting conditions, and individual habits.</a:t>
            </a:r>
          </a:p>
        </p:txBody>
      </p:sp>
      <p:sp>
        <p:nvSpPr>
          <p:cNvPr id="7" name="">
            <a:extLst xmlns:a="http://schemas.openxmlformats.org/drawingml/2006/main">
              <a:ext uri="{FF2B5EF4-FFF2-40B4-BE49-F238E27FC236}">
                <a16:creationId xmlns:a16="http://schemas.microsoft.com/office/drawing/2014/main" id="{97B7E9F9-0B7C-4D23-AE0A-B211A87BC486}"/>
              </a:ext>
            </a:extLst>
          </p:cNvPr>
          <p:cNvSpPr>
            <a:spLocks xmlns:a="http://schemas.openxmlformats.org/drawingml/2006/main" noGrp="1"/>
          </p:cNvSpPr>
          <p:nvPr/>
        </p:nvSpPr>
        <p:spPr>
          <a:xfrm xmlns:a="http://schemas.openxmlformats.org/drawingml/2006/main">
            <a:off x="4514850" y="1524000"/>
            <a:ext cx="3143250" cy="1447800"/>
          </a:xfrm>
          <a:prstGeom xmlns:a="http://schemas.openxmlformats.org/drawingml/2006/main" prst="roundRect">
            <a:avLst>
              <a:gd name="adj" fmla="val 10526"/>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7ABDB10F-F757-4A20-91E8-AF6139442629}"/>
              </a:ext>
            </a:extLst>
          </p:cNvPr>
          <p:cNvSpPr>
            <a:spLocks xmlns:a="http://schemas.openxmlformats.org/drawingml/2006/main" noGrp="1"/>
          </p:cNvSpPr>
          <p:nvPr/>
        </p:nvSpPr>
        <p:spPr>
          <a:xfrm xmlns:a="http://schemas.openxmlformats.org/drawingml/2006/main">
            <a:off x="4514850" y="1524000"/>
            <a:ext cx="66675" cy="1447800"/>
          </a:xfrm>
          <a:prstGeom xmlns:a="http://schemas.openxmlformats.org/drawingml/2006/main" prst="rect">
            <a:avLst/>
          </a:prstGeom>
          <a:solidFill xmlns:a="http://schemas.openxmlformats.org/drawingml/2006/main">
            <a:srgbClr val="F59E0B"/>
          </a:solidFill>
          <a:ln xmlns:a="http://schemas.openxmlformats.org/drawingml/2006/main" w="0">
            <a:solidFill>
              <a:srgbClr val="F59E0B"/>
            </a:solidFill>
            <a:prstDash val="solid"/>
          </a:ln>
        </p:spPr>
      </p:sp>
      <p:sp>
        <p:nvSpPr>
          <p:cNvPr id="9" name="">
            <a:extLst xmlns:a="http://schemas.openxmlformats.org/drawingml/2006/main">
              <a:ext uri="{FF2B5EF4-FFF2-40B4-BE49-F238E27FC236}">
                <a16:creationId xmlns:a16="http://schemas.microsoft.com/office/drawing/2014/main" id="{71C540A7-2663-4123-B0BB-A4E87F582354}"/>
              </a:ext>
            </a:extLst>
          </p:cNvPr>
          <p:cNvSpPr>
            <a:spLocks xmlns:a="http://schemas.openxmlformats.org/drawingml/2006/main" noGrp="1"/>
          </p:cNvSpPr>
          <p:nvPr/>
        </p:nvSpPr>
        <p:spPr>
          <a:xfrm xmlns:a="http://schemas.openxmlformats.org/drawingml/2006/main">
            <a:off x="4743450" y="1695450"/>
            <a:ext cx="2686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1">
                <a:solidFill>
                  <a:srgbClr val="111827"/>
                </a:solidFill>
                <a:latin typeface="Aptos"/>
                <a:ea typeface="Aptos"/>
                <a:cs typeface="Aptos"/>
              </a:defRPr>
            </a:pPr>
            <a:r>
              <a:rPr sz="1425" b="1">
                <a:solidFill>
                  <a:srgbClr val="111827"/>
                </a:solidFill>
                <a:latin typeface="Aptos"/>
                <a:ea typeface="Aptos"/>
                <a:cs typeface="Aptos"/>
              </a:rPr>
              <a:t>Evaluation gap</a:t>
            </a:r>
          </a:p>
        </p:txBody>
      </p:sp>
      <p:sp>
        <p:nvSpPr>
          <p:cNvPr id="10" name="">
            <a:extLst xmlns:a="http://schemas.openxmlformats.org/drawingml/2006/main">
              <a:ext uri="{FF2B5EF4-FFF2-40B4-BE49-F238E27FC236}">
                <a16:creationId xmlns:a16="http://schemas.microsoft.com/office/drawing/2014/main" id="{FF3CAA3A-6E19-4CD5-89E5-A9DB24484BF9}"/>
              </a:ext>
            </a:extLst>
          </p:cNvPr>
          <p:cNvSpPr>
            <a:spLocks xmlns:a="http://schemas.openxmlformats.org/drawingml/2006/main" noGrp="1"/>
          </p:cNvSpPr>
          <p:nvPr/>
        </p:nvSpPr>
        <p:spPr>
          <a:xfrm xmlns:a="http://schemas.openxmlformats.org/drawingml/2006/main">
            <a:off x="4743450" y="2038350"/>
            <a:ext cx="26860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40">
                <a:solidFill>
                  <a:srgbClr val="475569"/>
                </a:solidFill>
                <a:latin typeface="Aptos"/>
                <a:ea typeface="Aptos"/>
                <a:cs typeface="Aptos"/>
              </a:defRPr>
            </a:pPr>
            <a:r>
              <a:rPr sz="1140">
                <a:solidFill>
                  <a:srgbClr val="475569"/>
                </a:solidFill>
                <a:latin typeface="Aptos"/>
                <a:ea typeface="Aptos"/>
                <a:cs typeface="Aptos"/>
              </a:rPr>
              <a:t>The current tests are functional engineering tests, not clinical validation with real users.</a:t>
            </a:r>
          </a:p>
        </p:txBody>
      </p:sp>
      <p:sp>
        <p:nvSpPr>
          <p:cNvPr id="11" name="">
            <a:extLst xmlns:a="http://schemas.openxmlformats.org/drawingml/2006/main">
              <a:ext uri="{FF2B5EF4-FFF2-40B4-BE49-F238E27FC236}">
                <a16:creationId xmlns:a16="http://schemas.microsoft.com/office/drawing/2014/main" id="{49C99F74-2D06-4C3A-9EBD-C4E1EA8D6A77}"/>
              </a:ext>
            </a:extLst>
          </p:cNvPr>
          <p:cNvSpPr>
            <a:spLocks xmlns:a="http://schemas.openxmlformats.org/drawingml/2006/main" noGrp="1"/>
          </p:cNvSpPr>
          <p:nvPr/>
        </p:nvSpPr>
        <p:spPr>
          <a:xfrm xmlns:a="http://schemas.openxmlformats.org/drawingml/2006/main">
            <a:off x="8229600" y="1524000"/>
            <a:ext cx="3143250" cy="1447800"/>
          </a:xfrm>
          <a:prstGeom xmlns:a="http://schemas.openxmlformats.org/drawingml/2006/main" prst="roundRect">
            <a:avLst>
              <a:gd name="adj" fmla="val 10526"/>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DD8F70EB-8785-48CE-8C38-FAC8DABEF6E0}"/>
              </a:ext>
            </a:extLst>
          </p:cNvPr>
          <p:cNvSpPr>
            <a:spLocks xmlns:a="http://schemas.openxmlformats.org/drawingml/2006/main" noGrp="1"/>
          </p:cNvSpPr>
          <p:nvPr/>
        </p:nvSpPr>
        <p:spPr>
          <a:xfrm xmlns:a="http://schemas.openxmlformats.org/drawingml/2006/main">
            <a:off x="8229600" y="1524000"/>
            <a:ext cx="66675" cy="1447800"/>
          </a:xfrm>
          <a:prstGeom xmlns:a="http://schemas.openxmlformats.org/drawingml/2006/main" prst="rect">
            <a:avLst/>
          </a:prstGeom>
          <a:solidFill xmlns:a="http://schemas.openxmlformats.org/drawingml/2006/main">
            <a:srgbClr val="6366F1"/>
          </a:solidFill>
          <a:ln xmlns:a="http://schemas.openxmlformats.org/drawingml/2006/main" w="0">
            <a:solidFill>
              <a:srgbClr val="6366F1"/>
            </a:solidFill>
            <a:prstDash val="solid"/>
          </a:ln>
        </p:spPr>
      </p:sp>
      <p:sp>
        <p:nvSpPr>
          <p:cNvPr id="13" name="">
            <a:extLst xmlns:a="http://schemas.openxmlformats.org/drawingml/2006/main">
              <a:ext uri="{FF2B5EF4-FFF2-40B4-BE49-F238E27FC236}">
                <a16:creationId xmlns:a16="http://schemas.microsoft.com/office/drawing/2014/main" id="{CDBBE8F5-A0FD-4C2F-A73C-BAE44376D7BA}"/>
              </a:ext>
            </a:extLst>
          </p:cNvPr>
          <p:cNvSpPr>
            <a:spLocks xmlns:a="http://schemas.openxmlformats.org/drawingml/2006/main" noGrp="1"/>
          </p:cNvSpPr>
          <p:nvPr/>
        </p:nvSpPr>
        <p:spPr>
          <a:xfrm xmlns:a="http://schemas.openxmlformats.org/drawingml/2006/main">
            <a:off x="8458200" y="1695450"/>
            <a:ext cx="2686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1">
                <a:solidFill>
                  <a:srgbClr val="111827"/>
                </a:solidFill>
                <a:latin typeface="Aptos"/>
                <a:ea typeface="Aptos"/>
                <a:cs typeface="Aptos"/>
              </a:defRPr>
            </a:pPr>
            <a:r>
              <a:rPr sz="1425" b="1">
                <a:solidFill>
                  <a:srgbClr val="111827"/>
                </a:solidFill>
                <a:latin typeface="Aptos"/>
                <a:ea typeface="Aptos"/>
                <a:cs typeface="Aptos"/>
              </a:rPr>
              <a:t>Model boundary</a:t>
            </a:r>
          </a:p>
        </p:txBody>
      </p:sp>
      <p:sp>
        <p:nvSpPr>
          <p:cNvPr id="14" name="">
            <a:extLst xmlns:a="http://schemas.openxmlformats.org/drawingml/2006/main">
              <a:ext uri="{FF2B5EF4-FFF2-40B4-BE49-F238E27FC236}">
                <a16:creationId xmlns:a16="http://schemas.microsoft.com/office/drawing/2014/main" id="{6506122D-1C00-452D-A472-0C0CDFB120AF}"/>
              </a:ext>
            </a:extLst>
          </p:cNvPr>
          <p:cNvSpPr>
            <a:spLocks xmlns:a="http://schemas.openxmlformats.org/drawingml/2006/main" noGrp="1"/>
          </p:cNvSpPr>
          <p:nvPr/>
        </p:nvSpPr>
        <p:spPr>
          <a:xfrm xmlns:a="http://schemas.openxmlformats.org/drawingml/2006/main">
            <a:off x="8458200" y="2038350"/>
            <a:ext cx="26860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40">
                <a:solidFill>
                  <a:srgbClr val="475569"/>
                </a:solidFill>
                <a:latin typeface="Aptos"/>
                <a:ea typeface="Aptos"/>
                <a:cs typeface="Aptos"/>
              </a:defRPr>
            </a:pPr>
            <a:r>
              <a:rPr sz="1140">
                <a:solidFill>
                  <a:srgbClr val="475569"/>
                </a:solidFill>
                <a:latin typeface="Aptos"/>
                <a:ea typeface="Aptos"/>
                <a:cs typeface="Aptos"/>
              </a:rPr>
              <a:t>LLM responses are supportive explanations and should not be framed as professional therapy.</a:t>
            </a:r>
          </a:p>
        </p:txBody>
      </p:sp>
      <p:sp>
        <p:nvSpPr>
          <p:cNvPr id="15" name="">
            <a:extLst xmlns:a="http://schemas.openxmlformats.org/drawingml/2006/main">
              <a:ext uri="{FF2B5EF4-FFF2-40B4-BE49-F238E27FC236}">
                <a16:creationId xmlns:a16="http://schemas.microsoft.com/office/drawing/2014/main" id="{C1A5131F-51FD-485A-BAA6-06934F842139}"/>
              </a:ext>
            </a:extLst>
          </p:cNvPr>
          <p:cNvSpPr>
            <a:spLocks xmlns:a="http://schemas.openxmlformats.org/drawingml/2006/main" noGrp="1"/>
          </p:cNvSpPr>
          <p:nvPr/>
        </p:nvSpPr>
        <p:spPr>
          <a:xfrm xmlns:a="http://schemas.openxmlformats.org/drawingml/2006/main">
            <a:off x="914400" y="382905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4338CA"/>
                </a:solidFill>
                <a:latin typeface="Aptos"/>
                <a:ea typeface="Aptos"/>
                <a:cs typeface="Aptos"/>
              </a:defRPr>
            </a:pPr>
            <a:r>
              <a:rPr sz="1500" b="1">
                <a:solidFill>
                  <a:srgbClr val="4338CA"/>
                </a:solidFill>
                <a:latin typeface="Aptos"/>
                <a:ea typeface="Aptos"/>
                <a:cs typeface="Aptos"/>
              </a:rPr>
              <a:t>Next steps</a:t>
            </a:r>
          </a:p>
        </p:txBody>
      </p:sp>
      <p:sp>
        <p:nvSpPr>
          <p:cNvPr id="16" name="">
            <a:extLst xmlns:a="http://schemas.openxmlformats.org/drawingml/2006/main">
              <a:ext uri="{FF2B5EF4-FFF2-40B4-BE49-F238E27FC236}">
                <a16:creationId xmlns:a16="http://schemas.microsoft.com/office/drawing/2014/main" id="{10B16E31-FEBD-4812-B002-465976A0B70F}"/>
              </a:ext>
            </a:extLst>
          </p:cNvPr>
          <p:cNvSpPr>
            <a:spLocks xmlns:a="http://schemas.openxmlformats.org/drawingml/2006/main" noGrp="1"/>
          </p:cNvSpPr>
          <p:nvPr/>
        </p:nvSpPr>
        <p:spPr>
          <a:xfrm xmlns:a="http://schemas.openxmlformats.org/drawingml/2006/main">
            <a:off x="914400" y="4305300"/>
            <a:ext cx="1809750" cy="419100"/>
          </a:xfrm>
          <a:prstGeom xmlns:a="http://schemas.openxmlformats.org/drawingml/2006/main" prst="roundRect">
            <a:avLst>
              <a:gd name="adj" fmla="val 50000"/>
            </a:avLst>
          </a:prstGeom>
          <a:solidFill xmlns:a="http://schemas.openxmlformats.org/drawingml/2006/main">
            <a:srgbClr val="EEF2FF"/>
          </a:solidFill>
          <a:ln xmlns:a="http://schemas.openxmlformats.org/drawingml/2006/main" w="9525">
            <a:solidFill>
              <a:srgbClr val="DDD6FE"/>
            </a:solidFill>
            <a:prstDash val="solid"/>
          </a:ln>
        </p:spPr>
      </p:sp>
      <p:sp>
        <p:nvSpPr>
          <p:cNvPr id="17" name="">
            <a:extLst xmlns:a="http://schemas.openxmlformats.org/drawingml/2006/main">
              <a:ext uri="{FF2B5EF4-FFF2-40B4-BE49-F238E27FC236}">
                <a16:creationId xmlns:a16="http://schemas.microsoft.com/office/drawing/2014/main" id="{8A960619-C100-413E-927C-769EEDDEB6F2}"/>
              </a:ext>
            </a:extLst>
          </p:cNvPr>
          <p:cNvSpPr>
            <a:spLocks xmlns:a="http://schemas.openxmlformats.org/drawingml/2006/main" noGrp="1"/>
          </p:cNvSpPr>
          <p:nvPr/>
        </p:nvSpPr>
        <p:spPr>
          <a:xfrm xmlns:a="http://schemas.openxmlformats.org/drawingml/2006/main">
            <a:off x="1085850" y="4410075"/>
            <a:ext cx="1466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88" b="1">
                <a:solidFill>
                  <a:srgbClr val="4338CA"/>
                </a:solidFill>
                <a:latin typeface="Aptos"/>
                <a:ea typeface="Aptos"/>
                <a:cs typeface="Aptos"/>
              </a:defRPr>
            </a:pPr>
            <a:r>
              <a:rPr sz="1088" b="1">
                <a:solidFill>
                  <a:srgbClr val="4338CA"/>
                </a:solidFill>
                <a:latin typeface="Aptos"/>
                <a:ea typeface="Aptos"/>
                <a:cs typeface="Aptos"/>
              </a:rPr>
              <a:t>User study</a:t>
            </a:r>
          </a:p>
        </p:txBody>
      </p:sp>
      <p:sp>
        <p:nvSpPr>
          <p:cNvPr id="18" name="">
            <a:extLst xmlns:a="http://schemas.openxmlformats.org/drawingml/2006/main">
              <a:ext uri="{FF2B5EF4-FFF2-40B4-BE49-F238E27FC236}">
                <a16:creationId xmlns:a16="http://schemas.microsoft.com/office/drawing/2014/main" id="{D865CFE9-7879-49A9-8629-BFC92C7401F8}"/>
              </a:ext>
            </a:extLst>
          </p:cNvPr>
          <p:cNvSpPr>
            <a:spLocks xmlns:a="http://schemas.openxmlformats.org/drawingml/2006/main" noGrp="1"/>
          </p:cNvSpPr>
          <p:nvPr/>
        </p:nvSpPr>
        <p:spPr>
          <a:xfrm xmlns:a="http://schemas.openxmlformats.org/drawingml/2006/main">
            <a:off x="3009900" y="4305300"/>
            <a:ext cx="1809750" cy="419100"/>
          </a:xfrm>
          <a:prstGeom xmlns:a="http://schemas.openxmlformats.org/drawingml/2006/main" prst="roundRect">
            <a:avLst>
              <a:gd name="adj" fmla="val 50000"/>
            </a:avLst>
          </a:prstGeom>
          <a:solidFill xmlns:a="http://schemas.openxmlformats.org/drawingml/2006/main">
            <a:srgbClr val="ECFDF5"/>
          </a:solidFill>
          <a:ln xmlns:a="http://schemas.openxmlformats.org/drawingml/2006/main" w="9525">
            <a:solidFill>
              <a:srgbClr val="DDD6FE"/>
            </a:solidFill>
            <a:prstDash val="solid"/>
          </a:ln>
        </p:spPr>
      </p:sp>
      <p:sp>
        <p:nvSpPr>
          <p:cNvPr id="19" name="">
            <a:extLst xmlns:a="http://schemas.openxmlformats.org/drawingml/2006/main">
              <a:ext uri="{FF2B5EF4-FFF2-40B4-BE49-F238E27FC236}">
                <a16:creationId xmlns:a16="http://schemas.microsoft.com/office/drawing/2014/main" id="{9854CA81-4763-4F2B-9400-A87E7705E692}"/>
              </a:ext>
            </a:extLst>
          </p:cNvPr>
          <p:cNvSpPr>
            <a:spLocks xmlns:a="http://schemas.openxmlformats.org/drawingml/2006/main" noGrp="1"/>
          </p:cNvSpPr>
          <p:nvPr/>
        </p:nvSpPr>
        <p:spPr>
          <a:xfrm xmlns:a="http://schemas.openxmlformats.org/drawingml/2006/main">
            <a:off x="3181350" y="4410075"/>
            <a:ext cx="1466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88" b="1">
                <a:solidFill>
                  <a:srgbClr val="047857"/>
                </a:solidFill>
                <a:latin typeface="Aptos"/>
                <a:ea typeface="Aptos"/>
                <a:cs typeface="Aptos"/>
              </a:defRPr>
            </a:pPr>
            <a:r>
              <a:rPr sz="1088" b="1">
                <a:solidFill>
                  <a:srgbClr val="047857"/>
                </a:solidFill>
                <a:latin typeface="Aptos"/>
                <a:ea typeface="Aptos"/>
                <a:cs typeface="Aptos"/>
              </a:rPr>
              <a:t>Fairness audit</a:t>
            </a:r>
          </a:p>
        </p:txBody>
      </p:sp>
      <p:sp>
        <p:nvSpPr>
          <p:cNvPr id="20" name="">
            <a:extLst xmlns:a="http://schemas.openxmlformats.org/drawingml/2006/main">
              <a:ext uri="{FF2B5EF4-FFF2-40B4-BE49-F238E27FC236}">
                <a16:creationId xmlns:a16="http://schemas.microsoft.com/office/drawing/2014/main" id="{7FA3A4A7-3EE9-4960-97CF-B57374D2F80C}"/>
              </a:ext>
            </a:extLst>
          </p:cNvPr>
          <p:cNvSpPr>
            <a:spLocks xmlns:a="http://schemas.openxmlformats.org/drawingml/2006/main" noGrp="1"/>
          </p:cNvSpPr>
          <p:nvPr/>
        </p:nvSpPr>
        <p:spPr>
          <a:xfrm xmlns:a="http://schemas.openxmlformats.org/drawingml/2006/main">
            <a:off x="5105400" y="4305300"/>
            <a:ext cx="2476500" cy="419100"/>
          </a:xfrm>
          <a:prstGeom xmlns:a="http://schemas.openxmlformats.org/drawingml/2006/main" prst="roundRect">
            <a:avLst>
              <a:gd name="adj" fmla="val 50000"/>
            </a:avLst>
          </a:prstGeom>
          <a:solidFill xmlns:a="http://schemas.openxmlformats.org/drawingml/2006/main">
            <a:srgbClr val="FFF7ED"/>
          </a:solidFill>
          <a:ln xmlns:a="http://schemas.openxmlformats.org/drawingml/2006/main" w="9525">
            <a:solidFill>
              <a:srgbClr val="DDD6FE"/>
            </a:solidFill>
            <a:prstDash val="solid"/>
          </a:ln>
        </p:spPr>
      </p:sp>
      <p:sp>
        <p:nvSpPr>
          <p:cNvPr id="21" name="">
            <a:extLst xmlns:a="http://schemas.openxmlformats.org/drawingml/2006/main">
              <a:ext uri="{FF2B5EF4-FFF2-40B4-BE49-F238E27FC236}">
                <a16:creationId xmlns:a16="http://schemas.microsoft.com/office/drawing/2014/main" id="{3D325EA9-E67A-4806-B181-2E774C90183C}"/>
              </a:ext>
            </a:extLst>
          </p:cNvPr>
          <p:cNvSpPr>
            <a:spLocks xmlns:a="http://schemas.openxmlformats.org/drawingml/2006/main" noGrp="1"/>
          </p:cNvSpPr>
          <p:nvPr/>
        </p:nvSpPr>
        <p:spPr>
          <a:xfrm xmlns:a="http://schemas.openxmlformats.org/drawingml/2006/main">
            <a:off x="5276850" y="4410075"/>
            <a:ext cx="213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88" b="1">
                <a:solidFill>
                  <a:srgbClr val="B45309"/>
                </a:solidFill>
                <a:latin typeface="Aptos"/>
                <a:ea typeface="Aptos"/>
                <a:cs typeface="Aptos"/>
              </a:defRPr>
            </a:pPr>
            <a:r>
              <a:rPr sz="1088" b="1">
                <a:solidFill>
                  <a:srgbClr val="B45309"/>
                </a:solidFill>
                <a:latin typeface="Aptos"/>
                <a:ea typeface="Aptos"/>
                <a:cs typeface="Aptos"/>
              </a:rPr>
              <a:t>PHQ-9 / GAD-7 comparison</a:t>
            </a:r>
          </a:p>
        </p:txBody>
      </p:sp>
      <p:sp>
        <p:nvSpPr>
          <p:cNvPr id="22" name="">
            <a:extLst xmlns:a="http://schemas.openxmlformats.org/drawingml/2006/main">
              <a:ext uri="{FF2B5EF4-FFF2-40B4-BE49-F238E27FC236}">
                <a16:creationId xmlns:a16="http://schemas.microsoft.com/office/drawing/2014/main" id="{56DB2AF3-5EA6-48BD-B1F1-1C07BDEDD813}"/>
              </a:ext>
            </a:extLst>
          </p:cNvPr>
          <p:cNvSpPr>
            <a:spLocks xmlns:a="http://schemas.openxmlformats.org/drawingml/2006/main" noGrp="1"/>
          </p:cNvSpPr>
          <p:nvPr/>
        </p:nvSpPr>
        <p:spPr>
          <a:xfrm xmlns:a="http://schemas.openxmlformats.org/drawingml/2006/main">
            <a:off x="7867650" y="4305300"/>
            <a:ext cx="2476500" cy="419100"/>
          </a:xfrm>
          <a:prstGeom xmlns:a="http://schemas.openxmlformats.org/drawingml/2006/main" prst="roundRect">
            <a:avLst>
              <a:gd name="adj" fmla="val 50000"/>
            </a:avLst>
          </a:prstGeom>
          <a:solidFill xmlns:a="http://schemas.openxmlformats.org/drawingml/2006/main">
            <a:srgbClr val="FEF2F2"/>
          </a:solidFill>
          <a:ln xmlns:a="http://schemas.openxmlformats.org/drawingml/2006/main" w="9525">
            <a:solidFill>
              <a:srgbClr val="DDD6FE"/>
            </a:solidFill>
            <a:prstDash val="solid"/>
          </a:ln>
        </p:spPr>
      </p:sp>
      <p:sp>
        <p:nvSpPr>
          <p:cNvPr id="23" name="">
            <a:extLst xmlns:a="http://schemas.openxmlformats.org/drawingml/2006/main">
              <a:ext uri="{FF2B5EF4-FFF2-40B4-BE49-F238E27FC236}">
                <a16:creationId xmlns:a16="http://schemas.microsoft.com/office/drawing/2014/main" id="{97B88692-FE20-455B-8B53-A7E6FD1FBE8C}"/>
              </a:ext>
            </a:extLst>
          </p:cNvPr>
          <p:cNvSpPr>
            <a:spLocks xmlns:a="http://schemas.openxmlformats.org/drawingml/2006/main" noGrp="1"/>
          </p:cNvSpPr>
          <p:nvPr/>
        </p:nvSpPr>
        <p:spPr>
          <a:xfrm xmlns:a="http://schemas.openxmlformats.org/drawingml/2006/main">
            <a:off x="8039100" y="4410075"/>
            <a:ext cx="213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88" b="1">
                <a:solidFill>
                  <a:srgbClr val="B91C1C"/>
                </a:solidFill>
                <a:latin typeface="Aptos"/>
                <a:ea typeface="Aptos"/>
                <a:cs typeface="Aptos"/>
              </a:defRPr>
            </a:pPr>
            <a:r>
              <a:rPr sz="1088" b="1">
                <a:solidFill>
                  <a:srgbClr val="B91C1C"/>
                </a:solidFill>
                <a:latin typeface="Aptos"/>
                <a:ea typeface="Aptos"/>
                <a:cs typeface="Aptos"/>
              </a:rPr>
              <a:t>Acoustic emotion features</a:t>
            </a:r>
          </a:p>
        </p:txBody>
      </p:sp>
      <p:sp>
        <p:nvSpPr>
          <p:cNvPr id="24" name="">
            <a:extLst xmlns:a="http://schemas.openxmlformats.org/drawingml/2006/main">
              <a:ext uri="{FF2B5EF4-FFF2-40B4-BE49-F238E27FC236}">
                <a16:creationId xmlns:a16="http://schemas.microsoft.com/office/drawing/2014/main" id="{94DD1C12-3A9E-49DB-9712-273093DA4C79}"/>
              </a:ext>
            </a:extLst>
          </p:cNvPr>
          <p:cNvSpPr>
            <a:spLocks xmlns:a="http://schemas.openxmlformats.org/drawingml/2006/main" noGrp="1"/>
          </p:cNvSpPr>
          <p:nvPr/>
        </p:nvSpPr>
        <p:spPr>
          <a:xfrm xmlns:a="http://schemas.openxmlformats.org/drawingml/2006/main">
            <a:off x="609600" y="64389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94A3B8"/>
                </a:solidFill>
                <a:latin typeface="Aptos"/>
                <a:ea typeface="Aptos"/>
                <a:cs typeface="Aptos"/>
              </a:defRPr>
            </a:pPr>
            <a:r>
              <a:rPr sz="825">
                <a:solidFill>
                  <a:srgbClr val="94A3B8"/>
                </a:solidFill>
                <a:latin typeface="Aptos"/>
                <a:ea typeface="Aptos"/>
                <a:cs typeface="Aptos"/>
              </a:rPr>
              <a:t>EmoScope | 5-minute oral presentation | 9/10</a:t>
            </a:r>
          </a:p>
        </p:txBody>
      </p:sp>
    </p:spTree>
    <p:extLst>
      <p:ext uri="{BB962C8B-B14F-4D97-AF65-F5344CB8AC3E}">
        <p14:creationId xmlns:p14="http://schemas.microsoft.com/office/powerpoint/2010/main" val="564211933"/>
      </p:ext>
    </p:extLst>
  </p:cSld>
</p:sld>
</file>

<file path=ppt/slides/slide10.xml><?xml version="1.0" encoding="utf-8"?>
<p:sld xmlns:p="http://schemas.openxmlformats.org/presentationml/2006/main">
  <p:cSld>
    <p:bg>
      <p:bgPr>
        <a:gradFill xmlns:a="http://schemas.openxmlformats.org/drawingml/2006/main">
          <a:gsLst>
            <a:gs pos="0">
              <a:srgbClr val="111827"/>
            </a:gs>
            <a:gs pos="100000">
              <a:srgbClr val="312E81"/>
            </a:gs>
          </a:gsLst>
          <a:lin ang="8100000"/>
        </a:gra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5B9F1CF-1F33-4DDB-8D73-A95E9C5D91C6}"/>
              </a:ext>
            </a:extLst>
          </p:cNvPr>
          <p:cNvSpPr>
            <a:spLocks xmlns:a="http://schemas.openxmlformats.org/drawingml/2006/main" noGrp="1"/>
          </p:cNvSpPr>
          <p:nvPr/>
        </p:nvSpPr>
        <p:spPr>
          <a:xfrm xmlns:a="http://schemas.openxmlformats.org/drawingml/2006/main">
            <a:off x="685800" y="590550"/>
            <a:ext cx="5334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900" b="1">
                <a:solidFill>
                  <a:srgbClr val="FFFFFF"/>
                </a:solidFill>
                <a:latin typeface="Aptos Display"/>
                <a:ea typeface="Aptos Display"/>
                <a:cs typeface="Aptos Display"/>
              </a:defRPr>
            </a:pPr>
            <a:r>
              <a:rPr sz="3900" b="1">
                <a:solidFill>
                  <a:srgbClr val="FFFFFF"/>
                </a:solidFill>
                <a:latin typeface="Aptos Display"/>
                <a:ea typeface="Aptos Display"/>
                <a:cs typeface="Aptos Display"/>
              </a:rPr>
              <a:t>Conclusion</a:t>
            </a:r>
          </a:p>
        </p:txBody>
      </p:sp>
      <p:sp>
        <p:nvSpPr>
          <p:cNvPr id="2" name="">
            <a:extLst xmlns:a="http://schemas.openxmlformats.org/drawingml/2006/main">
              <a:ext uri="{FF2B5EF4-FFF2-40B4-BE49-F238E27FC236}">
                <a16:creationId xmlns:a16="http://schemas.microsoft.com/office/drawing/2014/main" id="{E60CE94F-24A5-40F1-A0BD-AB901DD8F0AD}"/>
              </a:ext>
            </a:extLst>
          </p:cNvPr>
          <p:cNvSpPr>
            <a:spLocks xmlns:a="http://schemas.openxmlformats.org/drawingml/2006/main" noGrp="1"/>
          </p:cNvSpPr>
          <p:nvPr/>
        </p:nvSpPr>
        <p:spPr>
          <a:xfrm xmlns:a="http://schemas.openxmlformats.org/drawingml/2006/main">
            <a:off x="723900" y="1409700"/>
            <a:ext cx="8096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250" b="1">
                <a:solidFill>
                  <a:srgbClr val="F8FAFC"/>
                </a:solidFill>
                <a:latin typeface="Aptos Display"/>
                <a:ea typeface="Aptos Display"/>
                <a:cs typeface="Aptos Display"/>
              </a:defRPr>
            </a:pPr>
            <a:r>
              <a:rPr sz="2250" b="1">
                <a:solidFill>
                  <a:srgbClr val="F8FAFC"/>
                </a:solidFill>
                <a:latin typeface="Aptos Display"/>
                <a:ea typeface="Aptos Display"/>
                <a:cs typeface="Aptos Display"/>
              </a:rPr>
              <a:t>EmoScope demonstrates a practical direction for privacy-preserving emotional self-awareness.</a:t>
            </a:r>
          </a:p>
        </p:txBody>
      </p:sp>
      <p:sp>
        <p:nvSpPr>
          <p:cNvPr id="3" name="">
            <a:extLst xmlns:a="http://schemas.openxmlformats.org/drawingml/2006/main">
              <a:ext uri="{FF2B5EF4-FFF2-40B4-BE49-F238E27FC236}">
                <a16:creationId xmlns:a16="http://schemas.microsoft.com/office/drawing/2014/main" id="{FC185A37-8FF7-4243-A6C7-79DBCEDA2885}"/>
              </a:ext>
            </a:extLst>
          </p:cNvPr>
          <p:cNvSpPr>
            <a:spLocks xmlns:a="http://schemas.openxmlformats.org/drawingml/2006/main" noGrp="1"/>
          </p:cNvSpPr>
          <p:nvPr/>
        </p:nvSpPr>
        <p:spPr>
          <a:xfrm xmlns:a="http://schemas.openxmlformats.org/drawingml/2006/main">
            <a:off x="800100" y="3009900"/>
            <a:ext cx="2857500" cy="1352550"/>
          </a:xfrm>
          <a:prstGeom xmlns:a="http://schemas.openxmlformats.org/drawingml/2006/main" prst="roundRect">
            <a:avLst>
              <a:gd name="adj" fmla="val 11268"/>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 name="">
            <a:extLst xmlns:a="http://schemas.openxmlformats.org/drawingml/2006/main">
              <a:ext uri="{FF2B5EF4-FFF2-40B4-BE49-F238E27FC236}">
                <a16:creationId xmlns:a16="http://schemas.microsoft.com/office/drawing/2014/main" id="{3B240015-06E0-4DAB-B774-3CBC68037027}"/>
              </a:ext>
            </a:extLst>
          </p:cNvPr>
          <p:cNvSpPr>
            <a:spLocks xmlns:a="http://schemas.openxmlformats.org/drawingml/2006/main" noGrp="1"/>
          </p:cNvSpPr>
          <p:nvPr/>
        </p:nvSpPr>
        <p:spPr>
          <a:xfrm xmlns:a="http://schemas.openxmlformats.org/drawingml/2006/main">
            <a:off x="800100" y="3009900"/>
            <a:ext cx="66675" cy="1352550"/>
          </a:xfrm>
          <a:prstGeom xmlns:a="http://schemas.openxmlformats.org/drawingml/2006/main" prst="rect">
            <a:avLst/>
          </a:prstGeom>
          <a:solidFill xmlns:a="http://schemas.openxmlformats.org/drawingml/2006/main">
            <a:srgbClr val="10B981"/>
          </a:solidFill>
          <a:ln xmlns:a="http://schemas.openxmlformats.org/drawingml/2006/main" w="0">
            <a:solidFill>
              <a:srgbClr val="10B981"/>
            </a:solidFill>
            <a:prstDash val="solid"/>
          </a:ln>
        </p:spPr>
      </p:sp>
      <p:sp>
        <p:nvSpPr>
          <p:cNvPr id="5" name="">
            <a:extLst xmlns:a="http://schemas.openxmlformats.org/drawingml/2006/main">
              <a:ext uri="{FF2B5EF4-FFF2-40B4-BE49-F238E27FC236}">
                <a16:creationId xmlns:a16="http://schemas.microsoft.com/office/drawing/2014/main" id="{23F7273A-7C00-4D3C-AE77-77F2B1446EA7}"/>
              </a:ext>
            </a:extLst>
          </p:cNvPr>
          <p:cNvSpPr>
            <a:spLocks xmlns:a="http://schemas.openxmlformats.org/drawingml/2006/main" noGrp="1"/>
          </p:cNvSpPr>
          <p:nvPr/>
        </p:nvSpPr>
        <p:spPr>
          <a:xfrm xmlns:a="http://schemas.openxmlformats.org/drawingml/2006/main">
            <a:off x="1028700" y="31813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1">
                <a:solidFill>
                  <a:srgbClr val="111827"/>
                </a:solidFill>
                <a:latin typeface="Aptos"/>
                <a:ea typeface="Aptos"/>
                <a:cs typeface="Aptos"/>
              </a:defRPr>
            </a:pPr>
            <a:r>
              <a:rPr sz="1425" b="1">
                <a:solidFill>
                  <a:srgbClr val="111827"/>
                </a:solidFill>
                <a:latin typeface="Aptos"/>
                <a:ea typeface="Aptos"/>
                <a:cs typeface="Aptos"/>
              </a:rPr>
              <a:t>System</a:t>
            </a:r>
          </a:p>
        </p:txBody>
      </p:sp>
      <p:sp>
        <p:nvSpPr>
          <p:cNvPr id="6" name="">
            <a:extLst xmlns:a="http://schemas.openxmlformats.org/drawingml/2006/main">
              <a:ext uri="{FF2B5EF4-FFF2-40B4-BE49-F238E27FC236}">
                <a16:creationId xmlns:a16="http://schemas.microsoft.com/office/drawing/2014/main" id="{3A9BFD23-49E5-46EC-BE18-B1B72B235C85}"/>
              </a:ext>
            </a:extLst>
          </p:cNvPr>
          <p:cNvSpPr>
            <a:spLocks xmlns:a="http://schemas.openxmlformats.org/drawingml/2006/main" noGrp="1"/>
          </p:cNvSpPr>
          <p:nvPr/>
        </p:nvSpPr>
        <p:spPr>
          <a:xfrm xmlns:a="http://schemas.openxmlformats.org/drawingml/2006/main">
            <a:off x="1028700" y="3524250"/>
            <a:ext cx="24003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40">
                <a:solidFill>
                  <a:srgbClr val="475569"/>
                </a:solidFill>
                <a:latin typeface="Aptos"/>
                <a:ea typeface="Aptos"/>
                <a:cs typeface="Aptos"/>
              </a:defRPr>
            </a:pPr>
            <a:r>
              <a:rPr sz="1140">
                <a:solidFill>
                  <a:srgbClr val="475569"/>
                </a:solidFill>
                <a:latin typeface="Aptos"/>
                <a:ea typeface="Aptos"/>
                <a:cs typeface="Aptos"/>
              </a:rPr>
              <a:t>On-device facial analysis</a:t>
            </a:r>
          </a:p>
          <a:p xmlns:a="http://schemas.openxmlformats.org/drawingml/2006/main">
            <a:pPr>
              <a:defRPr sz="1140">
                <a:solidFill>
                  <a:srgbClr val="475569"/>
                </a:solidFill>
                <a:latin typeface="Aptos"/>
                <a:ea typeface="Aptos"/>
                <a:cs typeface="Aptos"/>
              </a:defRPr>
            </a:pPr>
            <a:r>
              <a:rPr sz="1140">
                <a:solidFill>
                  <a:srgbClr val="475569"/>
                </a:solidFill>
                <a:latin typeface="Aptos"/>
                <a:ea typeface="Aptos"/>
                <a:cs typeface="Aptos"/>
              </a:rPr>
              <a:t>Voice-rate estimation</a:t>
            </a:r>
          </a:p>
          <a:p xmlns:a="http://schemas.openxmlformats.org/drawingml/2006/main">
            <a:pPr>
              <a:defRPr sz="1140">
                <a:solidFill>
                  <a:srgbClr val="475569"/>
                </a:solidFill>
                <a:latin typeface="Aptos"/>
                <a:ea typeface="Aptos"/>
                <a:cs typeface="Aptos"/>
              </a:defRPr>
            </a:pPr>
            <a:r>
              <a:rPr sz="1140">
                <a:solidFill>
                  <a:srgbClr val="475569"/>
                </a:solidFill>
                <a:latin typeface="Aptos"/>
                <a:ea typeface="Aptos"/>
                <a:cs typeface="Aptos"/>
              </a:rPr>
              <a:t>Local memory analytics</a:t>
            </a:r>
          </a:p>
        </p:txBody>
      </p:sp>
      <p:sp>
        <p:nvSpPr>
          <p:cNvPr id="7" name="">
            <a:extLst xmlns:a="http://schemas.openxmlformats.org/drawingml/2006/main">
              <a:ext uri="{FF2B5EF4-FFF2-40B4-BE49-F238E27FC236}">
                <a16:creationId xmlns:a16="http://schemas.microsoft.com/office/drawing/2014/main" id="{1224725D-5817-49E7-8A10-ED4CA772BCE0}"/>
              </a:ext>
            </a:extLst>
          </p:cNvPr>
          <p:cNvSpPr>
            <a:spLocks xmlns:a="http://schemas.openxmlformats.org/drawingml/2006/main" noGrp="1"/>
          </p:cNvSpPr>
          <p:nvPr/>
        </p:nvSpPr>
        <p:spPr>
          <a:xfrm xmlns:a="http://schemas.openxmlformats.org/drawingml/2006/main">
            <a:off x="4210050" y="3009900"/>
            <a:ext cx="2857500" cy="1352550"/>
          </a:xfrm>
          <a:prstGeom xmlns:a="http://schemas.openxmlformats.org/drawingml/2006/main" prst="roundRect">
            <a:avLst>
              <a:gd name="adj" fmla="val 11268"/>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23F94CA8-FD16-4327-B3F6-0B9217D98837}"/>
              </a:ext>
            </a:extLst>
          </p:cNvPr>
          <p:cNvSpPr>
            <a:spLocks xmlns:a="http://schemas.openxmlformats.org/drawingml/2006/main" noGrp="1"/>
          </p:cNvSpPr>
          <p:nvPr/>
        </p:nvSpPr>
        <p:spPr>
          <a:xfrm xmlns:a="http://schemas.openxmlformats.org/drawingml/2006/main">
            <a:off x="4210050" y="3009900"/>
            <a:ext cx="66675" cy="1352550"/>
          </a:xfrm>
          <a:prstGeom xmlns:a="http://schemas.openxmlformats.org/drawingml/2006/main" prst="rect">
            <a:avLst/>
          </a:prstGeom>
          <a:solidFill xmlns:a="http://schemas.openxmlformats.org/drawingml/2006/main">
            <a:srgbClr val="F59E0B"/>
          </a:solidFill>
          <a:ln xmlns:a="http://schemas.openxmlformats.org/drawingml/2006/main" w="0">
            <a:solidFill>
              <a:srgbClr val="F59E0B"/>
            </a:solidFill>
            <a:prstDash val="solid"/>
          </a:ln>
        </p:spPr>
      </p:sp>
      <p:sp>
        <p:nvSpPr>
          <p:cNvPr id="9" name="">
            <a:extLst xmlns:a="http://schemas.openxmlformats.org/drawingml/2006/main">
              <a:ext uri="{FF2B5EF4-FFF2-40B4-BE49-F238E27FC236}">
                <a16:creationId xmlns:a16="http://schemas.microsoft.com/office/drawing/2014/main" id="{0DBC82C6-6F89-425E-ACB5-3F04FFCAAA07}"/>
              </a:ext>
            </a:extLst>
          </p:cNvPr>
          <p:cNvSpPr>
            <a:spLocks xmlns:a="http://schemas.openxmlformats.org/drawingml/2006/main" noGrp="1"/>
          </p:cNvSpPr>
          <p:nvPr/>
        </p:nvSpPr>
        <p:spPr>
          <a:xfrm xmlns:a="http://schemas.openxmlformats.org/drawingml/2006/main">
            <a:off x="4438650" y="31813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1">
                <a:solidFill>
                  <a:srgbClr val="111827"/>
                </a:solidFill>
                <a:latin typeface="Aptos"/>
                <a:ea typeface="Aptos"/>
                <a:cs typeface="Aptos"/>
              </a:defRPr>
            </a:pPr>
            <a:r>
              <a:rPr sz="1425" b="1">
                <a:solidFill>
                  <a:srgbClr val="111827"/>
                </a:solidFill>
                <a:latin typeface="Aptos"/>
                <a:ea typeface="Aptos"/>
                <a:cs typeface="Aptos"/>
              </a:rPr>
              <a:t>Principle</a:t>
            </a:r>
          </a:p>
        </p:txBody>
      </p:sp>
      <p:sp>
        <p:nvSpPr>
          <p:cNvPr id="10" name="">
            <a:extLst xmlns:a="http://schemas.openxmlformats.org/drawingml/2006/main">
              <a:ext uri="{FF2B5EF4-FFF2-40B4-BE49-F238E27FC236}">
                <a16:creationId xmlns:a16="http://schemas.microsoft.com/office/drawing/2014/main" id="{BF19EEFA-334B-4B6E-B66E-5A27D7A01511}"/>
              </a:ext>
            </a:extLst>
          </p:cNvPr>
          <p:cNvSpPr>
            <a:spLocks xmlns:a="http://schemas.openxmlformats.org/drawingml/2006/main" noGrp="1"/>
          </p:cNvSpPr>
          <p:nvPr/>
        </p:nvSpPr>
        <p:spPr>
          <a:xfrm xmlns:a="http://schemas.openxmlformats.org/drawingml/2006/main">
            <a:off x="4438650" y="3524250"/>
            <a:ext cx="24003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40">
                <a:solidFill>
                  <a:srgbClr val="475569"/>
                </a:solidFill>
                <a:latin typeface="Aptos"/>
                <a:ea typeface="Aptos"/>
                <a:cs typeface="Aptos"/>
              </a:defRPr>
            </a:pPr>
            <a:r>
              <a:rPr sz="1140">
                <a:solidFill>
                  <a:srgbClr val="475569"/>
                </a:solidFill>
                <a:latin typeface="Aptos"/>
                <a:ea typeface="Aptos"/>
                <a:cs typeface="Aptos"/>
              </a:rPr>
              <a:t>Continuous sensing</a:t>
            </a:r>
          </a:p>
          <a:p xmlns:a="http://schemas.openxmlformats.org/drawingml/2006/main">
            <a:pPr>
              <a:defRPr sz="1140">
                <a:solidFill>
                  <a:srgbClr val="475569"/>
                </a:solidFill>
                <a:latin typeface="Aptos"/>
                <a:ea typeface="Aptos"/>
                <a:cs typeface="Aptos"/>
              </a:defRPr>
            </a:pPr>
            <a:r>
              <a:rPr sz="1140">
                <a:solidFill>
                  <a:srgbClr val="475569"/>
                </a:solidFill>
                <a:latin typeface="Aptos"/>
                <a:ea typeface="Aptos"/>
                <a:cs typeface="Aptos"/>
              </a:rPr>
              <a:t>Cautious interpretation</a:t>
            </a:r>
          </a:p>
          <a:p xmlns:a="http://schemas.openxmlformats.org/drawingml/2006/main">
            <a:pPr>
              <a:defRPr sz="1140">
                <a:solidFill>
                  <a:srgbClr val="475569"/>
                </a:solidFill>
                <a:latin typeface="Aptos"/>
                <a:ea typeface="Aptos"/>
                <a:cs typeface="Aptos"/>
              </a:defRPr>
            </a:pPr>
            <a:r>
              <a:rPr sz="1140">
                <a:solidFill>
                  <a:srgbClr val="475569"/>
                </a:solidFill>
                <a:latin typeface="Aptos"/>
                <a:ea typeface="Aptos"/>
                <a:cs typeface="Aptos"/>
              </a:rPr>
              <a:t>User-confirmed support</a:t>
            </a:r>
          </a:p>
        </p:txBody>
      </p:sp>
      <p:sp>
        <p:nvSpPr>
          <p:cNvPr id="11" name="">
            <a:extLst xmlns:a="http://schemas.openxmlformats.org/drawingml/2006/main">
              <a:ext uri="{FF2B5EF4-FFF2-40B4-BE49-F238E27FC236}">
                <a16:creationId xmlns:a16="http://schemas.microsoft.com/office/drawing/2014/main" id="{56BFD38E-1E3D-4990-80B4-8065A2AC6BFB}"/>
              </a:ext>
            </a:extLst>
          </p:cNvPr>
          <p:cNvSpPr>
            <a:spLocks xmlns:a="http://schemas.openxmlformats.org/drawingml/2006/main" noGrp="1"/>
          </p:cNvSpPr>
          <p:nvPr/>
        </p:nvSpPr>
        <p:spPr>
          <a:xfrm xmlns:a="http://schemas.openxmlformats.org/drawingml/2006/main">
            <a:off x="7620000" y="3009900"/>
            <a:ext cx="2857500" cy="1352550"/>
          </a:xfrm>
          <a:prstGeom xmlns:a="http://schemas.openxmlformats.org/drawingml/2006/main" prst="roundRect">
            <a:avLst>
              <a:gd name="adj" fmla="val 11268"/>
            </a:avLst>
          </a:prstGeom>
          <a:solidFill xmlns:a="http://schemas.openxmlformats.org/drawingml/2006/main">
            <a:srgbClr val="FFFFFF"/>
          </a:solidFill>
          <a:ln xmlns:a="http://schemas.openxmlformats.org/drawingml/2006/main" w="952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3514D60F-2170-4D78-80D7-9E9CFF743408}"/>
              </a:ext>
            </a:extLst>
          </p:cNvPr>
          <p:cNvSpPr>
            <a:spLocks xmlns:a="http://schemas.openxmlformats.org/drawingml/2006/main" noGrp="1"/>
          </p:cNvSpPr>
          <p:nvPr/>
        </p:nvSpPr>
        <p:spPr>
          <a:xfrm xmlns:a="http://schemas.openxmlformats.org/drawingml/2006/main">
            <a:off x="7620000" y="3009900"/>
            <a:ext cx="66675" cy="1352550"/>
          </a:xfrm>
          <a:prstGeom xmlns:a="http://schemas.openxmlformats.org/drawingml/2006/main" prst="rect">
            <a:avLst/>
          </a:prstGeom>
          <a:solidFill xmlns:a="http://schemas.openxmlformats.org/drawingml/2006/main">
            <a:srgbClr val="6366F1"/>
          </a:solidFill>
          <a:ln xmlns:a="http://schemas.openxmlformats.org/drawingml/2006/main" w="0">
            <a:solidFill>
              <a:srgbClr val="6366F1"/>
            </a:solidFill>
            <a:prstDash val="solid"/>
          </a:ln>
        </p:spPr>
      </p:sp>
      <p:sp>
        <p:nvSpPr>
          <p:cNvPr id="13" name="">
            <a:extLst xmlns:a="http://schemas.openxmlformats.org/drawingml/2006/main">
              <a:ext uri="{FF2B5EF4-FFF2-40B4-BE49-F238E27FC236}">
                <a16:creationId xmlns:a16="http://schemas.microsoft.com/office/drawing/2014/main" id="{7F48EAED-54FF-49C5-8126-454F36B2075A}"/>
              </a:ext>
            </a:extLst>
          </p:cNvPr>
          <p:cNvSpPr>
            <a:spLocks xmlns:a="http://schemas.openxmlformats.org/drawingml/2006/main" noGrp="1"/>
          </p:cNvSpPr>
          <p:nvPr/>
        </p:nvSpPr>
        <p:spPr>
          <a:xfrm xmlns:a="http://schemas.openxmlformats.org/drawingml/2006/main">
            <a:off x="7848600" y="31813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1">
                <a:solidFill>
                  <a:srgbClr val="111827"/>
                </a:solidFill>
                <a:latin typeface="Aptos"/>
                <a:ea typeface="Aptos"/>
                <a:cs typeface="Aptos"/>
              </a:defRPr>
            </a:pPr>
            <a:r>
              <a:rPr sz="1425" b="1">
                <a:solidFill>
                  <a:srgbClr val="111827"/>
                </a:solidFill>
                <a:latin typeface="Aptos"/>
                <a:ea typeface="Aptos"/>
                <a:cs typeface="Aptos"/>
              </a:rPr>
              <a:t>Contribution</a:t>
            </a:r>
          </a:p>
        </p:txBody>
      </p:sp>
      <p:sp>
        <p:nvSpPr>
          <p:cNvPr id="14" name="">
            <a:extLst xmlns:a="http://schemas.openxmlformats.org/drawingml/2006/main">
              <a:ext uri="{FF2B5EF4-FFF2-40B4-BE49-F238E27FC236}">
                <a16:creationId xmlns:a16="http://schemas.microsoft.com/office/drawing/2014/main" id="{FA19F6D2-EB4F-4F52-A54F-C2F289F49D36}"/>
              </a:ext>
            </a:extLst>
          </p:cNvPr>
          <p:cNvSpPr>
            <a:spLocks xmlns:a="http://schemas.openxmlformats.org/drawingml/2006/main" noGrp="1"/>
          </p:cNvSpPr>
          <p:nvPr/>
        </p:nvSpPr>
        <p:spPr>
          <a:xfrm xmlns:a="http://schemas.openxmlformats.org/drawingml/2006/main">
            <a:off x="7848600" y="3524250"/>
            <a:ext cx="24003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40">
                <a:solidFill>
                  <a:srgbClr val="475569"/>
                </a:solidFill>
                <a:latin typeface="Aptos"/>
                <a:ea typeface="Aptos"/>
                <a:cs typeface="Aptos"/>
              </a:defRPr>
            </a:pPr>
            <a:r>
              <a:rPr sz="1140">
                <a:solidFill>
                  <a:srgbClr val="475569"/>
                </a:solidFill>
                <a:latin typeface="Aptos"/>
                <a:ea typeface="Aptos"/>
                <a:cs typeface="Aptos"/>
              </a:rPr>
              <a:t>A working prototype that links sensing, reflection, and action.</a:t>
            </a:r>
          </a:p>
        </p:txBody>
      </p:sp>
      <p:sp>
        <p:nvSpPr>
          <p:cNvPr id="15" name="">
            <a:extLst xmlns:a="http://schemas.openxmlformats.org/drawingml/2006/main">
              <a:ext uri="{FF2B5EF4-FFF2-40B4-BE49-F238E27FC236}">
                <a16:creationId xmlns:a16="http://schemas.microsoft.com/office/drawing/2014/main" id="{6B4FF625-810B-4664-8EAE-FF93ED80383F}"/>
              </a:ext>
            </a:extLst>
          </p:cNvPr>
          <p:cNvSpPr>
            <a:spLocks xmlns:a="http://schemas.openxmlformats.org/drawingml/2006/main" noGrp="1"/>
          </p:cNvSpPr>
          <p:nvPr/>
        </p:nvSpPr>
        <p:spPr>
          <a:xfrm xmlns:a="http://schemas.openxmlformats.org/drawingml/2006/main">
            <a:off x="800100" y="5219700"/>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700" b="1">
                <a:solidFill>
                  <a:srgbClr val="FFFFFF"/>
                </a:solidFill>
                <a:latin typeface="Aptos"/>
                <a:ea typeface="Aptos"/>
                <a:cs typeface="Aptos"/>
              </a:defRPr>
            </a:pPr>
            <a:r>
              <a:rPr sz="2700" b="1">
                <a:solidFill>
                  <a:srgbClr val="FFFFFF"/>
                </a:solidFill>
                <a:latin typeface="Aptos"/>
                <a:ea typeface="Aptos"/>
                <a:cs typeface="Aptos"/>
              </a:rPr>
              <a:t>Thank you</a:t>
            </a:r>
          </a:p>
        </p:txBody>
      </p:sp>
      <p:sp>
        <p:nvSpPr>
          <p:cNvPr id="16" name="">
            <a:extLst xmlns:a="http://schemas.openxmlformats.org/drawingml/2006/main">
              <a:ext uri="{FF2B5EF4-FFF2-40B4-BE49-F238E27FC236}">
                <a16:creationId xmlns:a16="http://schemas.microsoft.com/office/drawing/2014/main" id="{0C8653F1-C853-434D-8177-54CC5ECBD844}"/>
              </a:ext>
            </a:extLst>
          </p:cNvPr>
          <p:cNvSpPr>
            <a:spLocks xmlns:a="http://schemas.openxmlformats.org/drawingml/2006/main" noGrp="1"/>
          </p:cNvSpPr>
          <p:nvPr/>
        </p:nvSpPr>
        <p:spPr>
          <a:xfrm xmlns:a="http://schemas.openxmlformats.org/drawingml/2006/main">
            <a:off x="2905125" y="5267325"/>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025">
                <a:solidFill>
                  <a:srgbClr val="C4B5FD"/>
                </a:solidFill>
                <a:latin typeface="Aptos"/>
                <a:ea typeface="Aptos"/>
                <a:cs typeface="Aptos"/>
              </a:defRPr>
            </a:pPr>
            <a:r>
              <a:rPr sz="2025">
                <a:solidFill>
                  <a:srgbClr val="C4B5FD"/>
                </a:solidFill>
                <a:latin typeface="Aptos"/>
                <a:ea typeface="Aptos"/>
                <a:cs typeface="Aptos"/>
              </a:rPr>
              <a:t>Questions?</a:t>
            </a:r>
          </a:p>
        </p:txBody>
      </p:sp>
      <p:sp>
        <p:nvSpPr>
          <p:cNvPr id="17" name="">
            <a:extLst xmlns:a="http://schemas.openxmlformats.org/drawingml/2006/main">
              <a:ext uri="{FF2B5EF4-FFF2-40B4-BE49-F238E27FC236}">
                <a16:creationId xmlns:a16="http://schemas.microsoft.com/office/drawing/2014/main" id="{7B52DC90-82D1-458A-98D6-D43A8B502E8B}"/>
              </a:ext>
            </a:extLst>
          </p:cNvPr>
          <p:cNvSpPr>
            <a:spLocks xmlns:a="http://schemas.openxmlformats.org/drawingml/2006/main" noGrp="1"/>
          </p:cNvSpPr>
          <p:nvPr/>
        </p:nvSpPr>
        <p:spPr>
          <a:xfrm xmlns:a="http://schemas.openxmlformats.org/drawingml/2006/main">
            <a:off x="609600" y="64389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94A3B8"/>
                </a:solidFill>
                <a:latin typeface="Aptos"/>
                <a:ea typeface="Aptos"/>
                <a:cs typeface="Aptos"/>
              </a:defRPr>
            </a:pPr>
            <a:r>
              <a:rPr sz="825">
                <a:solidFill>
                  <a:srgbClr val="94A3B8"/>
                </a:solidFill>
                <a:latin typeface="Aptos"/>
                <a:ea typeface="Aptos"/>
                <a:cs typeface="Aptos"/>
              </a:rPr>
              <a:t>EmoScope | 5-minute oral presentation | 10/10</a:t>
            </a:r>
          </a:p>
        </p:txBody>
      </p:sp>
    </p:spTree>
    <p:extLst>
      <p:ext uri="{BB962C8B-B14F-4D97-AF65-F5344CB8AC3E}">
        <p14:creationId xmlns:p14="http://schemas.microsoft.com/office/powerpoint/2010/main" val="120707348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2026-06-17T06:00:17.2830000Z</dcterms:created>
  <dcterms:modified xsi:type="dcterms:W3CDTF">2026-06-17T06:00:17.2830000Z</dcterms:modified>
</coreProperties>
</file>